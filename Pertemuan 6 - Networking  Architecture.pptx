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92" r:id="rId8"/>
    <p:sldId id="293" r:id="rId9"/>
    <p:sldId id="262" r:id="rId10"/>
    <p:sldId id="295" r:id="rId11"/>
    <p:sldId id="296" r:id="rId12"/>
    <p:sldId id="263" r:id="rId13"/>
    <p:sldId id="264" r:id="rId14"/>
    <p:sldId id="265" r:id="rId15"/>
    <p:sldId id="266" r:id="rId16"/>
    <p:sldId id="267" r:id="rId17"/>
    <p:sldId id="289" r:id="rId18"/>
    <p:sldId id="290" r:id="rId19"/>
    <p:sldId id="291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88" r:id="rId30"/>
  </p:sldIdLst>
  <p:sldSz cx="12192000" cy="6858000"/>
  <p:notesSz cx="6858000" cy="12192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Heebo" pitchFamily="2" charset="-79"/>
      <p:regular r:id="rId36"/>
      <p:bold r:id="rId37"/>
    </p:embeddedFont>
    <p:embeddedFont>
      <p:font typeface="Heebo Bold" pitchFamily="2" charset="-79"/>
      <p:regular r:id="rId38"/>
      <p:bold r:id="rId39"/>
    </p:embeddedFont>
    <p:embeddedFont>
      <p:font typeface="Heebo Light" pitchFamily="2" charset="-79"/>
      <p:regular r:id="rId40"/>
    </p:embeddedFont>
    <p:embeddedFont>
      <p:font typeface="Montserrat" pitchFamily="2" charset="77"/>
      <p:regular r:id="rId41"/>
      <p:bold r:id="rId42"/>
      <p:italic r:id="rId43"/>
      <p:boldItalic r:id="rId44"/>
    </p:embeddedFont>
    <p:embeddedFont>
      <p:font typeface="Montserrat Light" panose="00000400000000000000" pitchFamily="2" charset="77"/>
      <p:regular r:id="rId45"/>
      <p:italic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82" d="100"/>
          <a:sy n="82" d="100"/>
        </p:scale>
        <p:origin x="29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square.github.io/okhttp/" TargetMode="External"/><Relationship Id="rId13" Type="http://schemas.openxmlformats.org/officeDocument/2006/relationships/image" Target="../media/image28.png"/><Relationship Id="rId3" Type="http://schemas.openxmlformats.org/officeDocument/2006/relationships/hyperlink" Target="https://developer.android.com/training/basics/network-ops" TargetMode="External"/><Relationship Id="rId7" Type="http://schemas.openxmlformats.org/officeDocument/2006/relationships/hyperlink" Target="https://square.github.io/retrofit/" TargetMode="External"/><Relationship Id="rId12" Type="http://schemas.openxmlformats.org/officeDocument/2006/relationships/hyperlink" Target="https://github.com/android/nowinandroid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topic/architecture" TargetMode="External"/><Relationship Id="rId11" Type="http://schemas.openxmlformats.org/officeDocument/2006/relationships/hyperlink" Target="https://kotlinlang.org/docs/coroutines-guide.html" TargetMode="External"/><Relationship Id="rId5" Type="http://schemas.openxmlformats.org/officeDocument/2006/relationships/hyperlink" Target="https://developer.android.com/kotlin/flow/stateflow-and-sharedflow" TargetMode="External"/><Relationship Id="rId10" Type="http://schemas.openxmlformats.org/officeDocument/2006/relationships/hyperlink" Target="https://kotlinlang.org/docs/flow.html" TargetMode="External"/><Relationship Id="rId4" Type="http://schemas.openxmlformats.org/officeDocument/2006/relationships/hyperlink" Target="https://developer.android.com/kotlin/coroutines" TargetMode="External"/><Relationship Id="rId9" Type="http://schemas.openxmlformats.org/officeDocument/2006/relationships/hyperlink" Target="https://developer.android.com/jetpack/compos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Networking &amp; Architecture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03763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Mengkoneksikan REST API dengan ViewModel dan State UI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1544141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IF21507 – Pemrograman Mobile | 2 SKS (100 Menit)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Dosen: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Azis Amirulbahar, S.Pd., M.T.I.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| Informatika – FT Unsoed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259409"/>
            <a:ext cx="963985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0691" y="2309019"/>
            <a:ext cx="137513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SEMESTER 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08107" y="2259409"/>
            <a:ext cx="140004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81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07324" y="2309019"/>
            <a:ext cx="181119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JETPACK COMPOSE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90795" y="2259409"/>
            <a:ext cx="59261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81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0011" y="2309019"/>
            <a:ext cx="100377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MVVM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66061" y="2259409"/>
            <a:ext cx="74461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81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65277" y="2309019"/>
            <a:ext cx="115577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REST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 Hari Ini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0224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dasar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networking hingga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Compose UI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7528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014835"/>
            <a:ext cx="351265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135584"/>
            <a:ext cx="351265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Dasar Networking &amp; REST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2751733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HTTP Methods, JSON, dan kebutuhan networking di mobile.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17528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014835"/>
            <a:ext cx="351275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39422" y="2135584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Library Networking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2493268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Retrofit, Ktor Client, dan OkHttp — perbandingan &amp; penggunaan.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17528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014835"/>
            <a:ext cx="351265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17468" y="2135584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vs Async &amp; Coroutines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2493268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Mengapa async wajib dan peran suspend function.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357028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3799185"/>
            <a:ext cx="5351626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475" y="3952974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Pattern &amp; State UI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4310658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MVC, MVVM, MVI — plus sealed interface UiState.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395" y="357028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395" y="3799185"/>
            <a:ext cx="5351725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8395" y="395297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 End-to-End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395" y="431065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API → Repository → ViewModel → Compose UI.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Dasar Networking &amp; REST API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219597"/>
            <a:ext cx="5470785" cy="4358977"/>
          </a:xfrm>
          <a:prstGeom prst="roundRect">
            <a:avLst>
              <a:gd name="adj" fmla="val 2732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38489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Networking?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1808659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Proses komunikasi data antara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aplikasi (client)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server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melalui jaringan internet menggunakan protokol HTTP/HTTPS.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250319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Mobile Butuh Networking?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926953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Akses data terpusat dari server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Fitur dinamis (tidak hard-coded)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Sinkronisasi data antar perangkat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138489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 Methods (REST API)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1829395"/>
          <a:ext cx="5232666" cy="2454910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Method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Fungsi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Mengambil data dari server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Mengirim/membuat data baru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Memperbarui seluruh data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6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Menghapus data di server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3904" y="2297975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3904" y="2792767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3904" y="3287558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3904" y="3782350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03904" y="4483100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722813"/>
            <a:ext cx="206667" cy="165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41160" y="4673203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Format pertukaran data standar REST API adalah </a:t>
            </a: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JSON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ringan, mudah dibaca manusia dan mesin.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Library Networking di Android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0224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Berikut tiga library utama untuk networking di Android yang wajib kamu kenal: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752898"/>
            <a:ext cx="3512653" cy="1791196"/>
          </a:xfrm>
          <a:prstGeom prst="roundRect">
            <a:avLst>
              <a:gd name="adj" fmla="val 3878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819" y="1937246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🔶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Retrofit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301280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 Square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Industry standard berbasis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interface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type-safe. Paling banyak dipakai di proyek Android profesional.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1752898"/>
            <a:ext cx="3512752" cy="1791196"/>
          </a:xfrm>
          <a:prstGeom prst="roundRect">
            <a:avLst>
              <a:gd name="adj" fmla="val 3878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3766" y="1937246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🔷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Ktor Client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2301280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 JetBrains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Native Kotlin Multiplatform (KMP), modern dan async-first. Ideal untuk proyek yang menargetkan Android &amp; iOS sekaligus.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1752898"/>
            <a:ext cx="3512653" cy="1791196"/>
          </a:xfrm>
          <a:prstGeom prst="roundRect">
            <a:avLst>
              <a:gd name="adj" fmla="val 3878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1812" y="1937246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⚙️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OkHttp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2301280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 Square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Low-level HTTP client yang bekerja di balik layar Retrofit &amp; Ktor. Menangani koneksi socket, caching, dan logging interceptor.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730129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969841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3936702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Fokus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materi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</a:t>
            </a: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Retrofit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, yang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merupakan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standar industri Android yang paling banyak digunakan di proyek profesional.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34CC0-B40C-A204-ACBA-3A681FB3262E}"/>
              </a:ext>
            </a:extLst>
          </p:cNvPr>
          <p:cNvSpPr txBox="1"/>
          <p:nvPr/>
        </p:nvSpPr>
        <p:spPr>
          <a:xfrm>
            <a:off x="2683468" y="60338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github.com</a:t>
            </a:r>
            <a:r>
              <a:rPr lang="en-US" dirty="0">
                <a:solidFill>
                  <a:schemeClr val="bg1"/>
                </a:solidFill>
              </a:rPr>
              <a:t>/lysine-dev/retrofit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251A11-B7A2-E66D-A398-4BAD4EFDD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092" y="4580510"/>
            <a:ext cx="3216751" cy="1333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vs Async &amp; Kotlin Coroutines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5933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37623" y="1057857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Sinkron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737623" y="1435393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Blokir UI thread → ANR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41253" y="4726098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Asinkron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141253" y="510363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Coroutines di background thread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71730" y="1021279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Hasil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71730" y="1398815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Dikembalikan aman ke UI thread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774630"/>
            <a:ext cx="5333569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Synchronous (Jangan Dilakukan!)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1475" y="5951438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Panggilan API dijalankan di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Main/UI Thread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→ UI freeze → </a:t>
            </a:r>
            <a:r>
              <a:rPr lang="en-US" sz="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NetworkOnMainThreadException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→ App Not Responding (ANR). Android bahkan akan </a:t>
            </a:r>
            <a:r>
              <a:rPr lang="en-US" sz="6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crash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secara langsung.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203001" y="5774630"/>
            <a:ext cx="5333569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Asynchronous dengan Coroutines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03001" y="5951438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</a:t>
            </a:r>
            <a:r>
              <a:rPr lang="en-US" sz="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Dispatchers.IO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agar eksekusi berjalan di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background thread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tanpa memblokir UI. Coroutines ringan, mudah dibaca, dan idiomatik Kotlin.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6203001" y="6196112"/>
            <a:ext cx="5333569" cy="958255"/>
          </a:xfrm>
          <a:prstGeom prst="roundRect">
            <a:avLst>
              <a:gd name="adj" fmla="val 3625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2217" y="6278761"/>
            <a:ext cx="5135136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Contoh suspend function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 getUsers(): List&lt;User&gt;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withContext(Dispatchers.IO)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apiService.fetchUsers()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Pattern Mobile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017488"/>
            <a:ext cx="629686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Butuh Architecture?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1500584"/>
            <a:ext cx="629686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 = aturan pengorganisasian kode untuk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Separation of Concerns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mempermudah </a:t>
            </a:r>
            <a:r>
              <a:rPr lang="en-US" sz="12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testing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dan menjaga </a:t>
            </a:r>
            <a:r>
              <a:rPr lang="en-US" sz="12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maintainability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jangka panjang.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179737"/>
            <a:ext cx="6296860" cy="2872978"/>
          </a:xfrm>
          <a:prstGeom prst="roundRect">
            <a:avLst>
              <a:gd name="adj" fmla="val 234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825" y="2186087"/>
            <a:ext cx="3142080" cy="1691977"/>
          </a:xfrm>
          <a:custGeom>
            <a:avLst/>
            <a:gdLst/>
            <a:ahLst/>
            <a:cxnLst/>
            <a:rect l="l" t="t" r="r" b="b"/>
            <a:pathLst>
              <a:path w="3142080" h="1691977">
                <a:moveTo>
                  <a:pt x="56078" y="0"/>
                </a:moveTo>
                <a:lnTo>
                  <a:pt x="3142080" y="0"/>
                </a:lnTo>
                <a:lnTo>
                  <a:pt x="3142080" y="1691977"/>
                </a:lnTo>
                <a:lnTo>
                  <a:pt x="0" y="1691977"/>
                </a:lnTo>
                <a:lnTo>
                  <a:pt x="0" y="56079"/>
                </a:lnTo>
                <a:arcTo wR="56078" hR="56079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7960" y="2346226"/>
            <a:ext cx="282181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MVC / MVP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960" y="2689622"/>
            <a:ext cx="2821810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Tradisional. Activity/Fragment bertindak sebagai Controller/Presenter sehingga sering menjadi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God Class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yang terlalu padat dan sulit di-test.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09905" y="2186087"/>
            <a:ext cx="3142080" cy="1691977"/>
          </a:xfrm>
          <a:custGeom>
            <a:avLst/>
            <a:gdLst/>
            <a:ahLst/>
            <a:cxnLst/>
            <a:rect l="l" t="t" r="r" b="b"/>
            <a:pathLst>
              <a:path w="3142080" h="1691977">
                <a:moveTo>
                  <a:pt x="0" y="0"/>
                </a:moveTo>
                <a:lnTo>
                  <a:pt x="3086002" y="0"/>
                </a:lnTo>
                <a:arcTo wR="56078" hR="56079" stAng="16200000" swAng="5400000"/>
                <a:lnTo>
                  <a:pt x="3142080" y="1691977"/>
                </a:lnTo>
                <a:lnTo>
                  <a:pt x="0" y="1691977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09905" y="2186087"/>
            <a:ext cx="19050" cy="1691977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70040" y="2346226"/>
            <a:ext cx="282181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MVVM </a:t>
            </a: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⭐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70040" y="2695972"/>
            <a:ext cx="2821810" cy="102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Standar Google.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ViewModel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memisahkan logika bisnis dari UI. UI hanya observe state. Sangat cocok untuk Jetpack Compose dan </a:t>
            </a: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StateFlow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3878064"/>
            <a:ext cx="6284160" cy="1168301"/>
          </a:xfrm>
          <a:custGeom>
            <a:avLst/>
            <a:gdLst/>
            <a:ahLst/>
            <a:cxnLst/>
            <a:rect l="l" t="t" r="r" b="b"/>
            <a:pathLst>
              <a:path w="6284160" h="1168301">
                <a:moveTo>
                  <a:pt x="0" y="0"/>
                </a:moveTo>
                <a:lnTo>
                  <a:pt x="6284160" y="0"/>
                </a:lnTo>
                <a:lnTo>
                  <a:pt x="6284160" y="1112221"/>
                </a:lnTo>
                <a:arcTo wR="56078" hR="56079" stAng="0" swAng="5400000"/>
                <a:lnTo>
                  <a:pt x="56078" y="1168301"/>
                </a:lnTo>
                <a:arcTo wR="56078" hR="56079" stAng="5400000" swAng="5400000"/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7825" y="387806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7960" y="4038203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MVI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960" y="4381599"/>
            <a:ext cx="596389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Unidirectional Data Flow (UDF). State bersifat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immutable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UI mengirim Intent → ViewModel proses → State baru diterbitkan. Sangat serasi dengan Compose.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1475" y="5227241"/>
            <a:ext cx="6296860" cy="879376"/>
          </a:xfrm>
          <a:prstGeom prst="roundRect">
            <a:avLst>
              <a:gd name="adj" fmla="val 7652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10" y="5447308"/>
            <a:ext cx="200218" cy="1601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1963" y="5422404"/>
            <a:ext cx="5616236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Fokus kuliah ini: </a:t>
            </a:r>
            <a:r>
              <a:rPr lang="en-US" sz="12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MVVM</a:t>
            </a:r>
            <a:r>
              <a:rPr lang="en-US" sz="12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rekomendasi resmi Google untuk Android Modern Development dengan Jetpack Compose.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6C7B0A-8006-3369-CDBA-56BA714C6BEA}"/>
              </a:ext>
            </a:extLst>
          </p:cNvPr>
          <p:cNvSpPr txBox="1"/>
          <p:nvPr/>
        </p:nvSpPr>
        <p:spPr>
          <a:xfrm>
            <a:off x="5765073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rtl="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effectLst/>
                <a:latin typeface="+mn-lt"/>
              </a:rPr>
              <a:t>UI Layer: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Menampilkan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data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ke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layar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dan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menangani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input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pengguna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.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Berfungsi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untuk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mengubah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data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menjadi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bentuk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visual (</a:t>
            </a:r>
            <a:r>
              <a:rPr lang="en-ID" i="1" dirty="0">
                <a:solidFill>
                  <a:schemeClr val="bg1"/>
                </a:solidFill>
                <a:effectLst/>
                <a:latin typeface="+mn-lt"/>
              </a:rPr>
              <a:t>UI State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).</a:t>
            </a:r>
          </a:p>
          <a:p>
            <a:pPr marL="285750" marR="0" lvl="0" indent="-285750" rtl="0"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rtl="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effectLst/>
                <a:latin typeface="+mn-lt"/>
              </a:rPr>
              <a:t>Domain Layer </a:t>
            </a:r>
            <a:r>
              <a:rPr lang="en-ID" b="1" i="1" dirty="0">
                <a:solidFill>
                  <a:schemeClr val="bg1"/>
                </a:solidFill>
                <a:effectLst/>
                <a:latin typeface="+mn-lt"/>
              </a:rPr>
              <a:t>(</a:t>
            </a:r>
            <a:r>
              <a:rPr lang="en-ID" b="1" i="1" dirty="0" err="1">
                <a:solidFill>
                  <a:schemeClr val="bg1"/>
                </a:solidFill>
                <a:effectLst/>
                <a:latin typeface="+mn-lt"/>
              </a:rPr>
              <a:t>Opsional</a:t>
            </a:r>
            <a:r>
              <a:rPr lang="en-ID" b="1" i="1" dirty="0">
                <a:solidFill>
                  <a:schemeClr val="bg1"/>
                </a:solidFill>
                <a:effectLst/>
                <a:latin typeface="+mn-lt"/>
              </a:rPr>
              <a:t>)</a:t>
            </a:r>
            <a:r>
              <a:rPr lang="en-ID" b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Menyimpan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logika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bisnis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yang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kompleks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agar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tidak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menumpuk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di UI.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Bertindak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sebagai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titik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penengah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di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sisi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tengah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(</a:t>
            </a:r>
            <a:r>
              <a:rPr lang="en-ID" i="1" dirty="0">
                <a:solidFill>
                  <a:schemeClr val="bg1"/>
                </a:solidFill>
                <a:effectLst/>
                <a:latin typeface="+mn-lt"/>
              </a:rPr>
              <a:t>Use Case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)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sebelum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data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ditampilkan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rtl="0"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rtl="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effectLst/>
                <a:latin typeface="+mn-lt"/>
              </a:rPr>
              <a:t>Data Layer: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Sumber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utama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seluruh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data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aplikasi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.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Bertugas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mengambil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menyimpan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, dan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mengelola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data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dari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internet (API)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maupun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penyimpanan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ID" dirty="0" err="1">
                <a:solidFill>
                  <a:schemeClr val="bg1"/>
                </a:solidFill>
                <a:effectLst/>
                <a:latin typeface="+mn-lt"/>
              </a:rPr>
              <a:t>lokal</a:t>
            </a:r>
            <a:r>
              <a:rPr lang="en-ID" dirty="0">
                <a:solidFill>
                  <a:schemeClr val="bg1"/>
                </a:solidFill>
                <a:effectLst/>
                <a:latin typeface="+mn-lt"/>
              </a:rPr>
              <a:t> (database).</a:t>
            </a:r>
            <a:endParaRPr lang="en-ID" dirty="0">
              <a:solidFill>
                <a:schemeClr val="bg1"/>
              </a:solidFill>
              <a:effectLst/>
              <a:latin typeface="Google Sans Text"/>
            </a:endParaRPr>
          </a:p>
        </p:txBody>
      </p:sp>
      <p:pic>
        <p:nvPicPr>
          <p:cNvPr id="4" name="Picture 3" descr="In a typical app architecture, the UI layer gets the application data&#10;    from the data layer or from the optional domain layer, which sits between&#10;    the UI layer and the data layer.">
            <a:extLst>
              <a:ext uri="{FF2B5EF4-FFF2-40B4-BE49-F238E27FC236}">
                <a16:creationId xmlns:a16="http://schemas.microsoft.com/office/drawing/2014/main" id="{3899D4B6-3B58-97D1-4994-F37AC93AD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27" y="1879402"/>
            <a:ext cx="5321728" cy="30991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C6860-3153-8576-D68A-0975B7477D8C}"/>
              </a:ext>
            </a:extLst>
          </p:cNvPr>
          <p:cNvSpPr txBox="1"/>
          <p:nvPr/>
        </p:nvSpPr>
        <p:spPr>
          <a:xfrm>
            <a:off x="1094509" y="5137160"/>
            <a:ext cx="3726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https://</a:t>
            </a:r>
            <a:r>
              <a:rPr lang="en-US" sz="1000" dirty="0" err="1">
                <a:solidFill>
                  <a:schemeClr val="bg1"/>
                </a:solidFill>
              </a:rPr>
              <a:t>developer.android.com</a:t>
            </a:r>
            <a:r>
              <a:rPr lang="en-US" sz="1000" dirty="0">
                <a:solidFill>
                  <a:schemeClr val="bg1"/>
                </a:solidFill>
              </a:rPr>
              <a:t>/topic/architecture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66B471D-A680-5AC3-1996-87C799FC83EB}"/>
              </a:ext>
            </a:extLst>
          </p:cNvPr>
          <p:cNvSpPr/>
          <p:nvPr/>
        </p:nvSpPr>
        <p:spPr>
          <a:xfrm>
            <a:off x="330927" y="496382"/>
            <a:ext cx="629686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Dasar </a:t>
            </a:r>
            <a:r>
              <a:rPr lang="en-US" sz="3150" i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Pattern Mobile</a:t>
            </a:r>
            <a:endParaRPr lang="en-US" sz="3150" i="1" dirty="0"/>
          </a:p>
        </p:txBody>
      </p:sp>
    </p:spTree>
    <p:extLst>
      <p:ext uri="{BB962C8B-B14F-4D97-AF65-F5344CB8AC3E}">
        <p14:creationId xmlns:p14="http://schemas.microsoft.com/office/powerpoint/2010/main" val="3310411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D869-828C-4C2A-1D4C-06377344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846B7-CC5F-E744-EC71-DFB81ACC460B}"/>
              </a:ext>
            </a:extLst>
          </p:cNvPr>
          <p:cNvSpPr txBox="1"/>
          <p:nvPr/>
        </p:nvSpPr>
        <p:spPr>
          <a:xfrm>
            <a:off x="4215539" y="1474619"/>
            <a:ext cx="74931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D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chemeClr val="bg1"/>
                </a:solidFill>
              </a:rPr>
              <a:t>Meningkatkan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pemeliharaan</a:t>
            </a:r>
            <a:r>
              <a:rPr lang="en-ID" sz="2000" b="1" dirty="0">
                <a:solidFill>
                  <a:schemeClr val="bg1"/>
                </a:solidFill>
              </a:rPr>
              <a:t> (</a:t>
            </a:r>
            <a:r>
              <a:rPr lang="en-ID" sz="2000" b="1" i="1" dirty="0">
                <a:solidFill>
                  <a:schemeClr val="bg1"/>
                </a:solidFill>
              </a:rPr>
              <a:t>maintainability</a:t>
            </a:r>
            <a:r>
              <a:rPr lang="en-ID" sz="2000" b="1" dirty="0">
                <a:solidFill>
                  <a:schemeClr val="bg1"/>
                </a:solidFill>
              </a:rPr>
              <a:t>), </a:t>
            </a:r>
            <a:r>
              <a:rPr lang="en-ID" sz="2000" b="1" dirty="0" err="1">
                <a:solidFill>
                  <a:schemeClr val="bg1"/>
                </a:solidFill>
              </a:rPr>
              <a:t>kualitas</a:t>
            </a:r>
            <a:r>
              <a:rPr lang="en-ID" sz="2000" b="1" dirty="0">
                <a:solidFill>
                  <a:schemeClr val="bg1"/>
                </a:solidFill>
              </a:rPr>
              <a:t>, dan </a:t>
            </a:r>
            <a:r>
              <a:rPr lang="en-ID" sz="2000" b="1" dirty="0" err="1">
                <a:solidFill>
                  <a:schemeClr val="bg1"/>
                </a:solidFill>
              </a:rPr>
              <a:t>ketahanan</a:t>
            </a:r>
            <a:r>
              <a:rPr lang="en-ID" sz="2000" b="1" dirty="0">
                <a:solidFill>
                  <a:schemeClr val="bg1"/>
                </a:solidFill>
              </a:rPr>
              <a:t> (</a:t>
            </a:r>
            <a:r>
              <a:rPr lang="en-ID" sz="2000" b="1" i="1" dirty="0">
                <a:solidFill>
                  <a:schemeClr val="bg1"/>
                </a:solidFill>
              </a:rPr>
              <a:t>robustness</a:t>
            </a:r>
            <a:r>
              <a:rPr lang="en-ID" sz="2000" b="1" dirty="0">
                <a:solidFill>
                  <a:schemeClr val="bg1"/>
                </a:solidFill>
              </a:rPr>
              <a:t>) </a:t>
            </a:r>
            <a:r>
              <a:rPr lang="en-ID" sz="2000" b="1" dirty="0" err="1">
                <a:solidFill>
                  <a:schemeClr val="bg1"/>
                </a:solidFill>
              </a:rPr>
              <a:t>aplikasi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secara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keseluruhan</a:t>
            </a:r>
            <a:r>
              <a:rPr lang="en-ID" sz="2000" b="1" dirty="0">
                <a:solidFill>
                  <a:schemeClr val="bg1"/>
                </a:solidFill>
              </a:rPr>
              <a:t>.</a:t>
            </a:r>
            <a:endParaRPr lang="en-ID" sz="2000" dirty="0">
              <a:solidFill>
                <a:schemeClr val="bg1"/>
              </a:solidFill>
            </a:endParaRPr>
          </a:p>
          <a:p>
            <a:pPr lvl="0"/>
            <a:endParaRPr lang="en-ID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chemeClr val="bg1"/>
                </a:solidFill>
              </a:rPr>
              <a:t>Mendukung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skalabilitas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aplikasi</a:t>
            </a:r>
            <a:r>
              <a:rPr lang="en-ID" sz="2000" b="1" dirty="0">
                <a:solidFill>
                  <a:schemeClr val="bg1"/>
                </a:solidFill>
              </a:rPr>
              <a:t>: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banyak</a:t>
            </a:r>
            <a:r>
              <a:rPr lang="en-ID" sz="2000" dirty="0">
                <a:solidFill>
                  <a:schemeClr val="bg1"/>
                </a:solidFill>
              </a:rPr>
              <a:t> orang dan </a:t>
            </a:r>
            <a:r>
              <a:rPr lang="en-ID" sz="2000" dirty="0" err="1">
                <a:solidFill>
                  <a:schemeClr val="bg1"/>
                </a:solidFill>
              </a:rPr>
              <a:t>tim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dapat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berkontribusi</a:t>
            </a:r>
            <a:r>
              <a:rPr lang="en-ID" sz="2000" dirty="0">
                <a:solidFill>
                  <a:schemeClr val="bg1"/>
                </a:solidFill>
              </a:rPr>
              <a:t> pada </a:t>
            </a:r>
            <a:r>
              <a:rPr lang="en-ID" sz="2000" i="1" dirty="0" err="1">
                <a:solidFill>
                  <a:schemeClr val="bg1"/>
                </a:solidFill>
              </a:rPr>
              <a:t>codebase</a:t>
            </a:r>
            <a:r>
              <a:rPr lang="en-ID" sz="2000" dirty="0" err="1">
                <a:solidFill>
                  <a:schemeClr val="bg1"/>
                </a:solidFill>
              </a:rPr>
              <a:t>yang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sama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dengan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konflik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kode</a:t>
            </a:r>
            <a:r>
              <a:rPr lang="en-ID" sz="2000" dirty="0">
                <a:solidFill>
                  <a:schemeClr val="bg1"/>
                </a:solidFill>
              </a:rPr>
              <a:t> yang minimal.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D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chemeClr val="bg1"/>
                </a:solidFill>
              </a:rPr>
              <a:t>Membantu</a:t>
            </a:r>
            <a:r>
              <a:rPr lang="en-ID" sz="2000" b="1" dirty="0">
                <a:solidFill>
                  <a:schemeClr val="bg1"/>
                </a:solidFill>
              </a:rPr>
              <a:t> proses </a:t>
            </a:r>
            <a:r>
              <a:rPr lang="en-ID" sz="2000" b="1" i="1" dirty="0">
                <a:solidFill>
                  <a:schemeClr val="bg1"/>
                </a:solidFill>
              </a:rPr>
              <a:t>onboarding: </a:t>
            </a:r>
            <a:r>
              <a:rPr lang="en-ID" sz="2000" dirty="0" err="1">
                <a:solidFill>
                  <a:schemeClr val="bg1"/>
                </a:solidFill>
              </a:rPr>
              <a:t>arsitektur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memberikan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konsistensi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sehingga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anggota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tim</a:t>
            </a:r>
            <a:r>
              <a:rPr lang="en-ID" sz="2000" dirty="0">
                <a:solidFill>
                  <a:schemeClr val="bg1"/>
                </a:solidFill>
              </a:rPr>
              <a:t> yang </a:t>
            </a:r>
            <a:r>
              <a:rPr lang="en-ID" sz="2000" dirty="0" err="1">
                <a:solidFill>
                  <a:schemeClr val="bg1"/>
                </a:solidFill>
              </a:rPr>
              <a:t>baru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dapat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beradaptasi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cepat</a:t>
            </a:r>
            <a:r>
              <a:rPr lang="en-ID" sz="2000" dirty="0">
                <a:solidFill>
                  <a:schemeClr val="bg1"/>
                </a:solidFill>
              </a:rPr>
              <a:t> dan </a:t>
            </a:r>
            <a:r>
              <a:rPr lang="en-ID" sz="2000" dirty="0" err="1">
                <a:solidFill>
                  <a:schemeClr val="bg1"/>
                </a:solidFill>
              </a:rPr>
              <a:t>bekerja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efisien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dalam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waktu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singkat</a:t>
            </a:r>
            <a:r>
              <a:rPr lang="en-ID" sz="2000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D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chemeClr val="bg1"/>
                </a:solidFill>
              </a:rPr>
              <a:t>Lebih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mudah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diuji</a:t>
            </a:r>
            <a:r>
              <a:rPr lang="en-ID" sz="2000" b="1" dirty="0">
                <a:solidFill>
                  <a:schemeClr val="bg1"/>
                </a:solidFill>
              </a:rPr>
              <a:t>: </a:t>
            </a:r>
            <a:r>
              <a:rPr lang="en-ID" sz="2000" dirty="0" err="1">
                <a:solidFill>
                  <a:schemeClr val="bg1"/>
                </a:solidFill>
              </a:rPr>
              <a:t>Arsitektur</a:t>
            </a:r>
            <a:r>
              <a:rPr lang="en-ID" sz="2000" dirty="0">
                <a:solidFill>
                  <a:schemeClr val="bg1"/>
                </a:solidFill>
              </a:rPr>
              <a:t> yang </a:t>
            </a:r>
            <a:r>
              <a:rPr lang="en-ID" sz="2000" dirty="0" err="1">
                <a:solidFill>
                  <a:schemeClr val="bg1"/>
                </a:solidFill>
              </a:rPr>
              <a:t>baik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membuat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penggunaan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komponen</a:t>
            </a:r>
            <a:r>
              <a:rPr lang="en-ID" sz="2000" dirty="0">
                <a:solidFill>
                  <a:schemeClr val="bg1"/>
                </a:solidFill>
              </a:rPr>
              <a:t> yang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sederhana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sehingga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mudah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untuk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diuji</a:t>
            </a:r>
            <a:r>
              <a:rPr lang="en-ID" sz="2000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D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chemeClr val="bg1"/>
                </a:solidFill>
              </a:rPr>
              <a:t>Memudahkan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dirty="0" err="1">
                <a:solidFill>
                  <a:schemeClr val="bg1"/>
                </a:solidFill>
              </a:rPr>
              <a:t>penelusuran</a:t>
            </a:r>
            <a:r>
              <a:rPr lang="en-ID" sz="2000" b="1" dirty="0">
                <a:solidFill>
                  <a:schemeClr val="bg1"/>
                </a:solidFill>
              </a:rPr>
              <a:t> </a:t>
            </a:r>
            <a:r>
              <a:rPr lang="en-ID" sz="2000" b="1" i="1" dirty="0">
                <a:solidFill>
                  <a:schemeClr val="bg1"/>
                </a:solidFill>
              </a:rPr>
              <a:t>bug</a:t>
            </a:r>
            <a:endParaRPr lang="en-ID" sz="2000" dirty="0">
              <a:solidFill>
                <a:schemeClr val="bg1"/>
              </a:solidFill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727A7AC3-0705-0233-DC3E-F1CC740FC186}"/>
              </a:ext>
            </a:extLst>
          </p:cNvPr>
          <p:cNvSpPr/>
          <p:nvPr/>
        </p:nvSpPr>
        <p:spPr>
          <a:xfrm>
            <a:off x="330927" y="496382"/>
            <a:ext cx="629686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Manfaat </a:t>
            </a:r>
            <a:r>
              <a:rPr lang="en-US" sz="3150" i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Pattern Mobile</a:t>
            </a:r>
            <a:endParaRPr lang="en-US" sz="3150" i="1" dirty="0"/>
          </a:p>
        </p:txBody>
      </p:sp>
    </p:spTree>
    <p:extLst>
      <p:ext uri="{BB962C8B-B14F-4D97-AF65-F5344CB8AC3E}">
        <p14:creationId xmlns:p14="http://schemas.microsoft.com/office/powerpoint/2010/main" val="190399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MVVM: Alur Data di Android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5933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2876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Setiap layer memiliki satu tanggung jawab: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UI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hanya tampilkan state,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ViewModel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kelola logika &amp; state,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Repository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jadi satu-satunya sumber data,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API Service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komunikasi ke server.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3B9F53-A983-0056-A7DC-799CE0CAC509}"/>
              </a:ext>
            </a:extLst>
          </p:cNvPr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Source Code Architecture</a:t>
            </a:r>
            <a:endParaRPr lang="en-US" sz="325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92D0A2F-9E45-3DB4-5D16-F1DF638EFED7}"/>
              </a:ext>
            </a:extLst>
          </p:cNvPr>
          <p:cNvSpPr/>
          <p:nvPr/>
        </p:nvSpPr>
        <p:spPr>
          <a:xfrm>
            <a:off x="661474" y="34290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</a:t>
            </a:r>
            <a:r>
              <a:rPr lang="en-US" sz="20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</a:t>
            </a: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/android/architecture-samples/tree/main</a:t>
            </a:r>
          </a:p>
          <a:p>
            <a:pPr algn="ctr">
              <a:lnSpc>
                <a:spcPct val="104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693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96DBE-948A-2667-9EAE-2AD437E89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19" y="-29921"/>
            <a:ext cx="10376761" cy="69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90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Mengelola State UI Asinkron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92994"/>
            <a:ext cx="11478330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merepresentasikan semua kemungkinan kondisi data secara </a:t>
            </a: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exhaustive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type-safe. Sangat ideal dipasangkan dengan ekspresi </a:t>
            </a:r>
            <a:r>
              <a:rPr lang="en-US" sz="10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Compose.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53243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Definisi UiState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1865213"/>
            <a:ext cx="5270467" cy="2202855"/>
          </a:xfrm>
          <a:prstGeom prst="roundRect">
            <a:avLst>
              <a:gd name="adj" fmla="val 256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701" y="1999555"/>
            <a:ext cx="4948014" cy="1934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 UiState&lt;out T&gt;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object Loading : UiState&lt;Nothing&gt;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Success&lt;T&gt;(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data: T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: UiState&lt;T&gt;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Error(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message: String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: UiState&lt;Nothing&gt;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6103" y="153243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Konsumsi di Compose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6103" y="1865213"/>
            <a:ext cx="5270467" cy="3492302"/>
          </a:xfrm>
          <a:prstGeom prst="roundRect">
            <a:avLst>
              <a:gd name="adj" fmla="val 1616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7329" y="1999555"/>
            <a:ext cx="4948014" cy="3223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(val state = uiState)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 UiState.Loading -&gt;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CircularProgressIndicator()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 UiState.Success -&gt;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LazyColumn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items(state.data) { item -&gt;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ItemCard(item)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 UiState.Error -&gt; {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Text(text = state.message)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5603180"/>
            <a:ext cx="10868745" cy="481905"/>
          </a:xfrm>
          <a:prstGeom prst="roundRect">
            <a:avLst>
              <a:gd name="adj" fmla="val 1171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4" y="5761633"/>
            <a:ext cx="167973" cy="1343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8126" y="5745857"/>
            <a:ext cx="10907340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</a:t>
            </a:r>
            <a:r>
              <a:rPr lang="en-US" sz="10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lebih fleksibel dari </a:t>
            </a:r>
            <a:r>
              <a:rPr lang="en-US" sz="1050" dirty="0">
                <a:solidFill>
                  <a:srgbClr val="FFFFFF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sealed class</a:t>
            </a:r>
            <a:r>
              <a:rPr lang="en-US" sz="10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karena mendukung multiple inheritance dan tidak memiliki constructor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Kasus: Integrasi API ke Compose UI (1/2)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65833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Implementasi lengkap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API Service → Repository → ViewModel → Compose UI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menggunakan Retrofit + Coroutines + StateFlow.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47850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API Service Interface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1475" y="2272705"/>
            <a:ext cx="5238917" cy="3396853"/>
          </a:xfrm>
          <a:prstGeom prst="roundRect">
            <a:avLst>
              <a:gd name="adj" fmla="val 198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657" y="2432844"/>
            <a:ext cx="4854553" cy="3076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UserApiService {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@GET("users")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getUsers(): List&lt;UserDto&gt;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Retrofit Instance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retrofit = Retrofit.Builder()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.baseUrl("https://api.example.com/")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.addConverterFactory(GsonConverterFactory.create())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apiService = retrofit.create(UserApiService::class.java)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7653" y="1847850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Repository (Single Source of Truth)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97653" y="2272705"/>
            <a:ext cx="5238917" cy="3909616"/>
          </a:xfrm>
          <a:prstGeom prst="roundRect">
            <a:avLst>
              <a:gd name="adj" fmla="val 172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89835" y="2432844"/>
            <a:ext cx="4854553" cy="3589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UserRepository(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api: UserApiService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fetchUsers(): List&lt;User&gt; {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api.getUsers().map { it.toDomain() }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Transfer Object → Domain Model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UserDto.toDomain() = User(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= this.id,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this.name,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= this.email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Kasus: Integrasi API ke Compose UI (2/2)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51409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ViewModel mengelola state dengan StateFlow, Compose UI mengonsumsinya secara reaktif.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258590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ViewModel (StateFlow + viewModelScope)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516162"/>
            <a:ext cx="5298843" cy="4667250"/>
          </a:xfrm>
          <a:prstGeom prst="roundRect">
            <a:avLst>
              <a:gd name="adj" fmla="val 1000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4822" y="1627287"/>
            <a:ext cx="503215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UserViewModel(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repo: UserRepository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: ViewModel()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_uiState =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MutableStateFlow&lt;UiState&lt;List&lt;User&gt;&gt;&gt;(UiState.Loading)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uiState = _uiState.asStateFlow()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 { loadUsers()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loadUsers()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viewModelScope.launch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_uiState.value = UiState.Loading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val data = repo.fetchUsers()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_uiState.value = UiState.Success(data)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catch (e: Exception)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_uiState.value = UiState.Error(e.message ?: "Error")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37727" y="1258590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Compose UI (collectAsStateWithLifecycle)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7727" y="1516162"/>
            <a:ext cx="5298843" cy="3956050"/>
          </a:xfrm>
          <a:prstGeom prst="roundRect">
            <a:avLst>
              <a:gd name="adj" fmla="val 1180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1073" y="1627287"/>
            <a:ext cx="5032150" cy="373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UserScreen(viewModel: UserViewModel)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uiState by viewModel.uiState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.collectAsStateWithLifecycle()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(val state = uiState)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 UiState.Loading -&gt;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CircularProgressIndicator()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 UiState.Success -&gt;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LazyColumn {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items(state.data) { user -&gt;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Text(user.name)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 UiState.Error -&gt;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Text("Error: ${state.message}")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Retrofit di Android (1/2)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060450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Retrofit adalah HTTP client populer di Android — berikut langkah awal setup dependencies dan konfigurasi OkHttpClient.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58007"/>
            <a:ext cx="5383872" cy="4977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6476" y="1446510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9704" y="1865511"/>
            <a:ext cx="50874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Tambahkan Dependencies Gradle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9704" y="2127945"/>
            <a:ext cx="5087413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Tambahkan library Retrofit, OkHttp, dan Gson converter di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build.gradle.kts (Module: app)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9704" y="2634952"/>
            <a:ext cx="5087413" cy="1705074"/>
          </a:xfrm>
          <a:prstGeom prst="roundRect">
            <a:avLst>
              <a:gd name="adj" fmla="val 3183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4680" y="2764135"/>
            <a:ext cx="4777462" cy="14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Retrofit &amp; OkHttp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implementation("com.squareup.retrofit2:retrofit:2.9.0")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implementation("com.squareup.okhttp3:okhttp:4.12.0")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implementation("com.squareup.okhttp3:logging-interceptor:4.12.0")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Gson Converter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implementation("com.squareup.retrofit2:converter-gson:2.9.0")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249" y="1358007"/>
            <a:ext cx="5383971" cy="4977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41350" y="1446510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94478" y="1865511"/>
            <a:ext cx="508751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Konfigurasi OkHttpClient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94478" y="2127945"/>
            <a:ext cx="5087513" cy="3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Buat instance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dengan </a:t>
            </a:r>
            <a:r>
              <a:rPr lang="en-US" sz="10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HttpLoggingInterceptor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timeout settings untuk debugging dan stabilitas jaringan.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94478" y="2622252"/>
            <a:ext cx="5087513" cy="3565128"/>
          </a:xfrm>
          <a:prstGeom prst="roundRect">
            <a:avLst>
              <a:gd name="adj" fmla="val 152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49454" y="2751435"/>
            <a:ext cx="4777561" cy="3306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okhttp3.OkHttpClient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okhttp3.logging.HttpLoggingInterceptor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java.util.concurrent.TimeUnit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OkHttpClientInstance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client: OkHttpClient = OkHttpClient.Builder()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.addInterceptor(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HttpLoggingInterceptor().apply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level = HttpLoggingInterceptor.Level.BODY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.connectTimeout(30, TimeUnit.SECONDS)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.readTimeout(30, TimeUnit.SECONDS)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.writeTimeout(30, TimeUnit.SECONDS)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.build()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Retrofit di Android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160264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Setelah OkHttpClient siap, buat Retrofit singleton dan definisikan API Service interface.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646337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Buat Retrofit Instance (Singleton)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2014736"/>
            <a:ext cx="5257867" cy="3068241"/>
          </a:xfrm>
          <a:prstGeom prst="roundRect">
            <a:avLst>
              <a:gd name="adj" fmla="val 198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5103" y="2159397"/>
            <a:ext cx="4910610" cy="2778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RetrofitInstance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const val BASE_URL = "https://api.example.com/"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api: YourApiService by lazy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Retrofit.Builder()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.baseUrl(BASE_URL)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.client(OkHttpClientInstance.client)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.addConverterFactory(GsonConverterFactory.create())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.build()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.create(YourApiService::class.java)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8703" y="1646337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Definisikan API Service Interface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03" y="2014736"/>
            <a:ext cx="5257867" cy="3531394"/>
          </a:xfrm>
          <a:prstGeom prst="roundRect">
            <a:avLst>
              <a:gd name="adj" fmla="val 172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2332" y="2159397"/>
            <a:ext cx="4910610" cy="324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YourApiService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@GET("users")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getUsers(): List&lt;UserDto&gt;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@GET("users/{id}")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getUserById(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@Path("id") id: Int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 UserDto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@POST("users")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createUser(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@Body user: CreateUserRequest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 UserDto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5830888"/>
            <a:ext cx="10868745" cy="529828"/>
          </a:xfrm>
          <a:prstGeom prst="roundRect">
            <a:avLst>
              <a:gd name="adj" fmla="val 1147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6013053"/>
            <a:ext cx="180871" cy="1446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1661" y="5993606"/>
            <a:ext cx="1086348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Tip: Aktifkan HttpLoggingInterceptor hanya saat BuildConfig.DEBUG = true agar data sensitif tidak bocor di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618661-F377-BDA6-1BBD-2E0400AC455F}"/>
              </a:ext>
            </a:extLst>
          </p:cNvPr>
          <p:cNvSpPr/>
          <p:nvPr/>
        </p:nvSpPr>
        <p:spPr>
          <a:xfrm>
            <a:off x="661475" y="45481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 Mana Kita </a:t>
            </a: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Mengetahui</a:t>
            </a: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Pola API Services?</a:t>
            </a:r>
            <a:endParaRPr lang="en-US" sz="2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1571FC5-777A-AE33-5A2C-96B3D3C9A91C}"/>
              </a:ext>
            </a:extLst>
          </p:cNvPr>
          <p:cNvSpPr/>
          <p:nvPr/>
        </p:nvSpPr>
        <p:spPr>
          <a:xfrm>
            <a:off x="661475" y="2741385"/>
            <a:ext cx="10714281" cy="137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dokumentasi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resmi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teknologi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arsitektur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sudah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</a:p>
          <a:p>
            <a:pPr>
              <a:lnSpc>
                <a:spcPct val="104000"/>
              </a:lnSpc>
            </a:pP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atau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kebutuhan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spesifik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aplikasi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200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dibangun</a:t>
            </a: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191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3DA36-D7F3-92C1-CF26-8F1CED0C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B09659-1E3B-614B-BD4D-0655D5D4FDCF}"/>
              </a:ext>
            </a:extLst>
          </p:cNvPr>
          <p:cNvSpPr/>
          <p:nvPr/>
        </p:nvSpPr>
        <p:spPr>
          <a:xfrm>
            <a:off x="661475" y="45481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 Mana Kita </a:t>
            </a: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Mengetahui</a:t>
            </a: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Pola API Services?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</a:rPr>
              <a:t>Contoh</a:t>
            </a:r>
            <a:r>
              <a:rPr lang="en-US" sz="2800" dirty="0">
                <a:solidFill>
                  <a:srgbClr val="F2F0F4"/>
                </a:solidFill>
                <a:latin typeface="Montserrat" pitchFamily="34" charset="0"/>
              </a:rPr>
              <a:t> 1: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2D21A-68D4-BD06-1AE6-2704A4F55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1592000"/>
            <a:ext cx="5695950" cy="4358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A8504-D462-57FA-9770-584EB2459243}"/>
              </a:ext>
            </a:extLst>
          </p:cNvPr>
          <p:cNvSpPr txBox="1"/>
          <p:nvPr/>
        </p:nvSpPr>
        <p:spPr>
          <a:xfrm>
            <a:off x="3045466" y="6218515"/>
            <a:ext cx="6100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https://</a:t>
            </a:r>
            <a:r>
              <a:rPr lang="en-US" sz="1000" dirty="0" err="1">
                <a:solidFill>
                  <a:schemeClr val="bg1"/>
                </a:solidFill>
              </a:rPr>
              <a:t>www.themealdb.com</a:t>
            </a:r>
            <a:r>
              <a:rPr lang="en-US" sz="1000" dirty="0">
                <a:solidFill>
                  <a:schemeClr val="bg1"/>
                </a:solidFill>
              </a:rPr>
              <a:t>/</a:t>
            </a:r>
            <a:r>
              <a:rPr lang="en-US" sz="1000" dirty="0" err="1">
                <a:solidFill>
                  <a:schemeClr val="bg1"/>
                </a:solidFill>
              </a:rPr>
              <a:t>documentation#search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39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3FED2-6251-31A1-8C7F-B50F2A57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CBD61A-A8B3-AD32-C355-C7825CB5EB24}"/>
              </a:ext>
            </a:extLst>
          </p:cNvPr>
          <p:cNvSpPr/>
          <p:nvPr/>
        </p:nvSpPr>
        <p:spPr>
          <a:xfrm>
            <a:off x="661475" y="45481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 Mana Kita </a:t>
            </a: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Mengetahui</a:t>
            </a: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Pola API Services?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F2F0F4"/>
                </a:solidFill>
                <a:latin typeface="Montserrat" pitchFamily="34" charset="0"/>
              </a:rPr>
              <a:t>Contoh</a:t>
            </a:r>
            <a:r>
              <a:rPr lang="en-US" sz="2800" dirty="0">
                <a:solidFill>
                  <a:srgbClr val="F2F0F4"/>
                </a:solidFill>
                <a:latin typeface="Montserrat" pitchFamily="34" charset="0"/>
              </a:rPr>
              <a:t> 2: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1CBF4-B9A0-9EA1-D78E-76BF66D73CCE}"/>
              </a:ext>
            </a:extLst>
          </p:cNvPr>
          <p:cNvSpPr txBox="1"/>
          <p:nvPr/>
        </p:nvSpPr>
        <p:spPr>
          <a:xfrm>
            <a:off x="3045466" y="6218515"/>
            <a:ext cx="6100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https://</a:t>
            </a:r>
            <a:r>
              <a:rPr lang="en-US" sz="1000" dirty="0" err="1">
                <a:solidFill>
                  <a:schemeClr val="bg1"/>
                </a:solidFill>
              </a:rPr>
              <a:t>developers.facebook.com</a:t>
            </a:r>
            <a:r>
              <a:rPr lang="en-US" sz="1000" dirty="0">
                <a:solidFill>
                  <a:schemeClr val="bg1"/>
                </a:solidFill>
              </a:rPr>
              <a:t>/documentation/</a:t>
            </a:r>
            <a:r>
              <a:rPr lang="en-US" sz="1000" dirty="0" err="1">
                <a:solidFill>
                  <a:schemeClr val="bg1"/>
                </a:solidFill>
              </a:rPr>
              <a:t>instagram</a:t>
            </a:r>
            <a:r>
              <a:rPr lang="en-US" sz="1000" dirty="0">
                <a:solidFill>
                  <a:schemeClr val="bg1"/>
                </a:solidFill>
              </a:rPr>
              <a:t>-platform/sharing-to-feed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61F09-3A35-0CA3-7EED-43B8721E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398103"/>
            <a:ext cx="7772400" cy="463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Penanganan Error &amp; Exception dalam Networking (1/2)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177528"/>
            <a:ext cx="1147833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Integrasi API melibatkan banyak potensi kegagalan — penanganan error yang tepat sangat penting untuk membangun aplikasi yang robust.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97124"/>
            <a:ext cx="1086874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Jenis-jenis Error Umum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1475" y="2162076"/>
            <a:ext cx="3535472" cy="1532830"/>
          </a:xfrm>
          <a:prstGeom prst="roundRect">
            <a:avLst>
              <a:gd name="adj" fmla="val 4036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761" y="2328366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HttpException (4xx, 5xx)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7761" y="2637234"/>
            <a:ext cx="3202900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Terjadi saat server merespons dengan status kode HTTP error (mis. 400, 401, 404, 500). Biasanya berasal dari masalah di sisi API atau request yang tidak valid.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11" y="2162076"/>
            <a:ext cx="3535472" cy="1532830"/>
          </a:xfrm>
          <a:prstGeom prst="roundRect">
            <a:avLst>
              <a:gd name="adj" fmla="val 4036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94398" y="2328366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IOException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4398" y="2637234"/>
            <a:ext cx="320290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Menunjukkan masalah jaringan seperti tidak ada koneksi internet, timeout, atau masalah DNS. Membutuhkan penanganan khusus di sisi UI.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94748" y="2162076"/>
            <a:ext cx="3535472" cy="1532830"/>
          </a:xfrm>
          <a:prstGeom prst="roundRect">
            <a:avLst>
              <a:gd name="adj" fmla="val 4036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61034" y="2328366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SerializationException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61034" y="2637234"/>
            <a:ext cx="320290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Terjadi saat konversi data JSON/XML ke objek Kotlin gagal karena format data tidak sesuai model yang diharapkan.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1475" y="3891657"/>
            <a:ext cx="1086874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Wrapper Generik untuk Hasil Operasi (NetworkResult)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61475" y="4456609"/>
            <a:ext cx="1147833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sealed class/interface sebagai wrapper generik untuk mengelola status Loading, Success, dan Error secara konsisten di seluruh aplikasi.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4826992"/>
            <a:ext cx="10868745" cy="1473200"/>
          </a:xfrm>
          <a:prstGeom prst="roundRect">
            <a:avLst>
              <a:gd name="adj" fmla="val 4199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8179" y="4974233"/>
            <a:ext cx="10515337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interface NetworkResult&lt;out T&gt; {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Success&lt;out T&gt;(val data: T) : NetworkResult&lt;T&gt;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Error(val message: String, val code: Int? = null) : NetworkResult&lt;Nothing&gt;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object Loading : NetworkResult&lt;Nothing&gt;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Penanganan Error &amp; Exception dalam Networking (2/2)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060450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Implementasikan safeApiCall() sebagai helper terpusat di Repository layer, dan kenali HTTP status code yang umum ditemui.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58913"/>
            <a:ext cx="58360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Fungsi safeApiCall() — Helper Terpusat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1761728"/>
            <a:ext cx="6445585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Bungkus setiap panggilan API dengan try-catch generik agar Repository tetap bersih.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2059285"/>
            <a:ext cx="5836000" cy="3565128"/>
          </a:xfrm>
          <a:prstGeom prst="roundRect">
            <a:avLst>
              <a:gd name="adj" fmla="val 152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6451" y="2188468"/>
            <a:ext cx="5526048" cy="3306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 &lt;T&gt; safeApiCall(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apiCall: suspend () -&gt; T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NetworkResult&lt;T&gt;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try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NetworkResult.Success(apiCall())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(e: Exception)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(e) {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 HttpException -&gt;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NetworkResult.Error(e.message(), e.code())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 IOException -&gt;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NetworkResult.Error("Periksa koneksi internet Anda.")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-&gt;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NetworkResult.Error("Kesalahan tak terduga.")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18936" y="1458913"/>
            <a:ext cx="4717535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 Status Code Penting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8936" y="1774329"/>
          <a:ext cx="4717536" cy="2262630"/>
        </p:xfrm>
        <a:graphic>
          <a:graphicData uri="http://schemas.openxmlformats.org/drawingml/2006/table">
            <a:tbl>
              <a:tblPr/>
              <a:tblGrid>
                <a:gridCol w="235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Kode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Arti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400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Bad Request — data tidak valid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401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Unauthorized — perlu autentikasi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403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Forbidden — tidak punya akses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404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Not Found — resource tidak ada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500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Internal Server Error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503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Service Unavailable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61475" y="5851426"/>
            <a:ext cx="10868745" cy="440234"/>
          </a:xfrm>
          <a:prstGeom prst="roundRect">
            <a:avLst>
              <a:gd name="adj" fmla="val 12327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54" y="5992118"/>
            <a:ext cx="161425" cy="1291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1259" y="5984577"/>
            <a:ext cx="10929366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Tip: Jangan expose raw Exception ke UI. Selalu terjemahkan ke pesan yang ramah pengguna.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vs StateFlow vs SharedFlow (1/2)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Ketiga jenis </a:t>
            </a:r>
            <a:r>
              <a:rPr lang="en-US" sz="6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stream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reaktif dalam Kotlin Coroutines memiliki karakteristik berbeda yang menentukan kapan dan di mana masing-masing harus digunakan.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957064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Membedakan Cold vs. Hot Stream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1225748"/>
            <a:ext cx="8151509" cy="5094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33325" y="3658508"/>
            <a:ext cx="1834076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Cold Stream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24195" y="3658508"/>
            <a:ext cx="1834076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 Stream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17334" y="3543875"/>
            <a:ext cx="1556927" cy="458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triggers per collector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6366966"/>
            <a:ext cx="10868745" cy="212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Cold Stream (Flow):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Hanya aktif saat ada collector yang berlangganan — setiap collector mendapatkan aliran data sendiri yang dimulai dari awal.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Hot Stream (StateFlow, SharedFlow):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Aktif secara independen dari keberadaan collector — collector baru langsung menerima data terbaru dan pembaruan selanjutnya.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61475" y="6641604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Perbandingan Flow, StateFlow, dan SharedFlow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6910288"/>
          <a:ext cx="10868744" cy="1089065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Fitur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Flow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StateFlow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SharedFlow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7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Jenis Stream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Cold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Hot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Hot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Nilai Awal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Tidak ada (mulai dari awal saat dikumpulkan)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Wajib ada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Tidak ada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7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Replay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Tidak ada (setiap kolektor mendapatkan data baru)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Selalu memutar ulang nilai terakhir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Dapat dikonfigurasi (mis. </a:t>
                      </a:r>
                      <a:r>
                        <a:rPr lang="en-US" sz="80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replay = 0</a:t>
                      </a: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untuk tidak ada replay)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7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Collectors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Setiap kolektor memicu eksekusi baru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Semua kolektor berbagi eksekusi tunggal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Semua kolektor berbagi eksekusi tunggal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Use Case Utama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 dari database/API yang perlu diproses dari awal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Mengelola </a:t>
                      </a: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UI State</a:t>
                      </a: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yang selalu memiliki nilai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Mengirim </a:t>
                      </a:r>
                      <a:r>
                        <a:rPr lang="en-US" sz="8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One-Time Events</a:t>
                      </a:r>
                      <a:r>
                        <a:rPr lang="en-US" sz="8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(mis. navigasi, Snackbar)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vs StateFlow vs SharedFlow (2/2)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12726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Berikut implementasi nyata penggunaan StateFlow untuk UI state dan SharedFlow untuk one-time navigation events.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370707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StateFlow: Mengelola UI State di ViewModel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649611"/>
            <a:ext cx="589582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stateIn() untuk mengubah Flow dari repository menjadi StateFlow.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918395"/>
            <a:ext cx="5286243" cy="4322564"/>
          </a:xfrm>
          <a:prstGeom prst="roundRect">
            <a:avLst>
              <a:gd name="adj" fmla="val 1180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224" y="2039838"/>
            <a:ext cx="4994745" cy="407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MyViewModel(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repository: MyRepository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: ViewModel()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_uiState = MutableStateFlow&lt;MyUiState&gt;(MyUiState.Loading)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uiState: StateFlow&lt;MyUiState&gt; = _uiState.asStateFlow()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loadData()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viewModelScope.launch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_uiState.value = MyUiState.Loading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repository.getDataStream()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.onEach { data -&gt;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_uiState.value = MyUiState.Success(data)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.catch { e -&gt;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_uiState.value = MyUiState.Error(e.message ?: "Error")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.collect()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0327" y="1370707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SharedFlow: One-Time Navigation Events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50327" y="1649611"/>
            <a:ext cx="589582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SharedFlow untuk event yang hanya boleh dikonsumsi sekali.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50327" y="1918395"/>
            <a:ext cx="5286243" cy="3156942"/>
          </a:xfrm>
          <a:prstGeom prst="roundRect">
            <a:avLst>
              <a:gd name="adj" fmla="val 1616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96076" y="2039838"/>
            <a:ext cx="4994745" cy="291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MyViewModel : ViewModel()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_navEvents = MutableSharedFlow&lt;NavEvent&gt;()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navEvents: SharedFlow&lt;NavEvent&gt; = _navEvents.asSharedFlow()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onItemClicked(id: String)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viewModelScope.launch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_navEvents.emit(NavEvent.ToDetail(id))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class NavEvent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class ToDetail(val id: String) : NavEvent()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object Back : NavEvent()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71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Dasar-Dasar JSON untuk Android Developer (1/2)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61475" y="1282601"/>
            <a:ext cx="6296860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JSON (JavaScript Object Notation) adalah format pertukaran data yang ringan dan berbasis teks, menjadi tulang punggung komunikasi antara aplikasi Android dan server (API).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61475" y="1677491"/>
            <a:ext cx="2046832" cy="1190823"/>
          </a:xfrm>
          <a:prstGeom prst="roundRect">
            <a:avLst>
              <a:gd name="adj" fmla="val 401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1527" y="1797546"/>
            <a:ext cx="341106" cy="341114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286" y="1891308"/>
            <a:ext cx="153488" cy="153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527" y="2216745"/>
            <a:ext cx="180672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Ringan &amp; Berbasis Teks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527" y="2441277"/>
            <a:ext cx="180672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Meminimalkan ukuran data untuk transfer cepat.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86390" y="1677491"/>
            <a:ext cx="2046931" cy="1190823"/>
          </a:xfrm>
          <a:prstGeom prst="roundRect">
            <a:avLst>
              <a:gd name="adj" fmla="val 401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906441" y="1797546"/>
            <a:ext cx="341106" cy="341114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0201" y="1891308"/>
            <a:ext cx="153488" cy="1534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06441" y="2216745"/>
            <a:ext cx="180682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Mudah Dibaca Manusia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906441" y="2441277"/>
            <a:ext cx="180682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Sintaks yang jelas dan terstruktur.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911404" y="1677491"/>
            <a:ext cx="2046832" cy="1190823"/>
          </a:xfrm>
          <a:prstGeom prst="roundRect">
            <a:avLst>
              <a:gd name="adj" fmla="val 401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031455" y="1797546"/>
            <a:ext cx="341106" cy="341114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5215" y="1891308"/>
            <a:ext cx="153488" cy="1534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31455" y="2216745"/>
            <a:ext cx="180672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Mudah Diparse Mesin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31455" y="2441277"/>
            <a:ext cx="180672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Didukung luas oleh berbagai bahasa pemrograman.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661475" y="2985492"/>
            <a:ext cx="6296860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Struktur Dasar JSON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661475" y="3386931"/>
            <a:ext cx="6906444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JSON dibangun dari dua struktur dasar: </a:t>
            </a: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Object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Array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dikombinasikan dengan enam tipe data dasar.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628330"/>
          <a:ext cx="6296859" cy="2700667"/>
        </p:xfrm>
        <a:graphic>
          <a:graphicData uri="http://schemas.openxmlformats.org/drawingml/2006/table">
            <a:tbl>
              <a:tblPr/>
              <a:tblGrid>
                <a:gridCol w="2098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Struktur / Tipe Data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Deskripsi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7252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Contoh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Object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Kumpulan pasangan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"key": value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yang tidak berurutan. Dimulai dan diakhiri dengan kurung kurawal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{}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{"nama": "Budi", "umur": 30}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Array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Daftar nilai-nilai yang berurutan. Dimulai dan diakhiri dengan kurung siku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["Apel", "Jeruk", "Mangga"]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String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Urutan karakter Unicode, diapit oleh tanda kutip ganda.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"Hello World"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Number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Angka integer atau floating-point.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,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Boolean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Nilai logis: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atau 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Null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Merepresentasikan ketiadaan nilai.</a:t>
                      </a:r>
                      <a:endParaRPr lang="en-US" sz="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CD7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Dasar-Dasar JSON untuk Android Developer 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28502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@SerializedName untuk memetakan key JSON ke properti Kotlin, dan Gson untuk serialisasi/deserialisasi.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399679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 JSON Response &amp; Data Class Kotlin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1686421"/>
            <a:ext cx="64511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Anotasi @SerializedName menghubungkan key JSON (snake_case) dengan properti Kotlin (camelCase).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964630"/>
            <a:ext cx="5841556" cy="3819922"/>
          </a:xfrm>
          <a:prstGeom prst="roundRect">
            <a:avLst>
              <a:gd name="adj" fmla="val 136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0299" y="2088654"/>
            <a:ext cx="5543907" cy="357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JSON Response dari API: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"id": 1, "name": "Budi", "is_active": true, "age": null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com.google.gson.annotations.SerializedName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User(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@SerializedName("id")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id: Int,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@SerializedName("name")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name: String,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@SerializedName("is_active")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isActive: Boolean,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@SerializedName("age")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age: Int?  // nullable — bisa null dari server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11991" y="1399679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 dengan Gson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1991" y="1686421"/>
            <a:ext cx="533406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fromJson() untuk deserialisasi, toJson() untuk serialisasi.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11991" y="1964630"/>
            <a:ext cx="4724480" cy="2827734"/>
          </a:xfrm>
          <a:prstGeom prst="roundRect">
            <a:avLst>
              <a:gd name="adj" fmla="val 184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60815" y="2088654"/>
            <a:ext cx="4426831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gson = Gson()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JSON String → Kotlin Object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json = """{"id":1,"name":"Budi","is_active":true,"age":null}"""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user: User = gson.fromJson(json, User::class.java)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println(user.name)     // Budi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println(user.isActive) // true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println(user.age)      // null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Kotlin Object → JSON String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newUser = User(id = 2, name = "Ani", isActive = false, age = 25)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result = gson.toJson(newUser)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{"id":2,"name":"Ani","is_active":false,"age":25}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5993705"/>
            <a:ext cx="10868745" cy="412155"/>
          </a:xfrm>
          <a:prstGeom prst="roundRect">
            <a:avLst>
              <a:gd name="adj" fmla="val 12640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95" y="6129734"/>
            <a:ext cx="154976" cy="12402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64491" y="6117630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Tip: Selalu gunakan tipe nullable (?) untuk field yang mungkin null dari server. Tanpanya, Gson bisa melempar NullPointerException.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Networking Layer di Android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0224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Dua pendekatan utama dan tools penting untuk menguji layer jaringan secara efektif.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181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Jenis Testing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362696"/>
            <a:ext cx="2533686" cy="2115542"/>
          </a:xfrm>
          <a:prstGeom prst="roundRect">
            <a:avLst>
              <a:gd name="adj" fmla="val 3284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19" y="254704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 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5819" y="2970808"/>
            <a:ext cx="216499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Menguji unit kode terkecil secara terisolasi dengan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mocking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dependensi. Cepat dan mudah dijalankan.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55" y="2362696"/>
            <a:ext cx="2533686" cy="2115542"/>
          </a:xfrm>
          <a:prstGeom prst="roundRect">
            <a:avLst>
              <a:gd name="adj" fmla="val 3284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4799" y="254704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Test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44799" y="2970808"/>
            <a:ext cx="21649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Memverifikasi interaksi antar komponen atau dengan sistem eksternal. Membutuhkan setup lebih kompleks.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19181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Utama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2362696"/>
            <a:ext cx="2533686" cy="2096691"/>
          </a:xfrm>
          <a:prstGeom prst="roundRect">
            <a:avLst>
              <a:gd name="adj" fmla="val 331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5548" y="2534345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5548" y="2958108"/>
            <a:ext cx="2190398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Library mocking untuk Kotlin. Buat objek tiruan dari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ApiService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atau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2884" y="2362696"/>
            <a:ext cx="2533686" cy="2096691"/>
          </a:xfrm>
          <a:prstGeom prst="roundRect">
            <a:avLst>
              <a:gd name="adj" fmla="val 331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74528" y="2534345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kotlinx-coroutines-test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74528" y="3216573"/>
            <a:ext cx="2190398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TestDispatcher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mengontrol eksekusi coroutine secara deterministik.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3904" y="4624685"/>
            <a:ext cx="5232666" cy="1296293"/>
          </a:xfrm>
          <a:prstGeom prst="roundRect">
            <a:avLst>
              <a:gd name="adj" fmla="val 535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5548" y="4796334"/>
            <a:ext cx="4889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Turbine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5548" y="5220097"/>
            <a:ext cx="488937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Library khusus untuk menguji Kotlin Flow secara berurutan dan terkontrol.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Ringkasan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65833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Poin kunci yang harus kamu ingat dan terapkan di proyek selanjutnya.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692672"/>
            <a:ext cx="3519399" cy="1829495"/>
          </a:xfrm>
          <a:prstGeom prst="roundRect">
            <a:avLst>
              <a:gd name="adj" fmla="val 36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7960" y="1859161"/>
            <a:ext cx="480604" cy="480616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16" y="1991221"/>
            <a:ext cx="216291" cy="2162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960" y="2494955"/>
            <a:ext cx="318643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 &amp; HTTP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7960" y="2838351"/>
            <a:ext cx="318643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GET/POST/PUT/DELETE dengan JSON adalah fondasi komunikasi client-server.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6049" y="1692672"/>
            <a:ext cx="3519499" cy="1829495"/>
          </a:xfrm>
          <a:prstGeom prst="roundRect">
            <a:avLst>
              <a:gd name="adj" fmla="val 36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02533" y="1859161"/>
            <a:ext cx="480604" cy="480616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690" y="1991221"/>
            <a:ext cx="216291" cy="2162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2533" y="2494955"/>
            <a:ext cx="318652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Retrofit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02533" y="2838351"/>
            <a:ext cx="3186529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Library standar Android yang type-safe dan mendukung Coroutines.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721" y="1692672"/>
            <a:ext cx="3519499" cy="1829495"/>
          </a:xfrm>
          <a:prstGeom prst="roundRect">
            <a:avLst>
              <a:gd name="adj" fmla="val 36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77206" y="1859161"/>
            <a:ext cx="480604" cy="480616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9362" y="1991221"/>
            <a:ext cx="216291" cy="2162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7206" y="2494955"/>
            <a:ext cx="318652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Async &amp; Coroutines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177206" y="2838351"/>
            <a:ext cx="3186529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+ </a:t>
            </a: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Dispatchers.IO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wajib untuk semua operasi jaringan.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61475" y="3677345"/>
            <a:ext cx="5356786" cy="1577181"/>
          </a:xfrm>
          <a:prstGeom prst="roundRect">
            <a:avLst>
              <a:gd name="adj" fmla="val 426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7960" y="3843834"/>
            <a:ext cx="480604" cy="480616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16" y="3975894"/>
            <a:ext cx="216291" cy="2162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960" y="4479627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MVVM Architecture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7960" y="4823023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Pisahkan UI, ViewModel, Repository, dan Data Source secara tegas.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173435" y="3677345"/>
            <a:ext cx="5356786" cy="1577181"/>
          </a:xfrm>
          <a:prstGeom prst="roundRect">
            <a:avLst>
              <a:gd name="adj" fmla="val 426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339920" y="3843834"/>
            <a:ext cx="480604" cy="480616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2076" y="3975894"/>
            <a:ext cx="216291" cy="21629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39920" y="4479627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Sealed UiState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339920" y="4823023"/>
            <a:ext cx="5023816" cy="265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2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state exhaustive dan aman untuk Compose.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Daftar Pustaka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489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Dokumentasi Resmi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08659"/>
            <a:ext cx="5232666" cy="2141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Developers. (2024). Network operations overview.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Developers. (2024). Kotlin coroutines on Android.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Developers. (2024). StateFlow and SharedFlow.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Developers. (2024). Guide to app architecture.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Square, Inc. (2024). Retrofit: A type-safe HTTP client for Android and Java.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Square, Inc. (2024). OkHttp.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138489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Buku &amp; Artikel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1808659"/>
            <a:ext cx="5232666" cy="2141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Google. (2024). Jetpack Compose documentation.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JetBrains. (2024). Kotlin Flow documentation.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JetBrains. (2024). Kotlin Coroutines guide.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Philipp Lackner. (2023). Android Architecture: MVVM with Retrofit &amp; Coroutines. YouTube.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Google. (2024). Now in Android — Architecture sample.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Eckel, B. &amp; Skeen, J. (2023). Atomic Kotlin. Mindview LLC.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194076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69" y="4433788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4400649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Semua referensi diakses pada September 2026. Dokumentasi resmi Android Developers diperbarui secara berkala — selalu cek versi terbaru.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Terima Kasih!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297140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Pertanyaan &amp; Diskusi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Sampaikan di forum diskusi atau langsung di kelas — tidak ada pertanyaan yang salah!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6929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6832" y="456465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Pertemuan Berikutnya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97334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Navigation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3F9E9-DBF9-530E-04A6-80D73F57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252E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3651</Words>
  <Application>Microsoft Macintosh PowerPoint</Application>
  <PresentationFormat>Widescreen</PresentationFormat>
  <Paragraphs>548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Montserrat Light</vt:lpstr>
      <vt:lpstr>Montserrat</vt:lpstr>
      <vt:lpstr>Calibri</vt:lpstr>
      <vt:lpstr>Consolas</vt:lpstr>
      <vt:lpstr>Heebo Bold</vt:lpstr>
      <vt:lpstr>Heebo Light</vt:lpstr>
      <vt:lpstr>Heebo</vt:lpstr>
      <vt:lpstr>Google Sans Text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Azis Amirulbahar</cp:lastModifiedBy>
  <cp:revision>8</cp:revision>
  <dcterms:created xsi:type="dcterms:W3CDTF">2026-09-23T07:45:04Z</dcterms:created>
  <dcterms:modified xsi:type="dcterms:W3CDTF">2026-09-23T09:21:06Z</dcterms:modified>
</cp:coreProperties>
</file>