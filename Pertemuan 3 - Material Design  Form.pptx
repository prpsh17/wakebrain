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74" r:id="rId3"/>
    <p:sldId id="278" r:id="rId4"/>
    <p:sldId id="277" r:id="rId5"/>
    <p:sldId id="280" r:id="rId6"/>
    <p:sldId id="281" r:id="rId7"/>
    <p:sldId id="279" r:id="rId8"/>
    <p:sldId id="282" r:id="rId9"/>
    <p:sldId id="283" r:id="rId10"/>
    <p:sldId id="258" r:id="rId11"/>
    <p:sldId id="292" r:id="rId12"/>
    <p:sldId id="259" r:id="rId13"/>
    <p:sldId id="284" r:id="rId14"/>
    <p:sldId id="285" r:id="rId15"/>
    <p:sldId id="286" r:id="rId16"/>
    <p:sldId id="261" r:id="rId17"/>
    <p:sldId id="288" r:id="rId18"/>
    <p:sldId id="289" r:id="rId19"/>
    <p:sldId id="290" r:id="rId20"/>
    <p:sldId id="262" r:id="rId21"/>
    <p:sldId id="291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93" r:id="rId32"/>
    <p:sldId id="272" r:id="rId33"/>
    <p:sldId id="273" r:id="rId34"/>
    <p:sldId id="287" r:id="rId35"/>
  </p:sldIdLst>
  <p:sldSz cx="12192000" cy="6858000"/>
  <p:notesSz cx="6858000" cy="12192000"/>
  <p:embeddedFontLs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Heebo" pitchFamily="2" charset="-79"/>
      <p:regular r:id="rId41"/>
      <p:bold r:id="rId42"/>
    </p:embeddedFont>
    <p:embeddedFont>
      <p:font typeface="Heebo Bold" pitchFamily="2" charset="-79"/>
      <p:regular r:id="rId43"/>
      <p:bold r:id="rId44"/>
    </p:embeddedFont>
    <p:embeddedFont>
      <p:font typeface="Heebo Light" pitchFamily="2" charset="-79"/>
      <p:regular r:id="rId45"/>
    </p:embeddedFont>
    <p:embeddedFont>
      <p:font typeface="Montserrat" pitchFamily="2" charset="77"/>
      <p:regular r:id="rId46"/>
      <p:bold r:id="rId47"/>
      <p:italic r:id="rId48"/>
      <p:boldItalic r:id="rId49"/>
    </p:embeddedFont>
    <p:embeddedFont>
      <p:font typeface="Roboto Medium" panose="02000000000000000000" pitchFamily="2" charset="0"/>
      <p:regular r:id="rId50"/>
      <p:italic r:id="rId5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4646"/>
  </p:normalViewPr>
  <p:slideViewPr>
    <p:cSldViewPr snapToGrid="0" snapToObjects="1">
      <p:cViewPr varScale="1">
        <p:scale>
          <a:sx n="99" d="100"/>
          <a:sy n="99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5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1AC0-3FBF-9D01-F21A-946C8CFE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0EA44-BE32-9A99-BDBC-DD0E011C0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4C916-4D3E-0C1E-BB28-A8B757B9D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FDE12-C967-0621-E5FB-E6433F510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1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279C1-83AC-12EA-4399-7CCDC80E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A77BB-6BF7-0AB5-FA29-EB98A906B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99226-5EB8-2021-7BAF-E53C79AFD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3D126-EA96-2C3E-8D38-C11DC7A08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85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E14A6-9935-B0FB-46E9-2A3022D9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D65B0-6AB5-A12A-521D-4B12AE11C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AFEAD-E3FD-19C8-58A3-6FFF9037C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6AD36-E8F1-BC72-DF8B-4E57984B97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18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eveloper.android.com/develop/ui/compose/component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3.material.io/styles/color/roles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android.com/jetpack/compose/designsystems/material3" TargetMode="External"/><Relationship Id="rId4" Type="http://schemas.openxmlformats.org/officeDocument/2006/relationships/hyperlink" Target="https://m3.material.io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66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Design 3 dan Form Components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251410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Pemrograman Mobile (IF21507) — Pertemuan ke-3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00603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1475" y="3401219"/>
            <a:ext cx="331630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Pengajar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Azis Amirulbahar, S.Pd., M.T.I.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7542" y="3401219"/>
            <a:ext cx="342911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Program Studi</a:t>
            </a:r>
            <a:endParaRPr lang="en-US" sz="13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Informatika, Fakultas Teknik</a:t>
            </a:r>
            <a:endParaRPr lang="en-US" sz="13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Universitas Jenderal Soedirman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6418" y="3401219"/>
            <a:ext cx="331630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Durasi &amp; Bobot</a:t>
            </a:r>
            <a:endParaRPr lang="en-US" sz="1300" dirty="0"/>
          </a:p>
          <a:p>
            <a:pPr marL="0" indent="0" algn="r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100 Menit | 2 SKS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4529931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769644"/>
            <a:ext cx="206667" cy="1652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8731" y="4736505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Prasyarat: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Mahasiswa telah memahami dasar Kotlin, Jetpack Compose, dan Layout Dasar (Column, Row, Box).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90F7-603F-160F-D27A-418ADEF68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3532729-FFC4-FA91-7E92-37083D21BAC4}"/>
              </a:ext>
            </a:extLst>
          </p:cNvPr>
          <p:cNvSpPr/>
          <p:nvPr/>
        </p:nvSpPr>
        <p:spPr>
          <a:xfrm>
            <a:off x="661475" y="85635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Life Cycle pada Android</a:t>
            </a:r>
            <a:endParaRPr lang="en-US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073C71-5159-CE83-5797-51A278CDD193}"/>
              </a:ext>
            </a:extLst>
          </p:cNvPr>
          <p:cNvSpPr txBox="1"/>
          <p:nvPr/>
        </p:nvSpPr>
        <p:spPr>
          <a:xfrm>
            <a:off x="661475" y="2017983"/>
            <a:ext cx="5434525" cy="334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Android Lifecycle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adalah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siklus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hidup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sebuah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komponen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dalam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aplikasi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Android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,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yaitu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tahapan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yang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dialami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aplikasi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sejak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pertama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kali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dibuka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,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digunakan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oleh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pengguna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,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berpindah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ke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latar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belakang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(</a:t>
            </a:r>
            <a:r>
              <a:rPr lang="en-ID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background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),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hingga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ditutup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atau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dihentikan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oleh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sistem</a:t>
            </a:r>
            <a:r>
              <a:rPr lang="en-ID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</a:t>
            </a:r>
            <a:endParaRPr lang="en-US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pic>
        <p:nvPicPr>
          <p:cNvPr id="30" name="Picture 29" descr="10 Aplikasi Android Favorit Saya untuk Diunduh di Ponsel Baru Anda | Tom's  Guide">
            <a:extLst>
              <a:ext uri="{FF2B5EF4-FFF2-40B4-BE49-F238E27FC236}">
                <a16:creationId xmlns:a16="http://schemas.microsoft.com/office/drawing/2014/main" id="{8DD6048E-1D2C-B760-5A99-E8AD3F531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824" y="2199244"/>
            <a:ext cx="5266764" cy="295452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01463C2-570D-3C65-F8B8-127A88A2769B}"/>
              </a:ext>
            </a:extLst>
          </p:cNvPr>
          <p:cNvSpPr txBox="1"/>
          <p:nvPr/>
        </p:nvSpPr>
        <p:spPr>
          <a:xfrm>
            <a:off x="8010525" y="5337835"/>
            <a:ext cx="2289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https://</a:t>
            </a:r>
            <a:r>
              <a:rPr lang="en-US" sz="1200" dirty="0" err="1">
                <a:solidFill>
                  <a:schemeClr val="bg1"/>
                </a:solidFill>
              </a:rPr>
              <a:t>www.tomsguide.com</a:t>
            </a:r>
            <a:r>
              <a:rPr lang="en-US" sz="1200" dirty="0">
                <a:solidFill>
                  <a:schemeClr val="bg1"/>
                </a:solidFill>
              </a:rPr>
              <a:t>/features/my-favorite-10-android-apps-to-download-for-your-new-phone</a:t>
            </a:r>
          </a:p>
        </p:txBody>
      </p:sp>
    </p:spTree>
    <p:extLst>
      <p:ext uri="{BB962C8B-B14F-4D97-AF65-F5344CB8AC3E}">
        <p14:creationId xmlns:p14="http://schemas.microsoft.com/office/powerpoint/2010/main" val="392079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35D84-A9AC-23F1-EAB8-A34A3E20E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FD4505E-5B0F-7E95-3968-053593117379}"/>
              </a:ext>
            </a:extLst>
          </p:cNvPr>
          <p:cNvSpPr/>
          <p:nvPr/>
        </p:nvSpPr>
        <p:spPr>
          <a:xfrm>
            <a:off x="661475" y="85635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Life Cycle pada Android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99979-8B51-3ACF-111A-E90F0CAA7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743" y="1402556"/>
            <a:ext cx="3894371" cy="5035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B23666-0280-4AE0-804C-81536B555B8A}"/>
              </a:ext>
            </a:extLst>
          </p:cNvPr>
          <p:cNvSpPr txBox="1"/>
          <p:nvPr/>
        </p:nvSpPr>
        <p:spPr>
          <a:xfrm>
            <a:off x="3170255" y="6454449"/>
            <a:ext cx="6099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https://</a:t>
            </a:r>
            <a:r>
              <a:rPr lang="en-US" sz="1200" i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developer.android.com</a:t>
            </a:r>
            <a:r>
              <a:rPr lang="en-US" sz="1200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/guide/components/activities/activity-lifecycle</a:t>
            </a:r>
          </a:p>
        </p:txBody>
      </p:sp>
    </p:spTree>
    <p:extLst>
      <p:ext uri="{BB962C8B-B14F-4D97-AF65-F5344CB8AC3E}">
        <p14:creationId xmlns:p14="http://schemas.microsoft.com/office/powerpoint/2010/main" val="1178282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0264-4268-E7CF-3086-1AEF25BB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67B7ED0-9165-8BD2-B7AD-57D0C697EFF1}"/>
              </a:ext>
            </a:extLst>
          </p:cNvPr>
          <p:cNvSpPr/>
          <p:nvPr/>
        </p:nvSpPr>
        <p:spPr>
          <a:xfrm>
            <a:off x="661475" y="85635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Life Cycle pada Android</a:t>
            </a:r>
            <a:endParaRPr lang="en-US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9C5B31-7DDB-EF08-6DC2-34E2DC0C1DC0}"/>
              </a:ext>
            </a:extLst>
          </p:cNvPr>
          <p:cNvSpPr txBox="1"/>
          <p:nvPr/>
        </p:nvSpPr>
        <p:spPr>
          <a:xfrm>
            <a:off x="661475" y="1546577"/>
            <a:ext cx="10046630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onCreate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():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Dipanggil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ketika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Activity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pertama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kali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dibuat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Biasanya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digunakan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untuk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menyiapkan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tampilan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dan data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awal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onStart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(): 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Activity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mulai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terlihat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oleh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pengguna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onResume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(): 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Activity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berada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di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depan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dan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siap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menerima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interaksi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pengguna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onPause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(): 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Activity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mulai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kehilangan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fokus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,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misalnya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ketika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ada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dialog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atau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pengguna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membuka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aplikasi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lain.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onStop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(): 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Activity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sudah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tidak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terlihat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oleh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pengguna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dan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berada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di </a:t>
            </a:r>
            <a:r>
              <a:rPr lang="en-ID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background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onDestroy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(): 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Activity “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dihancurkan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” dan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sumber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daya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yang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digunakan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dapat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dibersihkan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474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85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Implementasi Activity Lifecycle dalam Kode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86697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Setiap callback lifecycle di-override di dalam kelas Activity. Berikut adalah contoh implementasi lengkap dengan penjelasan kapan masing-masing dipanggil.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1053802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Contoh Implementasi Kotlin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61475" y="1229420"/>
            <a:ext cx="5886997" cy="4790877"/>
          </a:xfrm>
          <a:prstGeom prst="roundRect">
            <a:avLst>
              <a:gd name="adj" fmla="val 725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0691" y="1312069"/>
            <a:ext cx="5688565" cy="4625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MainActivity : AppCompatActivity()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 fun onCreate(savedInstanceState: Bundle?)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super.onCreate(savedInstanceState)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setContent { MyApp() } // Jetpack Compose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Inisialisasi ViewModel, data, dll.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 fun onStart()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super.onStart()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Activity mulai terlihat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 fun onResume()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super.onResume()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Mulai animasi, sensor, kamera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 fun onPause()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super.onPause()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Hentikan animasi, simpan draft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 fun onStop()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super.onStop()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Lepas resource berat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 fun onDestroy()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super.onDestroy()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Bersihkan semua resource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756429" y="1053802"/>
            <a:ext cx="478004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Panduan Praktis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6429" y="1229420"/>
            <a:ext cx="4780041" cy="4602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2575" y="1324769"/>
            <a:ext cx="453854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onCreate() — Wajib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02575" y="1495227"/>
            <a:ext cx="453854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Selalu panggil super.onCreate(). Gunakan setContent{} untuk Compose atau setContentView() untuk XML.</a:t>
            </a:r>
            <a:endParaRPr lang="en-US" sz="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6429" y="1730970"/>
            <a:ext cx="4780041" cy="4602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2575" y="1826320"/>
            <a:ext cx="453854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onPause() &amp; onStop()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902575" y="1996777"/>
            <a:ext cx="453854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Simpan data penting dan hentikan operasi yang mengonsumsi baterai (GPS, kamera, animasi).</a:t>
            </a:r>
            <a:endParaRPr lang="en-US" sz="6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6429" y="2232521"/>
            <a:ext cx="4780041" cy="4602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2575" y="2327870"/>
            <a:ext cx="453854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onDestroy()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902575" y="2498328"/>
            <a:ext cx="453854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Lepas semua referensi untuk mencegah memory leak. Jangan pandalkan onDestroy() untuk menyimpan data.</a:t>
            </a:r>
            <a:endParaRPr lang="en-US" sz="650" dirty="0"/>
          </a:p>
        </p:txBody>
      </p:sp>
      <p:sp>
        <p:nvSpPr>
          <p:cNvPr id="17" name="Shape 12"/>
          <p:cNvSpPr/>
          <p:nvPr/>
        </p:nvSpPr>
        <p:spPr>
          <a:xfrm>
            <a:off x="661475" y="6113165"/>
            <a:ext cx="10868745" cy="218877"/>
          </a:xfrm>
          <a:prstGeom prst="roundRect">
            <a:avLst>
              <a:gd name="adj" fmla="val 15868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22" y="6175077"/>
            <a:ext cx="103284" cy="826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0053" y="6175077"/>
            <a:ext cx="11127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Dengan Jetpack Compose, setContentView() digantikan oleh setContent { } — namun siklus hidup Activity tetap berlaku.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0616"/>
            <a:ext cx="10868745" cy="29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Anotasi @Composable: Anatomi Fungsi UI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84" y="889893"/>
            <a:ext cx="10390027" cy="4073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9442" y="1089657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39949" y="1089657"/>
            <a:ext cx="1902016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@Composable Function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39949" y="4457669"/>
            <a:ext cx="1902016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Rendered UI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9442" y="4457669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berubah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025330"/>
            <a:ext cx="11478330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Mekanisme recomposition memastikan hanya bagian UI yang terpengaruh perubahan state yang dieksekusi ulang — bukan seluruh pohon UI.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61475" y="5208191"/>
            <a:ext cx="215101" cy="215106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7342" y="5226149"/>
            <a:ext cx="14336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1839" y="5241032"/>
            <a:ext cx="3306481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Anotasi @Composable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31839" y="5423595"/>
            <a:ext cx="3306481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Menandai fungsi sebagai penyusun UI yang dapat dipanggil dalam konteks Compose. Tanpa anotasi ini, fungsi tidak dapat memanggil fungsi Composable lain.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931839" y="5847953"/>
            <a:ext cx="3306481" cy="497086"/>
          </a:xfrm>
          <a:prstGeom prst="roundRect">
            <a:avLst>
              <a:gd name="adj" fmla="val 8079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6533" y="5943501"/>
            <a:ext cx="3077093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MyComponent() { ... }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307375" y="5208191"/>
            <a:ext cx="215101" cy="215106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43242" y="5226149"/>
            <a:ext cx="14336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7739" y="5241032"/>
            <a:ext cx="3306481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Penamaan PascalCase &amp; Return Unit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7739" y="5423595"/>
            <a:ext cx="3306481" cy="3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Fungsi Composable menggunakan konvensi </a:t>
            </a:r>
            <a:r>
              <a:rPr lang="en-US" sz="7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PascalCase</a:t>
            </a: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tidak mengembalikan nilai (</a:t>
            </a:r>
            <a:r>
              <a:rPr lang="en-US" sz="7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— ia </a:t>
            </a:r>
            <a:r>
              <a:rPr lang="en-US" sz="7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mendeskripsikan</a:t>
            </a: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UI, bukan membangunnya secara imperatif.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953275" y="5208191"/>
            <a:ext cx="215101" cy="215106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989142" y="5226149"/>
            <a:ext cx="14336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3640" y="5241032"/>
            <a:ext cx="3306581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Mekanisme Recomposition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3640" y="5423595"/>
            <a:ext cx="3306581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Saat state yang dibaca oleh sebuah Composable berubah, Compose hanya mengeksekusi ulang (</a:t>
            </a:r>
            <a:r>
              <a:rPr lang="en-US" sz="7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recompose</a:t>
            </a: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fungsi tersebut secara cerdas.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8223640" y="5727204"/>
            <a:ext cx="3306581" cy="650081"/>
          </a:xfrm>
          <a:prstGeom prst="roundRect">
            <a:avLst>
              <a:gd name="adj" fmla="val 6178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338334" y="5822752"/>
            <a:ext cx="3077193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count by remember { mutableStateOf(0) }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Hanya Text di bawah yang recompose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Text(text = "Klik: $count")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7227E6-F74E-7858-4F15-4BFED67BA9F2}"/>
              </a:ext>
            </a:extLst>
          </p:cNvPr>
          <p:cNvSpPr txBox="1"/>
          <p:nvPr/>
        </p:nvSpPr>
        <p:spPr>
          <a:xfrm>
            <a:off x="661475" y="2374148"/>
            <a:ext cx="708235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 err="1">
                <a:solidFill>
                  <a:schemeClr val="bg1"/>
                </a:solidFill>
              </a:rPr>
              <a:t>Recomposition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adalah</a:t>
            </a:r>
            <a:r>
              <a:rPr lang="en-ID" dirty="0">
                <a:solidFill>
                  <a:schemeClr val="bg1"/>
                </a:solidFill>
              </a:rPr>
              <a:t> proses </a:t>
            </a:r>
            <a:r>
              <a:rPr lang="en-ID" dirty="0" err="1">
                <a:solidFill>
                  <a:schemeClr val="bg1"/>
                </a:solidFill>
              </a:rPr>
              <a:t>ketika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b="1" dirty="0">
                <a:solidFill>
                  <a:schemeClr val="bg1"/>
                </a:solidFill>
              </a:rPr>
              <a:t>Jetpack Compose </a:t>
            </a:r>
            <a:r>
              <a:rPr lang="en-ID" b="1" dirty="0" err="1">
                <a:solidFill>
                  <a:schemeClr val="bg1"/>
                </a:solidFill>
              </a:rPr>
              <a:t>memperbarui</a:t>
            </a:r>
            <a:r>
              <a:rPr lang="en-ID" b="1" dirty="0">
                <a:solidFill>
                  <a:schemeClr val="bg1"/>
                </a:solidFill>
              </a:rPr>
              <a:t> </a:t>
            </a:r>
            <a:r>
              <a:rPr lang="en-ID" b="1" dirty="0" err="1">
                <a:solidFill>
                  <a:schemeClr val="bg1"/>
                </a:solidFill>
              </a:rPr>
              <a:t>tampilan</a:t>
            </a:r>
            <a:r>
              <a:rPr lang="en-ID" b="1" dirty="0">
                <a:solidFill>
                  <a:schemeClr val="bg1"/>
                </a:solidFill>
              </a:rPr>
              <a:t> (UI) </a:t>
            </a:r>
            <a:r>
              <a:rPr lang="en-ID" b="1" dirty="0" err="1">
                <a:solidFill>
                  <a:schemeClr val="bg1"/>
                </a:solidFill>
              </a:rPr>
              <a:t>secara</a:t>
            </a:r>
            <a:r>
              <a:rPr lang="en-ID" b="1" dirty="0">
                <a:solidFill>
                  <a:schemeClr val="bg1"/>
                </a:solidFill>
              </a:rPr>
              <a:t> </a:t>
            </a:r>
            <a:r>
              <a:rPr lang="en-ID" b="1" dirty="0" err="1">
                <a:solidFill>
                  <a:schemeClr val="bg1"/>
                </a:solidFill>
              </a:rPr>
              <a:t>otomatis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karena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terjadi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perubahan</a:t>
            </a:r>
            <a:r>
              <a:rPr lang="en-ID" dirty="0">
                <a:solidFill>
                  <a:schemeClr val="bg1"/>
                </a:solidFill>
              </a:rPr>
              <a:t> pada </a:t>
            </a:r>
            <a:r>
              <a:rPr lang="en-ID" b="1" dirty="0">
                <a:solidFill>
                  <a:schemeClr val="bg1"/>
                </a:solidFill>
              </a:rPr>
              <a:t>data </a:t>
            </a:r>
            <a:r>
              <a:rPr lang="en-ID" b="1" dirty="0" err="1">
                <a:solidFill>
                  <a:schemeClr val="bg1"/>
                </a:solidFill>
              </a:rPr>
              <a:t>atau</a:t>
            </a:r>
            <a:r>
              <a:rPr lang="en-ID" b="1" dirty="0">
                <a:solidFill>
                  <a:schemeClr val="bg1"/>
                </a:solidFill>
              </a:rPr>
              <a:t> state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digunakan</a:t>
            </a:r>
            <a:r>
              <a:rPr lang="en-ID" dirty="0">
                <a:solidFill>
                  <a:schemeClr val="bg1"/>
                </a:solidFill>
              </a:rPr>
              <a:t> oleh </a:t>
            </a:r>
            <a:r>
              <a:rPr lang="en-ID" dirty="0" err="1">
                <a:solidFill>
                  <a:schemeClr val="bg1"/>
                </a:solidFill>
              </a:rPr>
              <a:t>tampilan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tersebut</a:t>
            </a:r>
            <a:r>
              <a:rPr lang="en-ID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1D0116-E55B-DC2C-3D98-375DC7DC2FF2}"/>
              </a:ext>
            </a:extLst>
          </p:cNvPr>
          <p:cNvSpPr/>
          <p:nvPr/>
        </p:nvSpPr>
        <p:spPr>
          <a:xfrm>
            <a:off x="661475" y="85635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Recomposition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E3AFE-AB9F-8EAD-FA73-9A4E46C72DDD}"/>
              </a:ext>
            </a:extLst>
          </p:cNvPr>
          <p:cNvSpPr txBox="1"/>
          <p:nvPr/>
        </p:nvSpPr>
        <p:spPr>
          <a:xfrm>
            <a:off x="661475" y="4244969"/>
            <a:ext cx="1069708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>
                <a:solidFill>
                  <a:schemeClr val="bg1"/>
                </a:solidFill>
              </a:rPr>
              <a:t>State </a:t>
            </a:r>
            <a:r>
              <a:rPr lang="en-ID" dirty="0" err="1">
                <a:solidFill>
                  <a:schemeClr val="bg1"/>
                </a:solidFill>
              </a:rPr>
              <a:t>berubah</a:t>
            </a:r>
            <a:r>
              <a:rPr lang="en-ID" dirty="0">
                <a:solidFill>
                  <a:schemeClr val="bg1"/>
                </a:solidFill>
              </a:rPr>
              <a:t> → Compose </a:t>
            </a:r>
            <a:r>
              <a:rPr lang="en-ID" dirty="0" err="1">
                <a:solidFill>
                  <a:schemeClr val="bg1"/>
                </a:solidFill>
              </a:rPr>
              <a:t>mendeteksi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perubahan</a:t>
            </a:r>
            <a:r>
              <a:rPr lang="en-ID" dirty="0">
                <a:solidFill>
                  <a:schemeClr val="bg1"/>
                </a:solidFill>
              </a:rPr>
              <a:t> → UI yang </a:t>
            </a:r>
            <a:r>
              <a:rPr lang="en-ID" dirty="0" err="1">
                <a:solidFill>
                  <a:schemeClr val="bg1"/>
                </a:solidFill>
              </a:rPr>
              <a:t>terkait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diperbarui</a:t>
            </a:r>
            <a:r>
              <a:rPr lang="en-ID" dirty="0">
                <a:solidFill>
                  <a:schemeClr val="bg1"/>
                </a:solidFill>
              </a:rPr>
              <a:t> (</a:t>
            </a:r>
            <a:r>
              <a:rPr lang="en-ID" dirty="0" err="1">
                <a:solidFill>
                  <a:schemeClr val="bg1"/>
                </a:solidFill>
              </a:rPr>
              <a:t>recomposition</a:t>
            </a:r>
            <a:r>
              <a:rPr lang="en-ID" dirty="0">
                <a:solidFill>
                  <a:schemeClr val="bg1"/>
                </a:solidFill>
              </a:rPr>
              <a:t>).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679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BA1315-8807-83C8-0201-B1C8E9EC4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447" y="743343"/>
            <a:ext cx="8056970" cy="5371314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C9B568BA-F53B-65C1-D892-F6D04CCCB800}"/>
              </a:ext>
            </a:extLst>
          </p:cNvPr>
          <p:cNvSpPr/>
          <p:nvPr/>
        </p:nvSpPr>
        <p:spPr>
          <a:xfrm>
            <a:off x="661475" y="85635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Recomposition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70275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0CFC26-9622-2ADB-283A-7609AE13BBA6}"/>
              </a:ext>
            </a:extLst>
          </p:cNvPr>
          <p:cNvSpPr txBox="1"/>
          <p:nvPr/>
        </p:nvSpPr>
        <p:spPr>
          <a:xfrm>
            <a:off x="803190" y="2967335"/>
            <a:ext cx="8869448" cy="11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D" b="1" dirty="0" err="1">
                <a:solidFill>
                  <a:schemeClr val="bg1"/>
                </a:solidFill>
              </a:rPr>
              <a:t>Recomposition</a:t>
            </a:r>
            <a:r>
              <a:rPr lang="en-ID" b="1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bukan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melakukan</a:t>
            </a:r>
            <a:r>
              <a:rPr lang="en-ID" dirty="0">
                <a:solidFill>
                  <a:schemeClr val="bg1"/>
                </a:solidFill>
              </a:rPr>
              <a:t> refresh </a:t>
            </a:r>
            <a:r>
              <a:rPr lang="en-ID" dirty="0" err="1">
                <a:solidFill>
                  <a:schemeClr val="bg1"/>
                </a:solidFill>
              </a:rPr>
              <a:t>seluruh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halaman</a:t>
            </a:r>
            <a:r>
              <a:rPr lang="en-ID" dirty="0">
                <a:solidFill>
                  <a:schemeClr val="bg1"/>
                </a:solidFill>
              </a:rPr>
              <a:t>, </a:t>
            </a:r>
            <a:r>
              <a:rPr lang="en-ID" dirty="0" err="1">
                <a:solidFill>
                  <a:schemeClr val="bg1"/>
                </a:solidFill>
              </a:rPr>
              <a:t>melainkan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memperbarui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kembali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bagian</a:t>
            </a:r>
            <a:r>
              <a:rPr lang="en-ID" dirty="0">
                <a:solidFill>
                  <a:schemeClr val="bg1"/>
                </a:solidFill>
              </a:rPr>
              <a:t> UI (Composable) yang </a:t>
            </a:r>
            <a:r>
              <a:rPr lang="en-ID" dirty="0" err="1">
                <a:solidFill>
                  <a:schemeClr val="bg1"/>
                </a:solidFill>
              </a:rPr>
              <a:t>terdampak</a:t>
            </a:r>
            <a:r>
              <a:rPr lang="en-ID" dirty="0">
                <a:solidFill>
                  <a:schemeClr val="bg1"/>
                </a:solidFill>
              </a:rPr>
              <a:t> oleh </a:t>
            </a:r>
            <a:r>
              <a:rPr lang="en-ID" dirty="0" err="1">
                <a:solidFill>
                  <a:schemeClr val="bg1"/>
                </a:solidFill>
              </a:rPr>
              <a:t>perubahan</a:t>
            </a:r>
            <a:r>
              <a:rPr lang="en-ID" dirty="0">
                <a:solidFill>
                  <a:schemeClr val="bg1"/>
                </a:solidFill>
              </a:rPr>
              <a:t> state.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2756D2-A677-2EE3-8A8A-7F4B7A0782DF}"/>
              </a:ext>
            </a:extLst>
          </p:cNvPr>
          <p:cNvSpPr/>
          <p:nvPr/>
        </p:nvSpPr>
        <p:spPr>
          <a:xfrm>
            <a:off x="661475" y="85635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Recomposition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1331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61475" y="973634"/>
            <a:ext cx="10868745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Konsep Dasar</a:t>
            </a:r>
            <a:endParaRPr lang="en-US" sz="445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Design 3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356682" y="264804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Sistem desain resmi Google untuk Android modern — generasi ketiga, diperkenalkan bersama Android 12 (2021)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13997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86336"/>
            <a:ext cx="413434" cy="413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1475" y="4006453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System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61475" y="4364137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Peran warna semantik yang adaptif terhadap wallpaper pengguna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3386336"/>
            <a:ext cx="413434" cy="4134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9132" y="4006453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199132" y="4364137"/>
            <a:ext cx="53310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 skala hierarki teks yang konsisten di seluruh UI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959449"/>
            <a:ext cx="413434" cy="4134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5579566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Shape &amp; Elevation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61475" y="5937250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Sudut dan kedalaman komponen yang terintegrasi dalam tema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4959449"/>
            <a:ext cx="413434" cy="41344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199132" y="5579566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199132" y="5937250"/>
            <a:ext cx="53310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Button, TextField, Card, TopAppBar, NavigationBar, dan lainnya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678162-7EC5-3E31-C5AA-E6A0C9DCF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146624"/>
              </p:ext>
            </p:extLst>
          </p:nvPr>
        </p:nvGraphicFramePr>
        <p:xfrm>
          <a:off x="838200" y="2811462"/>
          <a:ext cx="10515600" cy="2255520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571707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32539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82231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b="1" dirty="0" err="1">
                          <a:solidFill>
                            <a:srgbClr val="1F1F1F"/>
                          </a:solidFill>
                          <a:effectLst/>
                        </a:rPr>
                        <a:t>Karakteristik</a:t>
                      </a:r>
                      <a:endParaRPr lang="en-ID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</a:rPr>
                        <a:t>dp (Density-independent Pixels)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</a:rPr>
                        <a:t>sp (Scale-independent Pixels)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83254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</a:rPr>
                        <a:t>Digunakan Untuk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Elemen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 layout, margin, </a:t>
                      </a: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tombol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gambar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, ikon</a:t>
                      </a:r>
                      <a:endParaRPr lang="en-ID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Khusus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teks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 (</a:t>
                      </a: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TextView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, Text di Compose)</a:t>
                      </a:r>
                      <a:endParaRPr lang="en-ID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0320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</a:rPr>
                        <a:t>Adaptasi Resolusi Layar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Ya</a:t>
                      </a:r>
                      <a:endParaRPr lang="en-ID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>
                          <a:solidFill>
                            <a:srgbClr val="1F1F1F"/>
                          </a:solidFill>
                          <a:effectLst/>
                        </a:rPr>
                        <a:t>Ya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17231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</a:rPr>
                        <a:t>Adaptasi Pengaturan Font HP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Tidak (</a:t>
                      </a: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Ukuran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absolut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terhadap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ID" dirty="0" err="1">
                          <a:solidFill>
                            <a:srgbClr val="1F1F1F"/>
                          </a:solidFill>
                          <a:effectLst/>
                        </a:rPr>
                        <a:t>layar</a:t>
                      </a:r>
                      <a:r>
                        <a:rPr lang="en-ID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ID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D" b="1" dirty="0">
                          <a:solidFill>
                            <a:srgbClr val="1F1F1F"/>
                          </a:solidFill>
                          <a:effectLst/>
                        </a:rPr>
                        <a:t>Ya (</a:t>
                      </a:r>
                      <a:r>
                        <a:rPr lang="en-ID" b="1" dirty="0" err="1">
                          <a:solidFill>
                            <a:srgbClr val="1F1F1F"/>
                          </a:solidFill>
                          <a:effectLst/>
                        </a:rPr>
                        <a:t>Ukuran</a:t>
                      </a:r>
                      <a:r>
                        <a:rPr lang="en-ID" b="1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ID" b="1" dirty="0" err="1">
                          <a:solidFill>
                            <a:srgbClr val="1F1F1F"/>
                          </a:solidFill>
                          <a:effectLst/>
                        </a:rPr>
                        <a:t>relatif</a:t>
                      </a:r>
                      <a:r>
                        <a:rPr lang="en-ID" b="1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ID" b="1" dirty="0" err="1">
                          <a:solidFill>
                            <a:srgbClr val="1F1F1F"/>
                          </a:solidFill>
                          <a:effectLst/>
                        </a:rPr>
                        <a:t>terhadap</a:t>
                      </a:r>
                      <a:r>
                        <a:rPr lang="en-ID" b="1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ID" b="1" dirty="0" err="1">
                          <a:solidFill>
                            <a:srgbClr val="1F1F1F"/>
                          </a:solidFill>
                          <a:effectLst/>
                        </a:rPr>
                        <a:t>pengaturan</a:t>
                      </a:r>
                      <a:r>
                        <a:rPr lang="en-ID" b="1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ID" b="1" dirty="0" err="1">
                          <a:solidFill>
                            <a:srgbClr val="1F1F1F"/>
                          </a:solidFill>
                          <a:effectLst/>
                        </a:rPr>
                        <a:t>sistem</a:t>
                      </a:r>
                      <a:r>
                        <a:rPr lang="en-ID" b="1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ID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78165342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F4D1DBA4-D98A-7E3F-E6E0-3B4937B2B6AE}"/>
              </a:ext>
            </a:extLst>
          </p:cNvPr>
          <p:cNvSpPr/>
          <p:nvPr/>
        </p:nvSpPr>
        <p:spPr>
          <a:xfrm>
            <a:off x="-895710" y="638273"/>
            <a:ext cx="10868745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Satuan</a:t>
            </a: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44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dalam</a:t>
            </a: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44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Komponen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86786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5887"/>
            <a:ext cx="1845819" cy="219869"/>
          </a:xfrm>
          <a:prstGeom prst="roundRect">
            <a:avLst>
              <a:gd name="adj" fmla="val 22115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8289" y="629245"/>
            <a:ext cx="2281776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BAGIAN 1 — KONSEP DASAR M3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5635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 itu Material Design 3 (M3)?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40880"/>
            <a:ext cx="5818935" cy="1337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1380" y="1804591"/>
            <a:ext cx="54153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Definisi &amp; Latar Belakang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01380" y="2157214"/>
            <a:ext cx="5415323" cy="657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M3 adalah sistem desain resmi Google untuk Android modern — generasi ketiga dari Material Design, diperkenalkan bersama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Android 12 (2021)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Semua komponen M3 terintegrasi dalam satu </a:t>
            </a:r>
            <a:r>
              <a:rPr lang="en-US" sz="11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MaterialTheme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wrapper di Jetpack Compose.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05150"/>
            <a:ext cx="5818935" cy="1681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1380" y="3268861"/>
            <a:ext cx="54153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M3 di Jetpack Compose?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01380" y="3621484"/>
            <a:ext cx="5415323" cy="1001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Konsistensi UI lintas aplikasi Android secara otomatis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Dukungan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Dynamic Color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warna adaptif dari wallpaper pengguna (Android 12+)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Komponen siap pakai: Button, TextField, Card, TopAppBar, NavigationBar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Aksesibilitas bawaan: kontras warna &amp; ukuran sentuh minimum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912916"/>
            <a:ext cx="5818935" cy="1216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1380" y="5076627"/>
            <a:ext cx="54153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Dependency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901380" y="5445026"/>
            <a:ext cx="5415323" cy="520898"/>
          </a:xfrm>
          <a:prstGeom prst="roundRect">
            <a:avLst>
              <a:gd name="adj" fmla="val 11669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075008" y="5589687"/>
            <a:ext cx="506806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implementation("androidx.compose.material3:material3")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735594" y="1498501"/>
            <a:ext cx="4905054" cy="4773513"/>
          </a:xfrm>
          <a:prstGeom prst="roundRect">
            <a:avLst>
              <a:gd name="adj" fmla="val 2183"/>
            </a:avLst>
          </a:prstGeom>
          <a:solidFill>
            <a:srgbClr val="481C9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880251" y="1625104"/>
            <a:ext cx="461573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Perbandingan M2 vs M3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80251" y="1993503"/>
          <a:ext cx="4615740" cy="2321266"/>
        </p:xfrm>
        <a:graphic>
          <a:graphicData uri="http://schemas.openxmlformats.org/drawingml/2006/table">
            <a:tbl>
              <a:tblPr/>
              <a:tblGrid>
                <a:gridCol w="230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7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7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Material 2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Material 3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MaterialTheme (material)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MaterialTheme (material3)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TopAppBar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CenterAlignedTopAppBar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Scaffold biasa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Scaffold + color roles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Warna statis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Dynamic Color (wallpaper)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7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Surface / Primary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SurfaceVariant / Tertiary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6880251" y="2369219"/>
            <a:ext cx="4615739" cy="90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880251" y="2757155"/>
            <a:ext cx="4615739" cy="90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880251" y="3145090"/>
            <a:ext cx="4615739" cy="90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880251" y="3533026"/>
            <a:ext cx="4615739" cy="90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880251" y="3920961"/>
            <a:ext cx="4615739" cy="90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AADF03-430C-9ABB-46F1-D5F0D799B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626" y="642551"/>
            <a:ext cx="4878747" cy="457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AD754-E6D5-1EAC-71B3-00EDC8396C1A}"/>
              </a:ext>
            </a:extLst>
          </p:cNvPr>
          <p:cNvSpPr txBox="1"/>
          <p:nvPr/>
        </p:nvSpPr>
        <p:spPr>
          <a:xfrm>
            <a:off x="3046970" y="549326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https://m3.material.io/</a:t>
            </a:r>
          </a:p>
        </p:txBody>
      </p:sp>
    </p:spTree>
    <p:extLst>
      <p:ext uri="{BB962C8B-B14F-4D97-AF65-F5344CB8AC3E}">
        <p14:creationId xmlns:p14="http://schemas.microsoft.com/office/powerpoint/2010/main" val="951547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F5F968-DC2E-1EE9-C0F6-7FA035AE4B7A}"/>
              </a:ext>
            </a:extLst>
          </p:cNvPr>
          <p:cNvSpPr txBox="1"/>
          <p:nvPr/>
        </p:nvSpPr>
        <p:spPr>
          <a:xfrm>
            <a:off x="514863" y="1842416"/>
            <a:ext cx="4563763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Material Components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(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atau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lengkapnya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Material Design Components / MDC)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adalah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sekumpulan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elemen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antarmuka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pengguna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(UI)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siap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pakai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yang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dirancang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secara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spesifik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untuk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mengikuti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pedoman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Material Design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,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yaitu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sistem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desain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resmi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buatan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Google.</a:t>
            </a:r>
            <a:endParaRPr lang="en-US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DA2FC-B1B8-9BB5-4628-5F664F2A0FD2}"/>
              </a:ext>
            </a:extLst>
          </p:cNvPr>
          <p:cNvSpPr txBox="1"/>
          <p:nvPr/>
        </p:nvSpPr>
        <p:spPr>
          <a:xfrm>
            <a:off x="2263861" y="5935533"/>
            <a:ext cx="7664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hlinkClick r:id="rId2"/>
              </a:rPr>
              <a:t>https://developer.android.com/develop/ui/compose/components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B64F4A-DE03-0098-3AB1-1B4232E93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423" y="2260055"/>
            <a:ext cx="6193713" cy="23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46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35B9D-2357-9551-59E7-F191485D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3A279-4C9E-02CF-95C3-BF450817A066}"/>
              </a:ext>
            </a:extLst>
          </p:cNvPr>
          <p:cNvSpPr txBox="1"/>
          <p:nvPr/>
        </p:nvSpPr>
        <p:spPr>
          <a:xfrm>
            <a:off x="514863" y="1842416"/>
            <a:ext cx="4563763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Ikuti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b="1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Panduannya</a:t>
            </a: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✅ Do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b="1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❌ Don’t</a:t>
            </a:r>
            <a:endParaRPr lang="en-US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BC2BB-4D39-8FFD-8EC8-D42967EDD3A3}"/>
              </a:ext>
            </a:extLst>
          </p:cNvPr>
          <p:cNvSpPr txBox="1"/>
          <p:nvPr/>
        </p:nvSpPr>
        <p:spPr>
          <a:xfrm>
            <a:off x="2263861" y="5935533"/>
            <a:ext cx="76642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Contoh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penggunaan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tombol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https://m3.material.io/components/buttons/guidelines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FC8404-E0CE-B0EA-00A6-3675EC04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643" y="1171757"/>
            <a:ext cx="6316362" cy="451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15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61475" y="1666974"/>
            <a:ext cx="10868745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 Tema:</a:t>
            </a:r>
            <a:endParaRPr lang="en-US" sz="445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&amp; Typography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356682" y="334139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Color Scheme semantik, Dynamic Color adaptif, dan hierarki tipografi 5 skala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83331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79677"/>
            <a:ext cx="413434" cy="413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1577" y="4079677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Roles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81577" y="4437360"/>
            <a:ext cx="2864969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primary, secondary, surface, background, error — dan pasangan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on-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-nya untuk teks di atas masing-masing warna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4079677"/>
            <a:ext cx="413434" cy="4134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73315" y="4079677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Color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973315" y="4437360"/>
            <a:ext cx="2865068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Ekstrak palet dari wallpaper pengguna via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dynamicLightColorScheme(context)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Android 12+ dengan fallback statis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050" y="4079677"/>
            <a:ext cx="413434" cy="4134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65152" y="4079677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Typography Scale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665152" y="4437360"/>
            <a:ext cx="2865068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 skala × 3 ukuran = 15 token tipografi — selalu referensikan dari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MaterialTheme.typography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F4977E68-D6B9-0C46-9333-9782C4EACF12}"/>
              </a:ext>
            </a:extLst>
          </p:cNvPr>
          <p:cNvSpPr/>
          <p:nvPr/>
        </p:nvSpPr>
        <p:spPr>
          <a:xfrm>
            <a:off x="661475" y="68064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Role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F0D76-C998-AF74-3360-4303262B9A43}"/>
              </a:ext>
            </a:extLst>
          </p:cNvPr>
          <p:cNvSpPr txBox="1"/>
          <p:nvPr/>
        </p:nvSpPr>
        <p:spPr>
          <a:xfrm>
            <a:off x="1192679" y="1300513"/>
            <a:ext cx="8825417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</a:rPr>
              <a:t>Primary (</a:t>
            </a:r>
            <a:r>
              <a:rPr lang="en-ID" b="1" dirty="0" err="1">
                <a:solidFill>
                  <a:schemeClr val="bg1"/>
                </a:solidFill>
              </a:rPr>
              <a:t>Identitas</a:t>
            </a:r>
            <a:r>
              <a:rPr lang="en-ID" b="1" dirty="0">
                <a:solidFill>
                  <a:schemeClr val="bg1"/>
                </a:solidFill>
              </a:rPr>
              <a:t> &amp; Aksi Utama): </a:t>
            </a:r>
            <a:r>
              <a:rPr lang="en-ID" dirty="0">
                <a:solidFill>
                  <a:schemeClr val="bg1"/>
                </a:solidFill>
              </a:rPr>
              <a:t>Pusat </a:t>
            </a:r>
            <a:r>
              <a:rPr lang="en-ID" dirty="0" err="1">
                <a:solidFill>
                  <a:schemeClr val="bg1"/>
                </a:solidFill>
              </a:rPr>
              <a:t>perhatian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utama</a:t>
            </a:r>
            <a:r>
              <a:rPr lang="en-ID" dirty="0">
                <a:solidFill>
                  <a:schemeClr val="bg1"/>
                </a:solidFill>
              </a:rPr>
              <a:t>. </a:t>
            </a:r>
            <a:r>
              <a:rPr lang="en-ID" dirty="0" err="1">
                <a:solidFill>
                  <a:schemeClr val="bg1"/>
                </a:solidFill>
              </a:rPr>
              <a:t>Digunakan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untuk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elemen</a:t>
            </a:r>
            <a:r>
              <a:rPr lang="en-ID" dirty="0">
                <a:solidFill>
                  <a:schemeClr val="bg1"/>
                </a:solidFill>
              </a:rPr>
              <a:t> yang paling </a:t>
            </a:r>
            <a:r>
              <a:rPr lang="en-ID" dirty="0" err="1">
                <a:solidFill>
                  <a:schemeClr val="bg1"/>
                </a:solidFill>
              </a:rPr>
              <a:t>penting</a:t>
            </a:r>
            <a:r>
              <a:rPr lang="en-ID" dirty="0">
                <a:solidFill>
                  <a:schemeClr val="bg1"/>
                </a:solidFill>
              </a:rPr>
              <a:t> dan paling </a:t>
            </a:r>
            <a:r>
              <a:rPr lang="en-ID" dirty="0" err="1">
                <a:solidFill>
                  <a:schemeClr val="bg1"/>
                </a:solidFill>
              </a:rPr>
              <a:t>sering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diinteraksi</a:t>
            </a:r>
            <a:r>
              <a:rPr lang="en-ID" dirty="0">
                <a:solidFill>
                  <a:schemeClr val="bg1"/>
                </a:solidFill>
              </a:rPr>
              <a:t> oleh </a:t>
            </a:r>
            <a:r>
              <a:rPr lang="en-ID" dirty="0" err="1">
                <a:solidFill>
                  <a:schemeClr val="bg1"/>
                </a:solidFill>
              </a:rPr>
              <a:t>pengguna</a:t>
            </a:r>
            <a:r>
              <a:rPr lang="en-ID" dirty="0">
                <a:solidFill>
                  <a:schemeClr val="bg1"/>
                </a:solidFill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dirty="0">
              <a:solidFill>
                <a:schemeClr val="bg1"/>
              </a:solidFill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</a:rPr>
              <a:t>Secondary (</a:t>
            </a:r>
            <a:r>
              <a:rPr lang="en-ID" b="1" dirty="0" err="1">
                <a:solidFill>
                  <a:schemeClr val="bg1"/>
                </a:solidFill>
              </a:rPr>
              <a:t>Pendukung</a:t>
            </a:r>
            <a:r>
              <a:rPr lang="en-ID" b="1" dirty="0">
                <a:solidFill>
                  <a:schemeClr val="bg1"/>
                </a:solidFill>
              </a:rPr>
              <a:t> &amp; </a:t>
            </a:r>
            <a:r>
              <a:rPr lang="en-ID" b="1" dirty="0" err="1">
                <a:solidFill>
                  <a:schemeClr val="bg1"/>
                </a:solidFill>
              </a:rPr>
              <a:t>Alternatif</a:t>
            </a:r>
            <a:r>
              <a:rPr lang="en-ID" b="1" dirty="0">
                <a:solidFill>
                  <a:schemeClr val="bg1"/>
                </a:solidFill>
              </a:rPr>
              <a:t>): </a:t>
            </a:r>
            <a:r>
              <a:rPr lang="en-ID" dirty="0" err="1">
                <a:solidFill>
                  <a:schemeClr val="bg1"/>
                </a:solidFill>
              </a:rPr>
              <a:t>Elemen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pelengkap</a:t>
            </a:r>
            <a:r>
              <a:rPr lang="en-ID" dirty="0">
                <a:solidFill>
                  <a:schemeClr val="bg1"/>
                </a:solidFill>
              </a:rPr>
              <a:t>. </a:t>
            </a:r>
            <a:r>
              <a:rPr lang="en-ID" dirty="0" err="1">
                <a:solidFill>
                  <a:schemeClr val="bg1"/>
                </a:solidFill>
              </a:rPr>
              <a:t>Menyoroti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fitur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fungsional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dengan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tingkat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kepentingan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kedua</a:t>
            </a:r>
            <a:r>
              <a:rPr lang="en-ID" dirty="0">
                <a:solidFill>
                  <a:schemeClr val="bg1"/>
                </a:solidFill>
              </a:rPr>
              <a:t> agar </a:t>
            </a:r>
            <a:r>
              <a:rPr lang="en-ID" dirty="0" err="1">
                <a:solidFill>
                  <a:schemeClr val="bg1"/>
                </a:solidFill>
              </a:rPr>
              <a:t>tidak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merebut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fokus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dari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warna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>
                <a:solidFill>
                  <a:schemeClr val="bg1"/>
                </a:solidFill>
                <a:latin typeface="+mn-lt"/>
              </a:rPr>
              <a:t>Primary</a:t>
            </a:r>
            <a:r>
              <a:rPr lang="en-ID" dirty="0">
                <a:solidFill>
                  <a:schemeClr val="bg1"/>
                </a:solidFill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dirty="0">
              <a:solidFill>
                <a:schemeClr val="bg1"/>
              </a:solidFill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</a:rPr>
              <a:t>Tertiary (</a:t>
            </a:r>
            <a:r>
              <a:rPr lang="en-ID" b="1" dirty="0" err="1">
                <a:solidFill>
                  <a:schemeClr val="bg1"/>
                </a:solidFill>
              </a:rPr>
              <a:t>Aksen</a:t>
            </a:r>
            <a:r>
              <a:rPr lang="en-ID" b="1" dirty="0">
                <a:solidFill>
                  <a:schemeClr val="bg1"/>
                </a:solidFill>
              </a:rPr>
              <a:t> Kontras): </a:t>
            </a:r>
            <a:r>
              <a:rPr lang="en-ID" dirty="0" err="1">
                <a:solidFill>
                  <a:schemeClr val="bg1"/>
                </a:solidFill>
              </a:rPr>
              <a:t>Pemanis</a:t>
            </a:r>
            <a:r>
              <a:rPr lang="en-ID" dirty="0">
                <a:solidFill>
                  <a:schemeClr val="bg1"/>
                </a:solidFill>
              </a:rPr>
              <a:t> visual dan </a:t>
            </a:r>
            <a:r>
              <a:rPr lang="en-ID" dirty="0" err="1">
                <a:solidFill>
                  <a:schemeClr val="bg1"/>
                </a:solidFill>
              </a:rPr>
              <a:t>penarik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perhatian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khusus</a:t>
            </a:r>
            <a:r>
              <a:rPr lang="en-ID" dirty="0">
                <a:solidFill>
                  <a:schemeClr val="bg1"/>
                </a:solidFill>
              </a:rPr>
              <a:t>. </a:t>
            </a:r>
            <a:r>
              <a:rPr lang="en-ID" dirty="0" err="1">
                <a:solidFill>
                  <a:schemeClr val="bg1"/>
                </a:solidFill>
              </a:rPr>
              <a:t>Biasanya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menggunakan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warna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cukup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kontras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dari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palet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utama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untuk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memberikan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penekanan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makna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berbeda</a:t>
            </a:r>
            <a:r>
              <a:rPr lang="en-ID" dirty="0">
                <a:solidFill>
                  <a:schemeClr val="bg1"/>
                </a:solidFill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dirty="0">
              <a:solidFill>
                <a:schemeClr val="bg1"/>
              </a:solidFill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</a:rPr>
              <a:t>Surface (</a:t>
            </a:r>
            <a:r>
              <a:rPr lang="en-ID" b="1" dirty="0" err="1">
                <a:solidFill>
                  <a:schemeClr val="bg1"/>
                </a:solidFill>
              </a:rPr>
              <a:t>Permukaan</a:t>
            </a:r>
            <a:r>
              <a:rPr lang="en-ID" b="1" dirty="0">
                <a:solidFill>
                  <a:schemeClr val="bg1"/>
                </a:solidFill>
              </a:rPr>
              <a:t> Wadah): </a:t>
            </a:r>
            <a:r>
              <a:rPr lang="en-ID" dirty="0" err="1">
                <a:solidFill>
                  <a:schemeClr val="bg1"/>
                </a:solidFill>
              </a:rPr>
              <a:t>Berfungsi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sebagai</a:t>
            </a:r>
            <a:r>
              <a:rPr lang="en-ID" dirty="0">
                <a:solidFill>
                  <a:schemeClr val="bg1"/>
                </a:solidFill>
              </a:rPr>
              <a:t> "alas" </a:t>
            </a:r>
            <a:r>
              <a:rPr lang="en-ID" dirty="0" err="1">
                <a:solidFill>
                  <a:schemeClr val="bg1"/>
                </a:solidFill>
              </a:rPr>
              <a:t>atau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kanvas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penampung</a:t>
            </a:r>
            <a:r>
              <a:rPr lang="en-ID" dirty="0">
                <a:solidFill>
                  <a:schemeClr val="bg1"/>
                </a:solidFill>
              </a:rPr>
              <a:t>. </a:t>
            </a:r>
            <a:r>
              <a:rPr lang="en-ID" dirty="0" err="1">
                <a:solidFill>
                  <a:schemeClr val="bg1"/>
                </a:solidFill>
              </a:rPr>
              <a:t>Elemen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ini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memisahkan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komponen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tertentu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dari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latar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belakang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utama</a:t>
            </a:r>
            <a:r>
              <a:rPr lang="en-ID" dirty="0">
                <a:solidFill>
                  <a:schemeClr val="bg1"/>
                </a:solidFill>
              </a:rPr>
              <a:t> (</a:t>
            </a:r>
            <a:r>
              <a:rPr lang="en-ID" i="1" dirty="0">
                <a:solidFill>
                  <a:schemeClr val="bg1"/>
                </a:solidFill>
              </a:rPr>
              <a:t>Background</a:t>
            </a:r>
            <a:r>
              <a:rPr lang="en-ID" dirty="0">
                <a:solidFill>
                  <a:schemeClr val="bg1"/>
                </a:solidFill>
              </a:rPr>
              <a:t>) agar </a:t>
            </a:r>
            <a:r>
              <a:rPr lang="en-ID" dirty="0" err="1">
                <a:solidFill>
                  <a:schemeClr val="bg1"/>
                </a:solidFill>
              </a:rPr>
              <a:t>tampak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lebih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menonjol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atau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mengambang</a:t>
            </a:r>
            <a:r>
              <a:rPr lang="en-ID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497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7A58E-192C-9DBA-D427-A4D9CDD6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E3908-53F3-C9F3-BBE7-7B7553C5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94" y="1597564"/>
            <a:ext cx="8917106" cy="48638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3C6CF134-D6B8-F41E-F363-34EC8A137D7C}"/>
              </a:ext>
            </a:extLst>
          </p:cNvPr>
          <p:cNvSpPr/>
          <p:nvPr/>
        </p:nvSpPr>
        <p:spPr>
          <a:xfrm>
            <a:off x="661475" y="68064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Role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3437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FA301-3B4E-2795-0AC9-EE8FF7F2F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9C5BF4E8-2D23-2DE0-3043-295CCFF9C5A3}"/>
              </a:ext>
            </a:extLst>
          </p:cNvPr>
          <p:cNvSpPr/>
          <p:nvPr/>
        </p:nvSpPr>
        <p:spPr>
          <a:xfrm>
            <a:off x="661475" y="68064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Role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95BD43-AD94-9D4F-995F-F3280E247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69" y="1263033"/>
            <a:ext cx="7043382" cy="49143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9509B6-3E25-D5D2-E21A-96782B45C6A6}"/>
              </a:ext>
            </a:extLst>
          </p:cNvPr>
          <p:cNvSpPr txBox="1"/>
          <p:nvPr/>
        </p:nvSpPr>
        <p:spPr>
          <a:xfrm>
            <a:off x="3045573" y="6488668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hlinkClick r:id="rId3"/>
              </a:rPr>
              <a:t>https://m3.material.io/styles/color/roles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259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68064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Scheme M3 &amp; Dynamic Color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00758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Peran Warna Semantik M3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99109"/>
          <a:ext cx="5841557" cy="1850582"/>
        </p:xfrm>
        <a:graphic>
          <a:graphicData uri="http://schemas.openxmlformats.org/drawingml/2006/table">
            <a:tbl>
              <a:tblPr/>
              <a:tblGrid>
                <a:gridCol w="1752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8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Peran Warna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Digunakan Pada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Contoh Hex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primary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Button Filled, FAB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#6750A4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81C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secondary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Chip, Toggle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#625B71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background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Latar Layar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#FFFBFE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surface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Card, Dialog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#FFFBFE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TextField error, Snackbar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#B3261E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1475" y="3567013"/>
            <a:ext cx="6451141" cy="145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Setiap peran memiliki pasangan </a:t>
            </a:r>
            <a:r>
              <a:rPr lang="en-US" sz="7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on-</a:t>
            </a: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(misal: </a:t>
            </a:r>
            <a:r>
              <a:rPr lang="en-US" sz="7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onPrimary</a:t>
            </a: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untuk warna teks di atasnya.</a:t>
            </a:r>
            <a:endParaRPr lang="en-US" sz="750" dirty="0"/>
          </a:p>
        </p:txBody>
      </p:sp>
      <p:sp>
        <p:nvSpPr>
          <p:cNvPr id="6" name="Text 5"/>
          <p:cNvSpPr/>
          <p:nvPr/>
        </p:nvSpPr>
        <p:spPr>
          <a:xfrm>
            <a:off x="6811991" y="1300758"/>
            <a:ext cx="472448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Color — Implementasi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11991" y="1599109"/>
            <a:ext cx="4724480" cy="4018359"/>
          </a:xfrm>
          <a:prstGeom prst="roundRect">
            <a:avLst>
              <a:gd name="adj" fmla="val 1297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60815" y="1723132"/>
            <a:ext cx="4426831" cy="377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MyAppTheme(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darkTheme: Boolean = isSystemInDarkTheme(),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@Composable () -&gt; Unit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 context = LocalContext.current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 colorScheme = when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Build.VERSION.SDK_INT &gt;= 31 &amp;&amp; darkTheme -&gt;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dynamicDarkColorScheme(context)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Build.VERSION.SDK_INT &gt;= 31 -&gt;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dynamicLightColorScheme(context)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darkTheme -&gt; DarkColorScheme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-&gt; LightColorScheme // fallback statis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MaterialTheme(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colorScheme = colorScheme,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content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11991" y="5722045"/>
            <a:ext cx="4724480" cy="576461"/>
          </a:xfrm>
          <a:prstGeom prst="roundRect">
            <a:avLst>
              <a:gd name="adj" fmla="val 9038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011" y="5858073"/>
            <a:ext cx="154976" cy="1240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15007" y="5836642"/>
            <a:ext cx="4197443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Tool Resmi:</a:t>
            </a:r>
            <a:r>
              <a:rPr lang="en-US" sz="9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Material Theme Builder di </a:t>
            </a: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m3.material.io</a:t>
            </a:r>
            <a:r>
              <a:rPr lang="en-US" sz="9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generate Color.kt &amp; Theme.kt otomatis dari brand color Anda.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E8462E4A-2EBA-E31D-3E81-3D181A58E2C7}"/>
              </a:ext>
            </a:extLst>
          </p:cNvPr>
          <p:cNvSpPr/>
          <p:nvPr/>
        </p:nvSpPr>
        <p:spPr>
          <a:xfrm>
            <a:off x="661475" y="13728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Typography</a:t>
            </a:r>
            <a:endParaRPr lang="en-US" sz="32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F32302-1CD2-142E-92C7-7977D8B37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108" y="2131205"/>
            <a:ext cx="5891784" cy="42100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19E1C7-896F-39C0-FE3B-30822E001A83}"/>
              </a:ext>
            </a:extLst>
          </p:cNvPr>
          <p:cNvSpPr txBox="1"/>
          <p:nvPr/>
        </p:nvSpPr>
        <p:spPr>
          <a:xfrm>
            <a:off x="3048000" y="6398186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https://m3.material.io/styles/typography/fonts</a:t>
            </a:r>
          </a:p>
        </p:txBody>
      </p:sp>
    </p:spTree>
    <p:extLst>
      <p:ext uri="{BB962C8B-B14F-4D97-AF65-F5344CB8AC3E}">
        <p14:creationId xmlns:p14="http://schemas.microsoft.com/office/powerpoint/2010/main" val="2037009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6533"/>
            <a:ext cx="1198533" cy="168870"/>
          </a:xfrm>
          <a:prstGeom prst="roundRect">
            <a:avLst>
              <a:gd name="adj" fmla="val 22110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8148" y="549870"/>
            <a:ext cx="1674771" cy="10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BAGIAN 2 — SISTEM TEMA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15268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 Typography M3 — 5 Skala Hierarki</a:t>
            </a:r>
            <a:endParaRPr lang="en-US" sz="2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174452"/>
          <a:ext cx="10868746" cy="1536664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9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Skala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Ukuran Tipikal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Penggunaan Umum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Display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57sp / 45sp / 36sp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Hero text, splash screen — teks terbesar dan paling menonjol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Headline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32sp / 28sp / 24sp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Judul halaman utama, section penting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Title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22sp / 16sp / 14sp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Judul card, section header, dialog title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Body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16sp / 14sp / 12sp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Konten paragraf, deskripsi, teks panjang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9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Label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14sp / 12sp / 11sp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Tombol, caption, chip, navigation item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2882404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 Memanggil di Compose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3139976"/>
            <a:ext cx="5298843" cy="2889250"/>
          </a:xfrm>
          <a:prstGeom prst="roundRect">
            <a:avLst>
              <a:gd name="adj" fmla="val 1615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4822" y="3251101"/>
            <a:ext cx="50321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Judul halaman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 = "Selamat Datang",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 = MaterialTheme.typography.headlineMedium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Konten paragraf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 = "Isi konten di sini...",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 = MaterialTheme.typography.bodyLarge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Label tombol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 = "Login",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 = MaterialTheme.typography.labelLarge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5" name="Text 6"/>
          <p:cNvSpPr/>
          <p:nvPr/>
        </p:nvSpPr>
        <p:spPr>
          <a:xfrm>
            <a:off x="6237727" y="2882404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Kustomisasi Typography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37727" y="3139976"/>
            <a:ext cx="5298843" cy="2533650"/>
          </a:xfrm>
          <a:prstGeom prst="roundRect">
            <a:avLst>
              <a:gd name="adj" fmla="val 184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71073" y="3251101"/>
            <a:ext cx="503215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MyTypography = Typography(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bodyLarge = TextStyle(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fontFamily = MyFont,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fontWeight = FontWeight.Normal,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fontSize = 16.sp,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lineHeight = 24.sp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headlineMedium = TextStyle(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fontFamily = MyFont,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fontWeight = FontWeight.Bold,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fontSize = 28.sp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37727" y="5757565"/>
            <a:ext cx="5298843" cy="499864"/>
          </a:xfrm>
          <a:prstGeom prst="roundRect">
            <a:avLst>
              <a:gd name="adj" fmla="val 9337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849" y="5870674"/>
            <a:ext cx="138903" cy="111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98874" y="5852517"/>
            <a:ext cx="4826574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Prinsip Penting:</a:t>
            </a:r>
            <a:r>
              <a:rPr lang="en-US" sz="8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Jangan gunakan </a:t>
            </a:r>
            <a:r>
              <a:rPr lang="en-US" sz="850" dirty="0">
                <a:solidFill>
                  <a:srgbClr val="FFFFFF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fontSize = 18.sp</a:t>
            </a:r>
            <a:r>
              <a:rPr lang="en-US" sz="8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secara hardcoded. Selalu referensikan dari </a:t>
            </a:r>
            <a:r>
              <a:rPr lang="en-US" sz="850" dirty="0">
                <a:solidFill>
                  <a:srgbClr val="FFFFFF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MaterialTheme.typography</a:t>
            </a:r>
            <a:r>
              <a:rPr lang="en-US" sz="8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agar konsisten dan mudah di-maintain.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13728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Typography dalam Praktik — Visual Scale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13766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Setiap token typography M3 memiliki tiga ukuran: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Large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Medium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dan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Small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Gunakan ukuran yang tepat sesuai konteks hierarki visual layar.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2569270"/>
            <a:ext cx="3504120" cy="20092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4868" y="2588320"/>
            <a:ext cx="328167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displayLarge → displayMedium → displaySmall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4868" y="3204468"/>
            <a:ext cx="328167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Digunakan untuk elemen hero yang sangat besar. Jarang digunakan dalam form biasa, lebih cocok untuk splash screen atau onboarding.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4163" y="2569270"/>
            <a:ext cx="3504219" cy="20092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56606" y="2588320"/>
            <a:ext cx="328177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headlineLarge → headlineMedium → headlineSmall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56606" y="3462933"/>
            <a:ext cx="3281776" cy="1096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Judul layar utama. Contoh: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Text("Login", style = MaterialTheme.typography.headlineSmall)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cocok untuk judul form.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6001" y="2569270"/>
            <a:ext cx="3504219" cy="200927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48444" y="2588320"/>
            <a:ext cx="328177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titleLarge → titleMedium → titleSmall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48444" y="3204468"/>
            <a:ext cx="328177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Judul card atau section. Lebih kecil dari Headline, lebih besar dari Body. Digunakan di dalam komponen seperti Card atau ListItem.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4871145"/>
            <a:ext cx="5350039" cy="9504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4868" y="4890195"/>
            <a:ext cx="51275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bodyLarge → bodyMedium → bodySmall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64868" y="5247878"/>
            <a:ext cx="5127596" cy="554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Teks paragraf dan deskripsi.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bodyLarge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adalah ukuran default untuk konten bacaan.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bodySmall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untuk teks pendukung kecil.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0082" y="4871145"/>
            <a:ext cx="5350138" cy="9504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2525" y="4890195"/>
            <a:ext cx="51276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labelLarge → labelMedium → labelSmall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402525" y="5247878"/>
            <a:ext cx="5127695" cy="554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Teks pada tombol, chip, tab, dan caption.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labelLarge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digunakan secara default pada komponen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M3.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91" y="1534914"/>
            <a:ext cx="132255" cy="13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792883"/>
            <a:ext cx="10868745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Komponen</a:t>
            </a:r>
            <a:endParaRPr lang="en-US" sz="445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Interaktif M3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356682" y="346729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Button Variants, TextField Input Handling, dan Card Components — beserta kode Kotlin/Jetpack Compose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95922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05585"/>
            <a:ext cx="413434" cy="413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1577" y="4205585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Button Variants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81577" y="4563269"/>
            <a:ext cx="286496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Filled, Elevated, Outlined, Text — dipilih berdasarkan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Hierarchy of Action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dalam satu layar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3213" y="4205585"/>
            <a:ext cx="413434" cy="4134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73315" y="4205585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TextField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973315" y="4563269"/>
            <a:ext cx="2865068" cy="819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Filled vs Outlined, state management dengan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validasi dengan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isError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+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supportingText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4205585"/>
            <a:ext cx="413434" cy="4134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65152" y="4205585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 Components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665152" y="4563269"/>
            <a:ext cx="286506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Filled, ElevatedCard, OutlinedCard — kontainer fleksibel untuk form, konten, dan daftar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800199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Button Variants M3 — Jenis &amp; Kapan Digunakan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72679"/>
          <a:ext cx="10868745" cy="1350035"/>
        </p:xfrm>
        <a:graphic>
          <a:graphicData uri="http://schemas.openxmlformats.org/drawingml/2006/table">
            <a:tbl>
              <a:tblPr/>
              <a:tblGrid>
                <a:gridCol w="2391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Jenis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Tampilan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Prioritas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Contoh Penggunaan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Button (Filled)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Background solid primary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Tinggi — aksi utama</a:t>
                      </a:r>
                      <a:endParaRPr lang="en-US" sz="8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Submit, Login, Simpan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ElevatedButton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Background surface + shadow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Sedang — aksi alternatif</a:t>
                      </a:r>
                      <a:endParaRPr lang="en-US" sz="8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Batal dengan penekanan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OutlinedButton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Border, background transparan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Sedang — aksi sekunder</a:t>
                      </a:r>
                      <a:endParaRPr lang="en-US" sz="8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Kembali, Batal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3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TextButton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Teks saja, tanpa border/bg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Rendah — aksi tersier</a:t>
                      </a:r>
                      <a:endParaRPr lang="en-US" sz="8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Lihat Detail, Lewati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2723356"/>
            <a:ext cx="10868745" cy="358676"/>
          </a:xfrm>
          <a:prstGeom prst="roundRect">
            <a:avLst>
              <a:gd name="adj" fmla="val 13315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77" y="2831902"/>
            <a:ext cx="142078" cy="113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0956" y="2829818"/>
            <a:ext cx="1099514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Aturan Hierarchy of Action:</a:t>
            </a:r>
            <a:r>
              <a:rPr lang="en-US" sz="8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Dalam satu layar, maksimal </a:t>
            </a: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 Filled Button</a:t>
            </a:r>
            <a:r>
              <a:rPr lang="en-US" sz="8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(aksi primer). Jangan gunakan 2 Filled Button berdampingan — ini membingungkan pengguna karena tidak ada hierarki visual yang jelas.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61475" y="3199209"/>
            <a:ext cx="1086874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Implementasi Kode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61475" y="3581995"/>
            <a:ext cx="5295668" cy="2409825"/>
          </a:xfrm>
          <a:prstGeom prst="roundRect">
            <a:avLst>
              <a:gd name="adj" fmla="val 198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97897" y="3695700"/>
            <a:ext cx="5022824" cy="218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Aksi Utama (Primer)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Button(onClick = { /* aksi login */ })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Text("Login")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Aksi Sekunder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OutlinedButton(onClick = { /* kembali */ })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Text("Batal")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Aksi Tersier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TextButton(onClick = { /* lewati */ })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Text("Lewati")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Shape 8"/>
          <p:cNvSpPr/>
          <p:nvPr/>
        </p:nvSpPr>
        <p:spPr>
          <a:xfrm>
            <a:off x="6240902" y="3581995"/>
            <a:ext cx="5295668" cy="2591693"/>
          </a:xfrm>
          <a:prstGeom prst="roundRect">
            <a:avLst>
              <a:gd name="adj" fmla="val 1843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377324" y="3695700"/>
            <a:ext cx="5022824" cy="236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Disabled State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enabled = false,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onClick = {}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Text("Kirim")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Elevated Button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ElevatedButton(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onClick = { /* aksi alternatif */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Text("Opsi Lain")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649883"/>
            <a:ext cx="10868745" cy="33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TextField Input Handling — Filled vs Outlined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475" y="1166912"/>
            <a:ext cx="4745316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Perbandingan Dua Varian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1475" y="1416447"/>
            <a:ext cx="2337039" cy="901502"/>
          </a:xfrm>
          <a:prstGeom prst="roundRect">
            <a:avLst>
              <a:gd name="adj" fmla="val 505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6268" y="1531243"/>
            <a:ext cx="2107453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TextField (Filled)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6268" y="1771848"/>
            <a:ext cx="2107453" cy="431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Background abu-abu dengan garis bawah. Cocok untuk form dalam Card atau surface berwarna.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69652" y="1416447"/>
            <a:ext cx="2337138" cy="901502"/>
          </a:xfrm>
          <a:prstGeom prst="roundRect">
            <a:avLst>
              <a:gd name="adj" fmla="val 505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84445" y="1531243"/>
            <a:ext cx="2107552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OutlinedTextField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84445" y="1771848"/>
            <a:ext cx="2107552" cy="431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Border penuh di sekeliling. Lebih jelas batasnya, cocok untuk form di background putih/terang.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1475" y="2398018"/>
            <a:ext cx="4745316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Parameter Penting</a:t>
            </a:r>
            <a:endParaRPr lang="en-US" sz="10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75" y="2634853"/>
            <a:ext cx="4758015" cy="40977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5318" y="2647553"/>
            <a:ext cx="4611473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</a:t>
            </a: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onValueChange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5318" y="2888159"/>
            <a:ext cx="4611473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input terkini dan callback saat teks berubah — wajib untuk stateful input</a:t>
            </a:r>
            <a:endParaRPr lang="en-US" sz="8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3161605"/>
            <a:ext cx="4758015" cy="55989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95318" y="3174305"/>
            <a:ext cx="4611473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vs </a:t>
            </a: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95318" y="3414911"/>
            <a:ext cx="4611473" cy="293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mengambang di atas field saat aktif; </a:t>
            </a:r>
            <a:r>
              <a:rPr lang="en-US" sz="8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muncul hanya saat field kosong dan tidak aktif</a:t>
            </a:r>
            <a:endParaRPr lang="en-US" sz="8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775" y="3838476"/>
            <a:ext cx="4758015" cy="5535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5318" y="3851176"/>
            <a:ext cx="4611473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isError</a:t>
            </a: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</a:t>
            </a: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supportingText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95318" y="4091781"/>
            <a:ext cx="461147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Mengubah warna border &amp; label menjadi merah; teks kecil di bawah field untuk pesan error atau hint</a:t>
            </a:r>
            <a:endParaRPr lang="en-US" sz="8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75" y="4508996"/>
            <a:ext cx="4758015" cy="4097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5318" y="4521696"/>
            <a:ext cx="4611473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leadingIcon</a:t>
            </a: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</a:t>
            </a: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trailingIcon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95318" y="4762302"/>
            <a:ext cx="4611473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Ikon di kiri (email) dan kanan (toggle password visibility)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5677849" y="1166912"/>
            <a:ext cx="5858621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Contoh Kode Lengkap — OutlinedTextField dengan Validasi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677849" y="1416447"/>
            <a:ext cx="5858621" cy="4904978"/>
          </a:xfrm>
          <a:prstGeom prst="roundRect">
            <a:avLst>
              <a:gd name="adj" fmla="val 929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808021" y="1524893"/>
            <a:ext cx="5598278" cy="4688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email by remember { mutableStateOf("")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isEmailError by remember { mutableStateOf(false)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OutlinedTextField(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 = email,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onValueChange =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= it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isEmailError = !it.contains("@")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= { Text("Email") },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placeholder = { Text("contoh@email.com") },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leadingIcon =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Icon(Icons.Default.Email, "email icon")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isError = isEmailError,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supportingText =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(isEmailError)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Text("Format email tidak valid")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keyboardOptions = KeyboardOptions(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keyboardType = KeyboardType.Email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keyboardActions = KeyboardActions(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onDone = { focusManager.clearFocus()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),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Modifier.fillMaxWidth()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705842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 Components M3 — Filled, Outlined, Elevated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61475" y="1190327"/>
            <a:ext cx="586427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Tiga Jenis Card M3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24384"/>
          <a:ext cx="5864277" cy="1051097"/>
        </p:xfrm>
        <a:graphic>
          <a:graphicData uri="http://schemas.openxmlformats.org/drawingml/2006/table">
            <a:tbl>
              <a:tblPr/>
              <a:tblGrid>
                <a:gridCol w="1759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6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Jenis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Visual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Konteks Terbaik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Card (Filled)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BG surfaceVariant, no border, no shadow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Konten informatif, feed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7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ElevatedCard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BG surface + shadow (elevation)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Konten yang perlu menonjol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6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OutlinedCard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BG surface + border tipis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Daftar item, form input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1475" y="2560836"/>
            <a:ext cx="586427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Properti Penting Card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1475" y="2923580"/>
            <a:ext cx="586427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1475" y="3149600"/>
            <a:ext cx="5864277" cy="140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Default: </a:t>
            </a:r>
            <a:r>
              <a:rPr lang="en-US" sz="8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RoundedCornerShape(12.dp)</a:t>
            </a: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bisa di-override per card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61475" y="3548162"/>
            <a:ext cx="586427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colors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1475" y="3774182"/>
            <a:ext cx="5864277" cy="140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CardDefaults.cardColors(containerColor = MaterialTheme.colorScheme.surfaceVariant)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61475" y="4172744"/>
            <a:ext cx="586427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elevation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1475" y="4398764"/>
            <a:ext cx="5864277" cy="140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CardDefaults.cardElevation(defaultElevation = 4.dp)</a:t>
            </a:r>
            <a:endParaRPr lang="en-US" sz="800" dirty="0"/>
          </a:p>
        </p:txBody>
      </p:sp>
      <p:sp>
        <p:nvSpPr>
          <p:cNvPr id="6" name="Text 11"/>
          <p:cNvSpPr/>
          <p:nvPr/>
        </p:nvSpPr>
        <p:spPr>
          <a:xfrm>
            <a:off x="661475" y="4797326"/>
            <a:ext cx="586427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1475" y="5023346"/>
            <a:ext cx="5864277" cy="140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Untuk ukuran, padding, dan interaksi klik: </a:t>
            </a:r>
            <a:r>
              <a:rPr lang="en-US" sz="8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.clickable {}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84309" y="1190327"/>
            <a:ext cx="4752162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 dalam Card — Pola Umum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84309" y="1424384"/>
            <a:ext cx="4752162" cy="4837708"/>
          </a:xfrm>
          <a:prstGeom prst="roundRect">
            <a:avLst>
              <a:gd name="adj" fmla="val 914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08330" y="1527671"/>
            <a:ext cx="4504121" cy="4631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OutlinedCard(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.fillMaxWidth()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.padding(16.dp),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shape = RoundedCornerShape(12.dp),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elevation = CardDefaults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.cardElevation(defaultElevation = 2.dp)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Column(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Modifier.padding(16.dp),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verticalArrangement =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Arrangement.spacedBy(12.dp)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"Judul Form",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style = MaterialTheme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.typography.headlineSmall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OutlinedTextField(...)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OutlinedTextField(...)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Button(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Modifier.fillMaxWidth(),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onClick = { /* submit */ }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Text("Kirim")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48775" y="2794893"/>
            <a:ext cx="5889676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8775" y="3419475"/>
            <a:ext cx="5889676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8775" y="4044057"/>
            <a:ext cx="5889676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48775" y="4668639"/>
            <a:ext cx="5889676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699078" cy="125710"/>
          </a:xfrm>
          <a:prstGeom prst="roundRect">
            <a:avLst>
              <a:gd name="adj" fmla="val 22103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3" y="484584"/>
            <a:ext cx="66078" cy="6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0200" y="479623"/>
            <a:ext cx="1110329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BAGIAN 4 DARI 4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661475" y="596999"/>
            <a:ext cx="10868745" cy="713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 Kasus</a:t>
            </a:r>
            <a:endParaRPr lang="en-US" sz="22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Integrasi M3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56682" y="1372394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Menggabungkan MaterialTheme, OutlinedCard, OutlinedTextField, dan Button menjadi satu form login fungsional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661475" y="1538585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618357"/>
            <a:ext cx="10868745" cy="49741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22865" y="2308907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OutlinedCard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622865" y="2694935"/>
            <a:ext cx="2650038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Kontainer untuk field dan tombol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50578" y="3943850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Scaffold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918521" y="4329878"/>
            <a:ext cx="2436325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Kerangka layout utama dan padding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622865" y="4788036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MaterialTheme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8622865" y="5174065"/>
            <a:ext cx="2650038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Membungkus seluruh UI dan gaya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 Kasus: Form Login Fungsional dengan M3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958751"/>
            <a:ext cx="478004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yang Dibutuhkan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61475" y="1134368"/>
            <a:ext cx="4780041" cy="1354733"/>
          </a:xfrm>
          <a:prstGeom prst="roundRect">
            <a:avLst>
              <a:gd name="adj" fmla="val 2564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0691" y="1217017"/>
            <a:ext cx="4581609" cy="1189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email by remember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mutableStateOf("")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password by remember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mutableStateOf("")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isEmailError by remember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mutableStateOf(false)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61475" y="2535535"/>
            <a:ext cx="478004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Struktur Komponen — Dari Luar ke Dalam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1475" y="2711152"/>
            <a:ext cx="186031" cy="186035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2430" y="2726630"/>
            <a:ext cx="124020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88779" y="2739529"/>
            <a:ext cx="455273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MaterialTheme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88779" y="2909987"/>
            <a:ext cx="455273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Wrapper tema — colorScheme, typography, shapes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61475" y="3091755"/>
            <a:ext cx="186031" cy="186035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2430" y="3107234"/>
            <a:ext cx="124020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8779" y="3120132"/>
            <a:ext cx="455273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Scaffold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88779" y="3290590"/>
            <a:ext cx="455273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Layout dasar layar dengan topBar opsional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61475" y="3472359"/>
            <a:ext cx="186031" cy="186035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2430" y="3487837"/>
            <a:ext cx="124020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8779" y="3500735"/>
            <a:ext cx="455273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 (CenterHorizontally)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88779" y="3671193"/>
            <a:ext cx="455273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Centering form di tengah layar secara horizontal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61475" y="3852962"/>
            <a:ext cx="186031" cy="186035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2430" y="3868440"/>
            <a:ext cx="124020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8779" y="3881338"/>
            <a:ext cx="455273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OutlinedCard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88779" y="4051796"/>
            <a:ext cx="455273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Modifier.fillMaxWidth().padding(16.dp)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61475" y="4233565"/>
            <a:ext cx="186031" cy="186035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2430" y="4249043"/>
            <a:ext cx="124020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8779" y="4261941"/>
            <a:ext cx="455273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 (spacedBy 12.dp)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8779" y="4432399"/>
            <a:ext cx="455273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Jarak konsisten antar elemen form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649474" y="958751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Kode Lengkap — Form Login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49474" y="1134368"/>
            <a:ext cx="5886997" cy="9284295"/>
          </a:xfrm>
          <a:prstGeom prst="roundRect">
            <a:avLst>
              <a:gd name="adj" fmla="val 590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48690" y="1217017"/>
            <a:ext cx="5688565" cy="9118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LoginScreen()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 email by remember { mutableStateOf("")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 password by remember { mutableStateOf("")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 isEmailError by remember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mutableStateOf(false)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MaterialTheme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Scaffold { padding -&gt;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.fillMaxSize()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.padding(padding),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horizontalAlignment =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Alignment.CenterHorizontally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OutlinedCard(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.fillMaxWidth()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.padding(16.dp)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Modifier.padding(16.dp),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verticalArrangement =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Arrangement.spacedBy(12.dp)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Text("Login", style =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MaterialTheme.typography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.headlineSmall)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OutlinedTextField(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 = email,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onValueChange =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= it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isEmailError =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!it.contains("@")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= { Text("Email") },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isError = isEmailError,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supportingText =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(isEmailError)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Text("Email tidak valid")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Modifier.fillMaxWidth()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OutlinedTextField(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 = password,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onValueChange = { password = it },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= { Text("Password") },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visualTransformation =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PasswordVisualTransformation(),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Modifier.fillMaxWidth()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Button(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Modifier.fillMaxWidth(),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onClick =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isEmailError =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!email.contains("@")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 Text("Login")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TextButton(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modifier = Modifier.fillMaxWidth(),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onClick = { /* navigasi daftar */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 Text("Belum punya akun? Daftar")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744835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 Studi Kasus — Keputusan Desain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61475" y="1347291"/>
            <a:ext cx="5286243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</a:t>
            </a:r>
            <a:r>
              <a:rPr lang="en-US" sz="11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Arrangement.spacedBy()</a:t>
            </a: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43658"/>
            <a:ext cx="2598474" cy="14171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6414" y="1777802"/>
            <a:ext cx="227939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spacedBy(12.dp) — Disarankan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6414" y="2252762"/>
            <a:ext cx="2279395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Jarak diterapkan </a:t>
            </a: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satu kali di Column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otomatis berlaku untuk semua elemen anak. Mudah diubah global, konsisten, dan kode lebih bersih.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144" y="1643658"/>
            <a:ext cx="2598573" cy="1417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34083" y="1777802"/>
            <a:ext cx="22794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Modifier.padding() per elemen — Tidak Disarankan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534083" y="2252762"/>
            <a:ext cx="22794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Harus ditulis ulang di setiap elemen. Rawan inkonsistensi, sulit di-maintain jika ada perubahan spacing global.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61475" y="3161109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Validasi Email — Logika Sederhana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3451126"/>
            <a:ext cx="5286243" cy="2574131"/>
          </a:xfrm>
          <a:prstGeom prst="roundRect">
            <a:avLst>
              <a:gd name="adj" fmla="val 198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07224" y="3572570"/>
            <a:ext cx="4994745" cy="2331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Validasi saat onValueChange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onValueChange = { newValue -&gt;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= newValue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isEmailError = !newValue.contains("@")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Validasi ulang saat tombol diklik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 =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isEmailError = !email.contains("@")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(!isEmailError)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Proses login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250327" y="1347291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 Transformation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0327" y="1637308"/>
            <a:ext cx="5286243" cy="2185591"/>
          </a:xfrm>
          <a:prstGeom prst="roundRect">
            <a:avLst>
              <a:gd name="adj" fmla="val 2334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396076" y="1758752"/>
            <a:ext cx="4994745" cy="1942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OutlinedTextField(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password,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onValueChange = { password = it },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{ Text("Password") },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visualTransformation =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PasswordVisualTransformation(),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keyboardOptions = KeyboardOptions(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keyboardType = KeyboardType.Password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250327" y="3923209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 Integrasi Kunci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50327" y="4213225"/>
            <a:ext cx="2598474" cy="1046262"/>
          </a:xfrm>
          <a:prstGeom prst="roundRect">
            <a:avLst>
              <a:gd name="adj" fmla="val 4876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378118" y="4341019"/>
            <a:ext cx="234289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Hoisting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378118" y="4619923"/>
            <a:ext cx="2342893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 + mutableStateOf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state dikelola di level Composable fungsi, bukan di dalam komponen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937997" y="4213225"/>
            <a:ext cx="2598573" cy="1046262"/>
          </a:xfrm>
          <a:prstGeom prst="roundRect">
            <a:avLst>
              <a:gd name="adj" fmla="val 4876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9065787" y="4341019"/>
            <a:ext cx="2342992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 Propagation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9065787" y="4619923"/>
            <a:ext cx="2342992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isError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TextField terhubung ke state yang sama dengan logika validasi — satu sumber kebenaran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250327" y="5348684"/>
            <a:ext cx="5286243" cy="884138"/>
          </a:xfrm>
          <a:prstGeom prst="roundRect">
            <a:avLst>
              <a:gd name="adj" fmla="val 57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378118" y="5476478"/>
            <a:ext cx="5030662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Theme Consistency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378118" y="5755382"/>
            <a:ext cx="5030662" cy="34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Semua komponen (Card, TextField, Button) otomatis menggunakan </a:t>
            </a:r>
            <a:r>
              <a:rPr lang="en-US" sz="9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colorScheme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9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typography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dari MaterialTheme wrapper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8EB14C7-3BD3-B283-DEE8-40B531DD99F6}"/>
              </a:ext>
            </a:extLst>
          </p:cNvPr>
          <p:cNvSpPr/>
          <p:nvPr/>
        </p:nvSpPr>
        <p:spPr>
          <a:xfrm>
            <a:off x="661475" y="733921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Source Code</a:t>
            </a:r>
            <a:endParaRPr lang="en-US" sz="2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447B9-7590-1D6D-790E-2EF8329AE2C2}"/>
              </a:ext>
            </a:extLst>
          </p:cNvPr>
          <p:cNvSpPr txBox="1"/>
          <p:nvPr/>
        </p:nvSpPr>
        <p:spPr>
          <a:xfrm>
            <a:off x="3050275" y="3247746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https://</a:t>
            </a:r>
            <a:r>
              <a:rPr lang="en-US" dirty="0" err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gitlab.com</a:t>
            </a:r>
            <a:r>
              <a:rPr lang="en-US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/-/snippets/6050350</a:t>
            </a:r>
          </a:p>
        </p:txBody>
      </p:sp>
    </p:spTree>
    <p:extLst>
      <p:ext uri="{BB962C8B-B14F-4D97-AF65-F5344CB8AC3E}">
        <p14:creationId xmlns:p14="http://schemas.microsoft.com/office/powerpoint/2010/main" val="1962014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733921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Ringkasan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1408212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Ringkasan Materi Pertemuan ke-3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85" y="1736229"/>
            <a:ext cx="197639" cy="1976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9692" y="1732161"/>
            <a:ext cx="48454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Design 3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89692" y="2043013"/>
            <a:ext cx="484542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Sistem desain terpadu: Color Scheme, Typography, Shape, dan komponen siap pakai — semua dalam satu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MaterialTheme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wrapper.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85" y="2642295"/>
            <a:ext cx="197639" cy="1976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9692" y="2638227"/>
            <a:ext cx="48454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Color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089692" y="2949079"/>
            <a:ext cx="4845425" cy="574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UI beradaptasi dengan wallpaper pengguna via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dynamicLightColorScheme(context)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Android 12+, dengan fallback statis untuk versi lebih lama.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85" y="3737769"/>
            <a:ext cx="197639" cy="1976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89692" y="3733701"/>
            <a:ext cx="48454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Button Hierarchy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089692" y="4044553"/>
            <a:ext cx="4845425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Pilih varian berdasarkan </a:t>
            </a: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Hierarchy of Action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satu Filled Button per layar, aksi sekunder dengan Outlined atau TextButton.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85" y="4637484"/>
            <a:ext cx="197639" cy="1976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9692" y="4633416"/>
            <a:ext cx="48454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TextField State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089692" y="4944269"/>
            <a:ext cx="4845425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Kelola input dengan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 + onValueChange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validasi dengan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isError + supportingText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85" y="5549900"/>
            <a:ext cx="197639" cy="1976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89692" y="5545832"/>
            <a:ext cx="48454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 sebagai Kontainer Form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1089692" y="5856684"/>
            <a:ext cx="4845425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Pilih Filled, Elevated, atau Outlined sesuai konteks visual — gunakan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dengan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spacedBy()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dalamnya.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774601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Referensi</a:t>
            </a:r>
            <a:r>
              <a:rPr lang="en-US" sz="2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&amp; </a:t>
            </a:r>
            <a:r>
              <a:rPr lang="en-US" sz="25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Sumber</a:t>
            </a:r>
            <a:r>
              <a:rPr lang="en-US" sz="2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Belajar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1448891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Dokumentasi Resmi Google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1753791"/>
            <a:ext cx="5292692" cy="4169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1333" y="1772841"/>
            <a:ext cx="5103784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Google LLC. (2024). </a:t>
            </a:r>
            <a:r>
              <a:rPr lang="en-US" sz="10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Material Design 3 — Material You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Google Material Design.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https://m3.material.io/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2342654"/>
            <a:ext cx="5292692" cy="4169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1333" y="2361704"/>
            <a:ext cx="5103784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Google LLC. (2024). </a:t>
            </a:r>
            <a:r>
              <a:rPr lang="en-US" sz="10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Jetpack Compose — Material 3 in Compose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Android Developers.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https://developer.android.com/jetpack/compose/designsystems/material3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38688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Terima Kasih!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77604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6832" y="297140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Pertanyaan &amp; Diskusi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38008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Sampaikan di forum diskusi atau langsung di kelas — tidak ada pertanyaan yang salah!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369296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6832" y="456465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Pertemuan Berikutnya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6832" y="497334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Jetpack Compose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Lazy Layouts (List </a:t>
            </a:r>
            <a:r>
              <a:rPr lang="en-US" sz="14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Dinamis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73F9E9-DBF9-530E-04A6-80D73F57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79" y="0"/>
            <a:ext cx="382772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252E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3624</Words>
  <Application>Microsoft Macintosh PowerPoint</Application>
  <PresentationFormat>Widescreen</PresentationFormat>
  <Paragraphs>620</Paragraphs>
  <Slides>34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Heebo Light</vt:lpstr>
      <vt:lpstr>Arial</vt:lpstr>
      <vt:lpstr>Twemoji Mozilla, Apple Color Emoji, Segoe UI Emoji, Segoe UI Symbol, Noto Color Emoji, EmojiOne Color, Android Emoji, sans-serif</vt:lpstr>
      <vt:lpstr>Calibri</vt:lpstr>
      <vt:lpstr>Consolas</vt:lpstr>
      <vt:lpstr>Google Sans Text</vt:lpstr>
      <vt:lpstr>Montserrat</vt:lpstr>
      <vt:lpstr>Roboto Medium</vt:lpstr>
      <vt:lpstr>Heebo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Azis Amirulbahar</cp:lastModifiedBy>
  <cp:revision>7</cp:revision>
  <dcterms:created xsi:type="dcterms:W3CDTF">2026-09-02T03:48:03Z</dcterms:created>
  <dcterms:modified xsi:type="dcterms:W3CDTF">2026-09-03T02:40:58Z</dcterms:modified>
</cp:coreProperties>
</file>