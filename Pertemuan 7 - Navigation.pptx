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306" r:id="rId4"/>
    <p:sldId id="300" r:id="rId5"/>
    <p:sldId id="258" r:id="rId6"/>
    <p:sldId id="293" r:id="rId7"/>
    <p:sldId id="304" r:id="rId8"/>
    <p:sldId id="289" r:id="rId9"/>
    <p:sldId id="259" r:id="rId10"/>
    <p:sldId id="260" r:id="rId11"/>
    <p:sldId id="263" r:id="rId12"/>
    <p:sldId id="264" r:id="rId13"/>
    <p:sldId id="30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87" r:id="rId23"/>
    <p:sldId id="291" r:id="rId24"/>
    <p:sldId id="292" r:id="rId25"/>
    <p:sldId id="294" r:id="rId26"/>
    <p:sldId id="302" r:id="rId27"/>
    <p:sldId id="295" r:id="rId28"/>
    <p:sldId id="303" r:id="rId29"/>
    <p:sldId id="296" r:id="rId30"/>
    <p:sldId id="297" r:id="rId31"/>
    <p:sldId id="298" r:id="rId32"/>
    <p:sldId id="299" r:id="rId33"/>
    <p:sldId id="288" r:id="rId34"/>
  </p:sldIdLst>
  <p:sldSz cx="12192000" cy="6858000"/>
  <p:notesSz cx="6858000" cy="12192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Google Sans Code Medium" panose="020B0509030502040204" pitchFamily="34" charset="77"/>
      <p:regular r:id="rId40"/>
      <p:italic r:id="rId41"/>
    </p:embeddedFont>
    <p:embeddedFont>
      <p:font typeface="Heebo" pitchFamily="2" charset="-79"/>
      <p:regular r:id="rId42"/>
      <p:bold r:id="rId43"/>
    </p:embeddedFont>
    <p:embeddedFont>
      <p:font typeface="Heebo Bold" pitchFamily="2" charset="-79"/>
      <p:regular r:id="rId44"/>
      <p:bold r:id="rId45"/>
    </p:embeddedFont>
    <p:embeddedFont>
      <p:font typeface="Heebo Light" pitchFamily="2" charset="-79"/>
      <p:regular r:id="rId46"/>
    </p:embeddedFont>
    <p:embeddedFont>
      <p:font typeface="Montserrat" pitchFamily="2" charset="77"/>
      <p:regular r:id="rId47"/>
      <p:bold r:id="rId48"/>
      <p:italic r:id="rId49"/>
      <p:boldItalic r:id="rId50"/>
    </p:embeddedFont>
    <p:embeddedFont>
      <p:font typeface="Montserrat Light" panose="00000400000000000000" pitchFamily="2" charset="77"/>
      <p:regular r:id="rId51"/>
      <p:italic r:id="rId5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219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192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82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0201D-CD1E-90AC-15F0-13F7D967B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72599-00C4-835E-11B8-BA4B22E8E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5B78C-5E39-362D-32AC-3C42745E02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27514-F4BF-AC3D-368B-A1405A09EA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5435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FEAB1-C86C-C1CF-5397-FEA8842B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051D2D-72F9-54C6-B129-D9598C059F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DE90C-9212-E02B-5354-53152AD51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64CC2-8E80-641C-D381-0751FA837D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6183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3720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Navigation Compose &amp; App </a:t>
            </a: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Debbuging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718719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Membangun Navigasi Multi-Halaman dan Integrasi Komponen Aplikasi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169370"/>
            <a:ext cx="2337634" cy="251420"/>
          </a:xfrm>
          <a:prstGeom prst="roundRect">
            <a:avLst>
              <a:gd name="adj" fmla="val 22103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32577" y="4218980"/>
            <a:ext cx="2748787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IF21507 — PEMROGRAMAN MOBILE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653642" y="4169370"/>
            <a:ext cx="2148032" cy="251420"/>
          </a:xfrm>
          <a:prstGeom prst="roundRect">
            <a:avLst>
              <a:gd name="adj" fmla="val 22103"/>
            </a:avLst>
          </a:prstGeom>
          <a:noFill/>
          <a:ln w="6350">
            <a:solidFill>
              <a:srgbClr val="481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52858" y="4218980"/>
            <a:ext cx="2559184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AZIS AMIRULBAHAR, </a:t>
            </a:r>
            <a:r>
              <a:rPr lang="en-US" sz="1000" dirty="0" err="1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S.Pd</a:t>
            </a:r>
            <a:r>
              <a:rPr lang="en-US" sz="1000" dirty="0">
                <a:solidFill>
                  <a:srgbClr val="481C9E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., M.T.I.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6711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 Perkuliahan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54138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Durasi: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100 Menit (2 SKS)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260479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2866727"/>
            <a:ext cx="3512653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987477"/>
            <a:ext cx="351265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Principles of Navigation &amp; Konsep Dasar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603625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Prinsip Google, 5 Komponen Utama Navigation Compose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89102" y="2604790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89102" y="2883297"/>
            <a:ext cx="3512752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89102" y="2987477"/>
            <a:ext cx="351275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89102" y="3345160"/>
            <a:ext cx="351275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675D5E85-8DDA-867B-10A2-FF0EA85EBB66}"/>
              </a:ext>
            </a:extLst>
          </p:cNvPr>
          <p:cNvSpPr/>
          <p:nvPr/>
        </p:nvSpPr>
        <p:spPr>
          <a:xfrm>
            <a:off x="5589102" y="3603624"/>
            <a:ext cx="351265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Menelusuri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error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pada </a:t>
            </a:r>
            <a:r>
              <a:rPr lang="en-US" sz="13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project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aplikasi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41914-BF91-F1E2-2AA6-3F26E09BE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88EDC97C-320C-C8CB-FEE8-E3EBEEBF59FC}"/>
              </a:ext>
            </a:extLst>
          </p:cNvPr>
          <p:cNvSpPr/>
          <p:nvPr/>
        </p:nvSpPr>
        <p:spPr>
          <a:xfrm>
            <a:off x="661627" y="111325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Ketentuan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Proses UTS</a:t>
            </a:r>
            <a:endParaRPr lang="en-US" sz="3250" dirty="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EB9915DC-5E63-828C-2781-7BD4E1ED4962}"/>
              </a:ext>
            </a:extLst>
          </p:cNvPr>
          <p:cNvSpPr/>
          <p:nvPr/>
        </p:nvSpPr>
        <p:spPr>
          <a:xfrm>
            <a:off x="661627" y="2045233"/>
            <a:ext cx="10404072" cy="4549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30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UTS  </a:t>
            </a:r>
            <a:r>
              <a:rPr lang="en-US" sz="230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dilaksanakan</a:t>
            </a:r>
            <a:r>
              <a:rPr lang="en-US" sz="230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pada pekan ke-8 </a:t>
            </a:r>
            <a:r>
              <a:rPr lang="en-US" sz="230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sesuai</a:t>
            </a:r>
            <a:r>
              <a:rPr lang="en-US" sz="230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dengan</a:t>
            </a:r>
            <a:r>
              <a:rPr lang="en-US" sz="230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jadwal</a:t>
            </a:r>
            <a:r>
              <a:rPr lang="en-US" sz="230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/</a:t>
            </a:r>
            <a:r>
              <a:rPr lang="en-US" sz="230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kesepakatan</a:t>
            </a:r>
            <a:r>
              <a:rPr lang="en-US" sz="230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kelas</a:t>
            </a:r>
            <a:r>
              <a:rPr lang="en-US" sz="230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&amp; </a:t>
            </a:r>
            <a:r>
              <a:rPr lang="en-US" sz="2300" b="1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dosen</a:t>
            </a:r>
            <a:endParaRPr lang="en-US" sz="2300" b="1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300" b="1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UTS BUKAN KEGIATAN KELOMPOK</a:t>
            </a: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KEGIATAN UTS BUKAN MERUPAKAN DEMO APLIKASI</a:t>
            </a: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UTS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dilakukan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dengan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metode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ujian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lisan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,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peserta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diminta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menjelaskan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bagian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kode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yang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telah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dibuat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bersama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kelompok</a:t>
            </a:r>
            <a:endParaRPr lang="en-US" sz="2300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Bagian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kode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akan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dipilih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oleh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dosen</a:t>
            </a:r>
            <a:endParaRPr lang="en-US" sz="2300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Tidak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ada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sesi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tanya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jawab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 dirty="0" err="1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saat</a:t>
            </a:r>
            <a:r>
              <a:rPr lang="en-US" sz="2300" dirty="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 </a:t>
            </a:r>
            <a:r>
              <a:rPr lang="en-US" sz="2300">
                <a:solidFill>
                  <a:srgbClr val="DCD7E5"/>
                </a:solidFill>
                <a:latin typeface="Heebo Light" pitchFamily="34" charset="0"/>
                <a:cs typeface="Heebo Light" pitchFamily="34" charset="-120"/>
              </a:rPr>
              <a:t>proses UTS</a:t>
            </a:r>
            <a:endParaRPr lang="en-US" sz="2300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endParaRPr lang="en-US" sz="2300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endParaRPr lang="en-US" sz="2300" b="1" dirty="0">
              <a:solidFill>
                <a:srgbClr val="DCD7E5"/>
              </a:solidFill>
              <a:latin typeface="Heebo Light" pitchFamily="34" charset="0"/>
              <a:cs typeface="Heebo Ligh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7289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71BD13-C505-F349-F9EA-D0039F15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356" y="2005904"/>
            <a:ext cx="8545286" cy="4370191"/>
          </a:xfrm>
          <a:prstGeom prst="rect">
            <a:avLst/>
          </a:prstGeom>
        </p:spPr>
      </p:pic>
      <p:sp>
        <p:nvSpPr>
          <p:cNvPr id="3" name="Text 2">
            <a:extLst>
              <a:ext uri="{FF2B5EF4-FFF2-40B4-BE49-F238E27FC236}">
                <a16:creationId xmlns:a16="http://schemas.microsoft.com/office/drawing/2014/main" id="{49AA7454-FF43-0C73-691A-4CB19716A28C}"/>
              </a:ext>
            </a:extLst>
          </p:cNvPr>
          <p:cNvSpPr/>
          <p:nvPr/>
        </p:nvSpPr>
        <p:spPr>
          <a:xfrm>
            <a:off x="661627" y="111325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Tips </a:t>
            </a: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untuk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</a:t>
            </a: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Konversi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JSON </a:t>
            </a: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Data Class</a:t>
            </a:r>
            <a:endParaRPr lang="en-US" sz="3250" dirty="0"/>
          </a:p>
        </p:txBody>
      </p:sp>
    </p:spTree>
    <p:extLst>
      <p:ext uri="{BB962C8B-B14F-4D97-AF65-F5344CB8AC3E}">
        <p14:creationId xmlns:p14="http://schemas.microsoft.com/office/powerpoint/2010/main" val="2027321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11573"/>
            <a:ext cx="773192" cy="251420"/>
          </a:xfrm>
          <a:prstGeom prst="roundRect">
            <a:avLst>
              <a:gd name="adj" fmla="val 22103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361182"/>
            <a:ext cx="118434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BAGIAN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6290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Principles of Navigation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39385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Prinsip dasar navigasi menurut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Google Android Guidelines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fondasi yang harus dipahami sebelum menulis satu baris kode pun.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844502"/>
            <a:ext cx="5351725" cy="126196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22017" y="3028851"/>
            <a:ext cx="490684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🏠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Fixed Starting Destination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22017" y="3392884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Setiap aplikasi harus memiliki satu layar awal yang tetap dan konsisten setiap kali pengguna membuka aplikasi.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8495" y="2844502"/>
            <a:ext cx="5351725" cy="12619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9037" y="3028851"/>
            <a:ext cx="490684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📚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Back Stack State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439037" y="3392884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Sistem menyimpan riwayat layar dalam sebuah stack (LIFO). Tombol Back akan mem-</a:t>
            </a:r>
            <a:r>
              <a:rPr lang="en-US" sz="13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pop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destinasi teratas dari stack.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271764"/>
            <a:ext cx="5351725" cy="12746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22017" y="4456113"/>
            <a:ext cx="490684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🔗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Deep Linking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922017" y="4820146"/>
            <a:ext cx="490684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Navigasi langsung ke layar manapun dari luar aplikasi (URL, notifikasi) tanpa melalui alur normal.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8495" y="4271764"/>
            <a:ext cx="5351725" cy="127466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439037" y="4456113"/>
            <a:ext cx="490684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⬅️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Pop Behavior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39037" y="4820146"/>
            <a:ext cx="4906840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Aksi Back harus selalu membawa pengguna ke layar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sebelumnya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b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</a:b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(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dapat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dikustomisasi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dengan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popUpTo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5E73B0-E8A2-45F5-1CBA-4081086152F4}"/>
              </a:ext>
            </a:extLst>
          </p:cNvPr>
          <p:cNvSpPr txBox="1"/>
          <p:nvPr/>
        </p:nvSpPr>
        <p:spPr>
          <a:xfrm>
            <a:off x="3048886" y="3244334"/>
            <a:ext cx="609777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</a:rPr>
              <a:t>https://</a:t>
            </a:r>
            <a:r>
              <a:rPr lang="en-US" sz="2500" dirty="0" err="1">
                <a:solidFill>
                  <a:schemeClr val="bg1"/>
                </a:solidFill>
              </a:rPr>
              <a:t>github.com</a:t>
            </a:r>
            <a:r>
              <a:rPr lang="en-US" sz="2500" dirty="0">
                <a:solidFill>
                  <a:schemeClr val="bg1"/>
                </a:solidFill>
              </a:rPr>
              <a:t>/android/</a:t>
            </a:r>
            <a:r>
              <a:rPr lang="en-US" sz="2500" dirty="0" err="1">
                <a:solidFill>
                  <a:schemeClr val="bg1"/>
                </a:solidFill>
              </a:rPr>
              <a:t>sunflower.git</a:t>
            </a:r>
            <a:endParaRPr lang="en-US" sz="2500" dirty="0">
              <a:solidFill>
                <a:schemeClr val="bg1"/>
              </a:solidFill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7F4A0D2-7852-1F07-20DA-62B134161001}"/>
              </a:ext>
            </a:extLst>
          </p:cNvPr>
          <p:cNvSpPr/>
          <p:nvPr/>
        </p:nvSpPr>
        <p:spPr>
          <a:xfrm>
            <a:off x="661475" y="162907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Contoh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50" i="1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Code</a:t>
            </a:r>
            <a:endParaRPr lang="en-US" sz="3250" i="1" dirty="0"/>
          </a:p>
        </p:txBody>
      </p:sp>
    </p:spTree>
    <p:extLst>
      <p:ext uri="{BB962C8B-B14F-4D97-AF65-F5344CB8AC3E}">
        <p14:creationId xmlns:p14="http://schemas.microsoft.com/office/powerpoint/2010/main" val="3955925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D22E45-1E71-9D97-87B8-FA90F9C63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046" y="3278222"/>
            <a:ext cx="8477899" cy="266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CB0C1C1-99E2-F589-DC31-E64B9F8A0E27}"/>
              </a:ext>
            </a:extLst>
          </p:cNvPr>
          <p:cNvSpPr txBox="1"/>
          <p:nvPr/>
        </p:nvSpPr>
        <p:spPr>
          <a:xfrm>
            <a:off x="661626" y="1768403"/>
            <a:ext cx="9886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Push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: Saat Activity 1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membuka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Activity 2, Activity 2 di-</a:t>
            </a:r>
            <a:r>
              <a:rPr lang="en-ID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push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ke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atas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tumpukan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D" dirty="0">
              <a:solidFill>
                <a:schemeClr val="bg1"/>
              </a:solidFill>
              <a:latin typeface="Heebo" pitchFamily="2" charset="-79"/>
              <a:cs typeface="Heebo" pitchFamily="2" charset="-79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Pop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: Saat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tombol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Back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ditekan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, Activity 2 di-</a:t>
            </a:r>
            <a:r>
              <a:rPr lang="en-ID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pop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(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dihapus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dari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tumpukan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dan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dihancurkan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),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sehingga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Activity A di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bawahnya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muncul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kembali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ke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layar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06BB249-AC18-FB20-64CF-35E55532D698}"/>
              </a:ext>
            </a:extLst>
          </p:cNvPr>
          <p:cNvSpPr/>
          <p:nvPr/>
        </p:nvSpPr>
        <p:spPr>
          <a:xfrm>
            <a:off x="661626" y="90979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 Stack (</a:t>
            </a: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Tumpukan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Navigasi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)</a:t>
            </a:r>
            <a:endParaRPr lang="en-US" sz="3250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DD8E3C-D340-B229-2202-C52854CDF023}"/>
              </a:ext>
            </a:extLst>
          </p:cNvPr>
          <p:cNvSpPr txBox="1"/>
          <p:nvPr/>
        </p:nvSpPr>
        <p:spPr>
          <a:xfrm>
            <a:off x="3046824" y="6257700"/>
            <a:ext cx="60983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https://</a:t>
            </a:r>
            <a:r>
              <a:rPr lang="en-US" sz="1200" dirty="0" err="1">
                <a:solidFill>
                  <a:schemeClr val="bg1"/>
                </a:solidFill>
              </a:rPr>
              <a:t>developer.android.com</a:t>
            </a:r>
            <a:r>
              <a:rPr lang="en-US" sz="1200" dirty="0">
                <a:solidFill>
                  <a:schemeClr val="bg1"/>
                </a:solidFill>
              </a:rPr>
              <a:t>/guide/components/activities/tasks-and-back-stack</a:t>
            </a:r>
          </a:p>
        </p:txBody>
      </p:sp>
    </p:spTree>
    <p:extLst>
      <p:ext uri="{BB962C8B-B14F-4D97-AF65-F5344CB8AC3E}">
        <p14:creationId xmlns:p14="http://schemas.microsoft.com/office/powerpoint/2010/main" val="133629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34D1E4-1371-70E5-A4CA-5491C63AD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66" y="1012489"/>
            <a:ext cx="9365673" cy="50574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A6EA956-B15C-EE64-67BB-44A700289DE7}"/>
              </a:ext>
            </a:extLst>
          </p:cNvPr>
          <p:cNvSpPr txBox="1"/>
          <p:nvPr/>
        </p:nvSpPr>
        <p:spPr>
          <a:xfrm>
            <a:off x="3422073" y="62507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developer.android.com</a:t>
            </a:r>
            <a:r>
              <a:rPr lang="en-US" dirty="0">
                <a:solidFill>
                  <a:schemeClr val="bg1"/>
                </a:solidFill>
              </a:rPr>
              <a:t>/guide/navigation/principles</a:t>
            </a:r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EF6EF1F5-FE1C-A78D-6BE9-7CB5ECC1F2E9}"/>
              </a:ext>
            </a:extLst>
          </p:cNvPr>
          <p:cNvSpPr/>
          <p:nvPr/>
        </p:nvSpPr>
        <p:spPr>
          <a:xfrm>
            <a:off x="803563" y="342414"/>
            <a:ext cx="4906840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🏠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Fixed Starting Destination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33738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Komponen Utama Navigation Compose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795933"/>
            <a:ext cx="9753356" cy="5486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6328767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Kelima komponen ini saling bergantung — </a:t>
            </a: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NavController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adalah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inti </a:t>
            </a:r>
            <a:r>
              <a:rPr lang="en-US" sz="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sistem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navigasi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yang menghubungkan semuanya.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7967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Peran Masing-Masing Komponen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527102"/>
            <a:ext cx="5351725" cy="1242913"/>
          </a:xfrm>
          <a:prstGeom prst="roundRect">
            <a:avLst>
              <a:gd name="adj" fmla="val 558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33119" y="269875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NavHost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33119" y="3056434"/>
            <a:ext cx="500843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Container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Composable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yang merender layar aktif. Dihubungkan ke NavController dan NavGraph.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78495" y="2527102"/>
            <a:ext cx="5351725" cy="1242913"/>
          </a:xfrm>
          <a:prstGeom prst="roundRect">
            <a:avLst>
              <a:gd name="adj" fmla="val 558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350139" y="2698750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NavGraph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50139" y="3056434"/>
            <a:ext cx="5008437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Struktur data yang memetakan seluruh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Route → Composable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Didefinisikan di dalam blok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NavHost { ... }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935313"/>
            <a:ext cx="5351725" cy="1242913"/>
          </a:xfrm>
          <a:prstGeom prst="roundRect">
            <a:avLst>
              <a:gd name="adj" fmla="val 558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33119" y="410696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NavController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3119" y="4464645"/>
            <a:ext cx="5008437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Dibuat via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rememberNavController()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Menjadi satu-satunya sumber kebenaran untuk state navigasi.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8495" y="3935313"/>
            <a:ext cx="5351725" cy="1242913"/>
          </a:xfrm>
          <a:prstGeom prst="roundRect">
            <a:avLst>
              <a:gd name="adj" fmla="val 5589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0139" y="4106962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Route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50139" y="4464645"/>
            <a:ext cx="5008437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Data class/object bertipe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@Serializable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Menggantikan string literal yang rawan typo — inilah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Type-Safe Navigation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858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Mengambil Argumen dari BackStackEntry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1592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Cara Modern: toRoute&lt;T&gt;()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460427"/>
            <a:ext cx="5232666" cy="2447528"/>
          </a:xfrm>
          <a:prstGeom prst="roundRect">
            <a:avLst>
              <a:gd name="adj" fmla="val 2838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907" y="2625725"/>
            <a:ext cx="4835801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composable&lt;DetailRoute&gt; { entry -&gt;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args = entry.toRoute&lt;DetailRoute&gt;()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DetailScreen(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productId = args.productId,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fromCart = args.fromCart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5093990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Compiler otomatis memvalidasi tipe data — tidak perlu parsing manual seperti string-based route.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3904" y="201592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Diagram Alur Data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904" y="2460427"/>
            <a:ext cx="5232666" cy="18942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88019" y="3892316"/>
            <a:ext cx="2351858" cy="16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Composable Menerima DetailRoute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688019" y="3321360"/>
            <a:ext cx="1478422" cy="163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navController.navigate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88019" y="2744578"/>
            <a:ext cx="1310836" cy="163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Ketuk Item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776413"/>
            <a:ext cx="773192" cy="251420"/>
          </a:xfrm>
          <a:prstGeom prst="roundRect">
            <a:avLst>
              <a:gd name="adj" fmla="val 22103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826022"/>
            <a:ext cx="118434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BAGIAN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0939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 Back Navigation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85869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Ada dua skenario utama yang memerlukan penanganan Back khusus: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konfirmasi sebelum keluar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dan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clearing back stack setelah login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309342"/>
            <a:ext cx="10868745" cy="1772146"/>
          </a:xfrm>
          <a:prstGeom prst="roundRect">
            <a:avLst>
              <a:gd name="adj" fmla="val 392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67825" y="3315692"/>
            <a:ext cx="3618616" cy="1759446"/>
          </a:xfrm>
          <a:custGeom>
            <a:avLst/>
            <a:gdLst/>
            <a:ahLst/>
            <a:cxnLst/>
            <a:rect l="l" t="t" r="r" b="b"/>
            <a:pathLst>
              <a:path w="3618616" h="1759446">
                <a:moveTo>
                  <a:pt x="57887" y="0"/>
                </a:moveTo>
                <a:lnTo>
                  <a:pt x="3618616" y="0"/>
                </a:lnTo>
                <a:lnTo>
                  <a:pt x="3618616" y="1759446"/>
                </a:lnTo>
                <a:lnTo>
                  <a:pt x="57887" y="1759446"/>
                </a:lnTo>
                <a:arcTo wR="57887" hR="57888" stAng="5400000" swAng="5400000"/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3119" y="3480991"/>
            <a:ext cx="328802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Back / Predictive Back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33119" y="3838674"/>
            <a:ext cx="328802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Aksi default sistem: pop destinasi teratas dari back stack. Pada Android 14+, didukung </a:t>
            </a:r>
            <a:r>
              <a:rPr lang="en-US" sz="13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Predictive Back Gesture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dengan animasi preview layar sebelumnya.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86440" y="3315692"/>
            <a:ext cx="3618715" cy="1759446"/>
          </a:xfrm>
          <a:prstGeom prst="rect">
            <a:avLst/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86440" y="3315692"/>
            <a:ext cx="19050" cy="1759446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51735" y="3480991"/>
            <a:ext cx="32881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BackHandler (Custom)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51735" y="3838674"/>
            <a:ext cx="3288126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Composable untuk mengintersepsi aksi Back sebelum sistem memrosesnya. Dapat diaktifkan/dinonaktifkan secara kondisional menggunakan parameter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5155" y="3315692"/>
            <a:ext cx="3618715" cy="1759446"/>
          </a:xfrm>
          <a:custGeom>
            <a:avLst/>
            <a:gdLst/>
            <a:ahLst/>
            <a:cxnLst/>
            <a:rect l="l" t="t" r="r" b="b"/>
            <a:pathLst>
              <a:path w="3618715" h="1759446">
                <a:moveTo>
                  <a:pt x="0" y="0"/>
                </a:moveTo>
                <a:lnTo>
                  <a:pt x="3560828" y="0"/>
                </a:lnTo>
                <a:arcTo wR="57887" hR="57888" stAng="16200000" swAng="5400000"/>
                <a:lnTo>
                  <a:pt x="3618715" y="1701558"/>
                </a:lnTo>
                <a:arcTo wR="57887" hR="57888" stAng="0" swAng="5400000"/>
                <a:lnTo>
                  <a:pt x="0" y="1759446"/>
                </a:lnTo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905155" y="3315692"/>
            <a:ext cx="19050" cy="1759446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070450" y="3480991"/>
            <a:ext cx="32881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popUpTo + inclusive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70450" y="3838674"/>
            <a:ext cx="328812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Menghapus destinasi tertentu dari back stack saat navigasi — krusial untuk alur Login → Home agar pengguna tidak bisa kembali ke halaman Login.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ow to Disable Back Press Button in Android? - GeeksforGeeks">
            <a:extLst>
              <a:ext uri="{FF2B5EF4-FFF2-40B4-BE49-F238E27FC236}">
                <a16:creationId xmlns:a16="http://schemas.microsoft.com/office/drawing/2014/main" id="{AE4AE0B3-F4C6-9E1D-9EC7-642C27ED3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027" y="857973"/>
            <a:ext cx="2895661" cy="51478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86AD1C-125C-C00E-6852-ECF8B6E464F9}"/>
              </a:ext>
            </a:extLst>
          </p:cNvPr>
          <p:cNvSpPr txBox="1"/>
          <p:nvPr/>
        </p:nvSpPr>
        <p:spPr>
          <a:xfrm>
            <a:off x="3046071" y="6300969"/>
            <a:ext cx="60998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dirty="0">
                <a:solidFill>
                  <a:schemeClr val="bg1"/>
                </a:solidFill>
              </a:rPr>
              <a:t>https://</a:t>
            </a:r>
            <a:r>
              <a:rPr lang="en-US" sz="1000" dirty="0" err="1">
                <a:solidFill>
                  <a:schemeClr val="bg1"/>
                </a:solidFill>
              </a:rPr>
              <a:t>www.geeksforgeeks.org</a:t>
            </a:r>
            <a:r>
              <a:rPr lang="en-US" sz="1000" dirty="0">
                <a:solidFill>
                  <a:schemeClr val="bg1"/>
                </a:solidFill>
              </a:rPr>
              <a:t>/</a:t>
            </a:r>
            <a:r>
              <a:rPr lang="en-US" sz="1000" dirty="0" err="1">
                <a:solidFill>
                  <a:schemeClr val="bg1"/>
                </a:solidFill>
              </a:rPr>
              <a:t>kotlin</a:t>
            </a:r>
            <a:r>
              <a:rPr lang="en-US" sz="1000" dirty="0">
                <a:solidFill>
                  <a:schemeClr val="bg1"/>
                </a:solidFill>
              </a:rPr>
              <a:t>/how-to-disable-back-press-button-in-android/</a:t>
            </a:r>
          </a:p>
        </p:txBody>
      </p:sp>
    </p:spTree>
    <p:extLst>
      <p:ext uri="{BB962C8B-B14F-4D97-AF65-F5344CB8AC3E}">
        <p14:creationId xmlns:p14="http://schemas.microsoft.com/office/powerpoint/2010/main" val="4120424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4204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Kapan Gunakan BackHandler?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89163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3485" y="292263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2945309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Form edit dengan data belum tersimpan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9132" y="2891631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61142" y="2922637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736487" y="2945309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Dialog konfirmasi keluar aplikasi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61475" y="359439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23485" y="362540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98830" y="3648075"/>
            <a:ext cx="479363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Wizard multi-step yang perlu validasi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132" y="3594398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61142" y="3625404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736487" y="3648075"/>
            <a:ext cx="4793733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Game — pause sebelum keluar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popUpTo &amp; inclusive: Clearing Back Stack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61475" y="795933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Kasus klasik: setelah Login berhasil → navigasi ke Home dan </a:t>
            </a:r>
            <a:r>
              <a:rPr lang="en-US" sz="6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hapus LoginRoute dari back stack</a:t>
            </a:r>
            <a:r>
              <a:rPr lang="en-US" sz="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agar tombol Back tidak kembali ke halaman Login.</a:t>
            </a:r>
            <a:endParaRPr lang="en-US" sz="650" dirty="0"/>
          </a:p>
        </p:txBody>
      </p:sp>
      <p:sp>
        <p:nvSpPr>
          <p:cNvPr id="4" name="Shape 2"/>
          <p:cNvSpPr/>
          <p:nvPr/>
        </p:nvSpPr>
        <p:spPr>
          <a:xfrm>
            <a:off x="661475" y="941487"/>
            <a:ext cx="10868745" cy="1090414"/>
          </a:xfrm>
          <a:prstGeom prst="roundRect">
            <a:avLst>
              <a:gd name="adj" fmla="val 3185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0691" y="1024136"/>
            <a:ext cx="10670313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 LoginScreen setelah autentikasi berhasil: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navController.navigate(HomeRoute)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popUpTo(LoginRoute) {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inclusive = true   // LoginRoute ikut dihapus dari stack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launchSingleTop = true  // Hindari duplikasi HomeRoute di stack</a:t>
            </a:r>
            <a:endParaRPr lang="en-US" sz="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6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044" y="2078335"/>
            <a:ext cx="7341607" cy="4966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10015" y="4022409"/>
            <a:ext cx="1336847" cy="9170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Transformasi Back Stack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407983" y="5741570"/>
            <a:ext cx="198879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Aksi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7407983" y="6134211"/>
            <a:ext cx="1988798" cy="18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popUpTo inclusive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747190" y="5741570"/>
            <a:ext cx="198879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Sesudah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2747190" y="6134211"/>
            <a:ext cx="1988797" cy="18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[Home only]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2747190" y="2704380"/>
            <a:ext cx="198879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Hasil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2747190" y="3097020"/>
            <a:ext cx="1988797" cy="36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Login dihapus dari stack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20720" y="2796086"/>
            <a:ext cx="198879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Sebelum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420720" y="3188727"/>
            <a:ext cx="1988798" cy="183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[Login, Home intent]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2328664"/>
            <a:ext cx="773192" cy="251420"/>
          </a:xfrm>
          <a:prstGeom prst="roundRect">
            <a:avLst>
              <a:gd name="adj" fmla="val 22103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32577" y="2378273"/>
            <a:ext cx="118434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BAGIAN 4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233360" y="2646164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Konsep Deep Linking</a:t>
            </a:r>
            <a:endParaRPr lang="en-US" sz="3250" dirty="0"/>
          </a:p>
        </p:txBody>
      </p:sp>
      <p:sp>
        <p:nvSpPr>
          <p:cNvPr id="6" name="Text 3"/>
          <p:cNvSpPr/>
          <p:nvPr/>
        </p:nvSpPr>
        <p:spPr>
          <a:xfrm>
            <a:off x="5233360" y="3228975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 itu Deep Link?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33360" y="3735487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Mekanisme untuk membuka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layar spesifik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dalam aplikasi secara langsung — dari URL web, push notification, atau intent aplikasi lain — tanpa melalui alur navigasi normal.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8518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Mendefinisikan Deep Link di NavDestination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32608"/>
            <a:ext cx="11478330" cy="277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Tambahkan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deepLinks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pada blok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composable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untuk menghubungkan URI eksternal ke destinasi tertentu.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595959"/>
            <a:ext cx="10868745" cy="2976761"/>
          </a:xfrm>
          <a:prstGeom prst="roundRect">
            <a:avLst>
              <a:gd name="adj" fmla="val 2334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907" y="2761258"/>
            <a:ext cx="10471880" cy="2646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composable&lt;DetailRoute&gt;(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deepLinks = listOf(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navDeepLink&lt;DetailRoute&gt;(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basePath = "https://tokoapps.com/product"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{ backStackEntry -&gt;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val args = backStackEntry.toRoute&lt;DetailRoute&gt;()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DetailScreen(productId = args.productId)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80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Konfigurasi AndroidManifest untuk Deep Link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95808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AndroidManifest.xml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61475" y="2402582"/>
            <a:ext cx="5232666" cy="3241377"/>
          </a:xfrm>
          <a:prstGeom prst="roundRect">
            <a:avLst>
              <a:gd name="adj" fmla="val 2143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907" y="2567880"/>
            <a:ext cx="4835801" cy="2910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&lt;activity android:name=".MainActivity"&gt;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&lt;intent-filter&gt;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&lt;action android:name="android.intent.action.VIEW"/&gt;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&lt;category android:name="android.intent.category.DEFAULT"/&gt;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&lt;category android:name="android.intent.category.BROWSABLE"/&gt;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&lt;data android:scheme="https"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android:host="tokoapps.com"/&gt;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&lt;/intent-filter&gt;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&lt;/activity&gt;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195808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Hasil: URL → Layar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381845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https://tokoapps.com/product?productId=42 langsung membuka DetailScreen dengan productId = 42.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3904" y="3097113"/>
            <a:ext cx="5232666" cy="909439"/>
          </a:xfrm>
          <a:prstGeom prst="roundRect">
            <a:avLst>
              <a:gd name="adj" fmla="val 7638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198" y="3336826"/>
            <a:ext cx="206667" cy="16529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41160" y="3287216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Type-safe deep link otomatis memetakan query parameter URL ke field data class Route!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1128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Implicit vs Explicit Deep Link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960291"/>
            <a:ext cx="10868745" cy="1784846"/>
          </a:xfrm>
          <a:prstGeom prst="roundRect">
            <a:avLst>
              <a:gd name="adj" fmla="val 3892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67825" y="2966641"/>
            <a:ext cx="5428023" cy="1772146"/>
          </a:xfrm>
          <a:custGeom>
            <a:avLst/>
            <a:gdLst/>
            <a:ahLst/>
            <a:cxnLst/>
            <a:rect l="l" t="t" r="r" b="b"/>
            <a:pathLst>
              <a:path w="5428023" h="1772146">
                <a:moveTo>
                  <a:pt x="57887" y="0"/>
                </a:moveTo>
                <a:lnTo>
                  <a:pt x="5428023" y="0"/>
                </a:lnTo>
                <a:lnTo>
                  <a:pt x="5428023" y="1772146"/>
                </a:lnTo>
                <a:lnTo>
                  <a:pt x="57887" y="1772146"/>
                </a:lnTo>
                <a:arcTo wR="57887" hR="57888" stAng="5400000" swAng="5400000"/>
                <a:lnTo>
                  <a:pt x="0" y="57888"/>
                </a:lnTo>
                <a:arcTo wR="57887" hR="57888" stAng="10800000" swAng="5400000"/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3119" y="3131939"/>
            <a:ext cx="48492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Implicit Deep Link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3489623"/>
            <a:ext cx="4849294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Dipicu dari luar aplikasi — browser web, notifikasi push, atau aplikasi lain yang mengirim Intent bertipe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ACTION_VIEW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dengan URI yang cocok. Sistem Android yang mencocokkan URI ke aplikasi yang tepat.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5848" y="2966641"/>
            <a:ext cx="5428023" cy="1772146"/>
          </a:xfrm>
          <a:custGeom>
            <a:avLst/>
            <a:gdLst/>
            <a:ahLst/>
            <a:cxnLst/>
            <a:rect l="l" t="t" r="r" b="b"/>
            <a:pathLst>
              <a:path w="5428023" h="1772146">
                <a:moveTo>
                  <a:pt x="0" y="0"/>
                </a:moveTo>
                <a:lnTo>
                  <a:pt x="5370136" y="0"/>
                </a:lnTo>
                <a:arcTo wR="57887" hR="57888" stAng="16200000" swAng="5400000"/>
                <a:lnTo>
                  <a:pt x="5428023" y="1714258"/>
                </a:lnTo>
                <a:arcTo wR="57887" hR="57888" stAng="0" swAng="5400000"/>
                <a:lnTo>
                  <a:pt x="0" y="1772146"/>
                </a:lnTo>
                <a:lnTo>
                  <a:pt x="0" y="0"/>
                </a:lnTo>
                <a:close/>
              </a:path>
            </a:pathLst>
          </a:cu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95848" y="2966641"/>
            <a:ext cx="19050" cy="1772146"/>
          </a:xfrm>
          <a:prstGeom prst="roundRect">
            <a:avLst>
              <a:gd name="adj" fmla="val 49999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09282" y="3131939"/>
            <a:ext cx="48492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Explicit Deep Link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09282" y="3489623"/>
            <a:ext cx="4849294" cy="1083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Dibuat secara manual di dalam aplikasi sendiri menggunakan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NavDeepLinkRequest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atau dari notifikasi yang dibuat aplikasi via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PendingIntent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Biasanya digunakan untuk notifikasi lokal/FCM yang membuka layar tertentu.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89180" y="3645942"/>
            <a:ext cx="413434" cy="413445"/>
          </a:xfrm>
          <a:prstGeom prst="roundRect">
            <a:avLst>
              <a:gd name="adj" fmla="val 16802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2563" y="3749229"/>
            <a:ext cx="206667" cy="20667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959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Explicit Deep Link dari Notifikasi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411387"/>
            <a:ext cx="10868745" cy="3770610"/>
          </a:xfrm>
          <a:prstGeom prst="roundRect">
            <a:avLst>
              <a:gd name="adj" fmla="val 1842"/>
            </a:avLst>
          </a:prstGeom>
          <a:solidFill>
            <a:srgbClr val="1A17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59907" y="1576685"/>
            <a:ext cx="10471880" cy="344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Explicit Deep Link dari Notifikasi (PendingIntent)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deepLinkIntent = Intent(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Intent.ACTION_VIEW,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"https://tokoapps.com/product?productId=99".toUri(),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MainActivity::class.java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pendingIntent = PendingIntent.getActivity(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0,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deepLinkIntent,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PendingIntent.FLAG_IMMUTABLE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5368032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607745"/>
            <a:ext cx="206667" cy="1652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98731" y="5574605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PendingIntent ini digunakan saat membangun NotificationCompat.Builder — sehingga saat notifikasi diketuk, aplikasi langsung membuka layar yang dituju.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56506"/>
            <a:ext cx="773192" cy="251420"/>
          </a:xfrm>
          <a:prstGeom prst="roundRect">
            <a:avLst>
              <a:gd name="adj" fmla="val 22103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306116"/>
            <a:ext cx="118434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BAGIAN 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57400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NavController vs External Integration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33878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Penting untuk memahami </a:t>
            </a:r>
            <a:r>
              <a:rPr lang="en-US" sz="130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batas tanggung jawab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NavController sebelum berinteraksi dengan dunia luar.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789436"/>
            <a:ext cx="5351725" cy="1964730"/>
          </a:xfrm>
          <a:prstGeom prst="roundRect">
            <a:avLst>
              <a:gd name="adj" fmla="val 3536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5819" y="2973784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NavController (Internal)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5819" y="3337818"/>
            <a:ext cx="4983038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Navigasi antar screen dalam 1 aplikasi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Mengelola back stack internal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Type-safe argument passing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Deep link handling (jika sudah diregistrasi)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2789436"/>
            <a:ext cx="5351725" cy="1964730"/>
          </a:xfrm>
          <a:prstGeom prst="roundRect">
            <a:avLst>
              <a:gd name="adj" fmla="val 3536"/>
            </a:avLst>
          </a:prstGeom>
          <a:solidFill>
            <a:srgbClr val="0D0A2C">
              <a:alpha val="95000"/>
            </a:srgbClr>
          </a:solidFill>
          <a:ln w="190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62838" y="2973784"/>
            <a:ext cx="4983038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🌐</a:t>
            </a: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Android Intent (External)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62838" y="3337818"/>
            <a:ext cx="4983038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Membuka browser, Maps, WhatsApp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Memanggil kamera atau galeri foto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Berbagi konten ke aplikasi lain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Menerima hasil dari aplikasi lain (ActivityResult)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940201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31136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179913"/>
            <a:ext cx="206667" cy="16529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98731" y="5146774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Aturan praktis: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Jika tujuannya masih dalam aplikasimu → gunakan NavController. Jika keluar dari aplikasimu → gunakan Intent.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520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Practices: Navigation Compose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247263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3485" y="250363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198830" y="2529483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Satu NavController per App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98830" y="2887166"/>
            <a:ext cx="479363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Buat di level tertinggi (AppRoot) dan teruskan ke bawah via lambda callback — jangan lewatkan NavController sebagai parameter composable.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132" y="2472630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1142" y="2503636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736487" y="2529483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Selalu Type-Safe Route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736487" y="2887166"/>
            <a:ext cx="4793733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@Serializable data class/object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Hindari string literal route yang rawan typo dan tidak divalidasi compile-time.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4011712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3485" y="404271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198830" y="4068564"/>
            <a:ext cx="479363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ViewModel Scoped ke Destinasi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98830" y="4426248"/>
            <a:ext cx="4793634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hiltViewModel()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di dalam </a:t>
            </a:r>
            <a:r>
              <a:rPr lang="en-US" sz="1300" dirty="0">
                <a:solidFill>
                  <a:srgbClr val="DCD7E5"/>
                </a:solidFill>
                <a:highlight>
                  <a:srgbClr val="1A173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composable { }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block agar lifecycle ViewModel selaras dengan destinasi — bukan seluruh aplikasi.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99132" y="4011712"/>
            <a:ext cx="372061" cy="372070"/>
          </a:xfrm>
          <a:prstGeom prst="roundRect">
            <a:avLst>
              <a:gd name="adj" fmla="val 18670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1142" y="4042718"/>
            <a:ext cx="248041" cy="3100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6736487" y="4068564"/>
            <a:ext cx="47937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launchSingleTop = true untuk BottomNav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36487" y="4426248"/>
            <a:ext cx="479373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Mencegah duplikasi destinasi di back stack saat pengguna mengetuk item BottomNav yang sedang aktif berkali-kali.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C04F4-68E9-8E49-EA63-FF4C3F11D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BE01B82-D279-EAB3-148E-A3FB0445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9EC8171-5A17-D62B-F94D-9647CB90B4E6}"/>
              </a:ext>
            </a:extLst>
          </p:cNvPr>
          <p:cNvSpPr/>
          <p:nvPr/>
        </p:nvSpPr>
        <p:spPr>
          <a:xfrm>
            <a:off x="5233360" y="2328664"/>
            <a:ext cx="773192" cy="251420"/>
          </a:xfrm>
          <a:prstGeom prst="roundRect">
            <a:avLst>
              <a:gd name="adj" fmla="val 22103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B12269C-9141-5FEA-8AB2-71D96F360DA3}"/>
              </a:ext>
            </a:extLst>
          </p:cNvPr>
          <p:cNvSpPr/>
          <p:nvPr/>
        </p:nvSpPr>
        <p:spPr>
          <a:xfrm>
            <a:off x="5342737" y="2378273"/>
            <a:ext cx="1184345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BAGIAN 5</a:t>
            </a:r>
            <a:endParaRPr lang="en-US" sz="1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10F496A-F993-F74D-458F-7C4A5255B7EA}"/>
              </a:ext>
            </a:extLst>
          </p:cNvPr>
          <p:cNvSpPr/>
          <p:nvPr/>
        </p:nvSpPr>
        <p:spPr>
          <a:xfrm>
            <a:off x="5233360" y="2646164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Berinteraksi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dengan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r>
              <a:rPr lang="en-US" sz="32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Aplikasi</a:t>
            </a: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Lain</a:t>
            </a:r>
            <a:endParaRPr lang="en-US" sz="325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698FC8D-E4ED-DF3B-6460-224AC00BC8EA}"/>
              </a:ext>
            </a:extLst>
          </p:cNvPr>
          <p:cNvSpPr/>
          <p:nvPr/>
        </p:nvSpPr>
        <p:spPr>
          <a:xfrm>
            <a:off x="5233360" y="3228975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 itu Deep Link?</a:t>
            </a:r>
            <a:endParaRPr lang="en-US" sz="16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03E09E3-75F9-6F55-4BB1-3D1C8CD71BDE}"/>
              </a:ext>
            </a:extLst>
          </p:cNvPr>
          <p:cNvSpPr/>
          <p:nvPr/>
        </p:nvSpPr>
        <p:spPr>
          <a:xfrm>
            <a:off x="5233360" y="3735487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memungkinkan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sebuah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aplikasi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berinteraksi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dengan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aplikasi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lain.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2273955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DE42-60AB-B0A7-0850-2C0E3D47A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D1703A1-D05F-2D27-6341-8D39937228BC}"/>
              </a:ext>
            </a:extLst>
          </p:cNvPr>
          <p:cNvSpPr/>
          <p:nvPr/>
        </p:nvSpPr>
        <p:spPr>
          <a:xfrm>
            <a:off x="661475" y="10858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Intent</a:t>
            </a:r>
            <a:endParaRPr lang="en-US" sz="32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35BEF49-8E55-9114-8965-FEB01252C499}"/>
              </a:ext>
            </a:extLst>
          </p:cNvPr>
          <p:cNvSpPr/>
          <p:nvPr/>
        </p:nvSpPr>
        <p:spPr>
          <a:xfrm>
            <a:off x="6303904" y="2015927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E1A1ED-3CEB-1551-9148-98194C490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797" y="1628343"/>
            <a:ext cx="8438600" cy="474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560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822821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233360" y="1147366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1912144"/>
            <a:ext cx="629686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Debugging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adalah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keterampilan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untuk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melacak, menganalisis, dan memperbaiki kesalahan (</a:t>
            </a:r>
            <a:r>
              <a:rPr lang="en-US" sz="1300" i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bug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) pada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aplikasi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3360" y="289202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233360" y="3153966"/>
            <a:ext cx="3065783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233360" y="3274715"/>
            <a:ext cx="306578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Membaca Pesan Error (Stack Trace &amp; Logs)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64437" y="2892028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64437" y="3153966"/>
            <a:ext cx="3065783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464437" y="3274715"/>
            <a:ext cx="306578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Menggunakan Breakpoint &amp; Stepping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233360" y="408096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3360" y="4326434"/>
            <a:ext cx="3065783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233360" y="4463653"/>
            <a:ext cx="306578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 Tampilan (UI &amp; Layout Inspector)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464437" y="4080966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464437" y="4326434"/>
            <a:ext cx="3065783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464437" y="4463653"/>
            <a:ext cx="3065783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Mengenali Jenis Bug Khas Aplikasi Mobile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233360" y="526990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05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233360" y="5498802"/>
            <a:ext cx="6296860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33360" y="5652591"/>
            <a:ext cx="629686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 Network &amp; API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DD3C6A-E42B-8DEB-2BCD-CC0EFC97FECE}"/>
              </a:ext>
            </a:extLst>
          </p:cNvPr>
          <p:cNvSpPr txBox="1"/>
          <p:nvPr/>
        </p:nvSpPr>
        <p:spPr>
          <a:xfrm>
            <a:off x="3048000" y="499325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https://</a:t>
            </a:r>
            <a:r>
              <a:rPr lang="en-US" dirty="0" err="1">
                <a:solidFill>
                  <a:schemeClr val="bg1"/>
                </a:solidFill>
              </a:rPr>
              <a:t>blog.jetbrains.com</a:t>
            </a:r>
            <a:r>
              <a:rPr lang="en-US" dirty="0">
                <a:solidFill>
                  <a:schemeClr val="bg1"/>
                </a:solidFill>
              </a:rPr>
              <a:t>/idea/2024/03/easy-hacks-how-to-throw-java-exceptions/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17497-B1B3-C993-6DEC-073E11BF5B7C}"/>
              </a:ext>
            </a:extLst>
          </p:cNvPr>
          <p:cNvSpPr txBox="1"/>
          <p:nvPr/>
        </p:nvSpPr>
        <p:spPr>
          <a:xfrm>
            <a:off x="876300" y="3028890"/>
            <a:ext cx="10439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Google Sans Code Medium" panose="020B0509030502040204" pitchFamily="34" charset="77"/>
              </a:rPr>
              <a:t>throw new </a:t>
            </a:r>
            <a:r>
              <a:rPr lang="en-US" sz="2000" dirty="0" err="1">
                <a:solidFill>
                  <a:schemeClr val="bg1"/>
                </a:solidFill>
                <a:latin typeface="Google Sans Code Medium" panose="020B0509030502040204" pitchFamily="34" charset="77"/>
              </a:rPr>
              <a:t>RuntimeException</a:t>
            </a:r>
            <a:r>
              <a:rPr lang="en-US" sz="2000" dirty="0">
                <a:solidFill>
                  <a:schemeClr val="bg1"/>
                </a:solidFill>
                <a:latin typeface="Google Sans Code Medium" panose="020B0509030502040204" pitchFamily="34" charset="77"/>
              </a:rPr>
              <a:t>("Something went wrong at runtime!");</a:t>
            </a:r>
          </a:p>
        </p:txBody>
      </p:sp>
    </p:spTree>
    <p:extLst>
      <p:ext uri="{BB962C8B-B14F-4D97-AF65-F5344CB8AC3E}">
        <p14:creationId xmlns:p14="http://schemas.microsoft.com/office/powerpoint/2010/main" val="37606189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152588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Fondasi Utama: Membaca Pesan Error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9066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Sebelum bisa memperbaiki masalah,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harus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tahu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dahulu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apa yang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bermasalah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Kemampuan pertama yang wajib dimiliki bukanlah mengetik perbaikan, melainkan membaca pesan error.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17123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Logcat / Debug Console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594993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Pelajari cara memfilter log berdasarkan severity (Error, Warning, Info) dan nama tag aplikasi. Di Android Studio gunakan Logcat, di Xcode gunakan Debug Console, dan di Flutter gunakan DevTools.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3171230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Membaca Stack Trace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594993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Saat aplikasi crash, IDE akan mengeluarkan deretan teks merah. Pelajari cara membaca stack trace dari baris kode yang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kita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tulis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. 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C33A7D-EEB5-561F-7917-9BCF72D8F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915" y="1679837"/>
            <a:ext cx="9888415" cy="34983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3E4FE4-9857-0639-16C7-872844133761}"/>
              </a:ext>
            </a:extLst>
          </p:cNvPr>
          <p:cNvSpPr txBox="1"/>
          <p:nvPr/>
        </p:nvSpPr>
        <p:spPr>
          <a:xfrm>
            <a:off x="2373922" y="5595483"/>
            <a:ext cx="7772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D" b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Logcat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merupakan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sistem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pencatatan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(</a:t>
            </a:r>
            <a:r>
              <a:rPr lang="en-ID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logging tool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) yang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mengumpulkan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dan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menampilkan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semua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pesan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sistem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, </a:t>
            </a:r>
            <a:r>
              <a:rPr lang="en-ID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event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operasi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,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serta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output log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dari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aplikasi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yang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sedang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berjalan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dirty="0" err="1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secara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 </a:t>
            </a:r>
            <a:r>
              <a:rPr lang="en-ID" i="1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real-time</a:t>
            </a:r>
            <a:r>
              <a:rPr lang="en-ID" dirty="0">
                <a:solidFill>
                  <a:schemeClr val="bg1"/>
                </a:solidFill>
                <a:latin typeface="Heebo" pitchFamily="2" charset="-79"/>
                <a:cs typeface="Heebo" pitchFamily="2" charset="-79"/>
              </a:rPr>
              <a:t>.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3357DE72-BE99-54EF-FABD-0BEBD4BBA1C2}"/>
              </a:ext>
            </a:extLst>
          </p:cNvPr>
          <p:cNvSpPr/>
          <p:nvPr/>
        </p:nvSpPr>
        <p:spPr>
          <a:xfrm>
            <a:off x="661475" y="730151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 err="1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LogCat</a:t>
            </a:r>
            <a:endParaRPr lang="en-US" sz="2650" dirty="0"/>
          </a:p>
        </p:txBody>
      </p:sp>
    </p:spTree>
    <p:extLst>
      <p:ext uri="{BB962C8B-B14F-4D97-AF65-F5344CB8AC3E}">
        <p14:creationId xmlns:p14="http://schemas.microsoft.com/office/powerpoint/2010/main" val="3653237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730151"/>
            <a:ext cx="10868745" cy="427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Teknik Breakpoint &amp; Stepping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475" y="1328142"/>
            <a:ext cx="11478330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Hentikan kebiasaan hanya mengandalkan print() atau Log.d() untuk mengecek nilai variabel. Alat debugger bawaan IDE jauh lebih ampuh.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475" y="1769368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Konsep Dasar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475" y="2110978"/>
            <a:ext cx="5267292" cy="1014413"/>
          </a:xfrm>
          <a:prstGeom prst="roundRect">
            <a:avLst>
              <a:gd name="adj" fmla="val 567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04743" y="2254250"/>
            <a:ext cx="4980756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Breakpoints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743" y="2581672"/>
            <a:ext cx="4980756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Tanda titik merah di samping nomor baris kode yang berfungsi menghentikan sementara eksekusi aplikasi saat berjalan.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1475" y="3238798"/>
            <a:ext cx="5267292" cy="1014413"/>
          </a:xfrm>
          <a:prstGeom prst="roundRect">
            <a:avLst>
              <a:gd name="adj" fmla="val 5671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743" y="3382070"/>
            <a:ext cx="4980756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Variable Inspection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743" y="3709491"/>
            <a:ext cx="4980756" cy="400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Saat aplikasi berhenti di breakpoint, periksa nilai dari variabel-variabel yang ada secara real-time di panel Variables.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269278" y="1769368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Stepping Controls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69278" y="2110978"/>
            <a:ext cx="27383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9278" y="2324695"/>
            <a:ext cx="5267292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9278" y="2431256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Over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9278" y="2758678"/>
            <a:ext cx="526729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Menjalankan baris kode saat ini dan lanjut ke baris berikutnya.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69278" y="3175000"/>
            <a:ext cx="27383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9278" y="3375025"/>
            <a:ext cx="5267292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9278" y="3495278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Into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9278" y="3822700"/>
            <a:ext cx="526729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Masuk ke dalam fungsi yang sedang dipanggil untuk melihat proses di dalamnya.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9278" y="4239022"/>
            <a:ext cx="27383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9278" y="4425355"/>
            <a:ext cx="5267292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69278" y="4559300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Out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69278" y="4886722"/>
            <a:ext cx="526729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Selesai memeriksa fungsi dan langsung keluar kembali ke pemanggilnya.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9278" y="5303044"/>
            <a:ext cx="273837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04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9278" y="5475684"/>
            <a:ext cx="5267292" cy="19050"/>
          </a:xfrm>
          <a:prstGeom prst="rect">
            <a:avLst/>
          </a:prstGeom>
          <a:solidFill>
            <a:srgbClr val="581C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269278" y="5623322"/>
            <a:ext cx="5267292" cy="214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Resume Program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9278" y="5950744"/>
            <a:ext cx="5267292" cy="200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Melanjutkan eksekusi aplikasi sampai bertemu breakpoint berikutnya.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139352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 Tampilan (UI &amp; Layout Inspector)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15830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Bug pada aplikasi mobile tidak selalu membuat aplikasi crash, terkadang tampilannya yang "berantakan", elemen yang saling menumpuk, atau widget yang hilang.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03887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Layout Inspector / View Hierarchy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462635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alat bawaan IDE (seperti Layout Inspector di Android Studio atau Flutter Inspector) untuk melihat struktur pohon tampilan (view tree). Ini membantu mengidentifikasi widget yang tersembunyi, menumpuk, atau salah posisi.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303887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Overflows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462635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Pahami cara mengidentifikasi masalah ukuran layar, seperti error renderflex overflow pada Flutter atau constraint error pada Layout XML/Auto Layout. Pesan error ini biasanya disertai garis kuning-hitam (zebra stripe) pada layar.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855964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4B3F0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095677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8731" y="5062537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Jangan abaikan pesan overflow! Meskipun aplikasi tidak crash, overflow menandakan layout yang tidak responsif dan akan bermasalah di ukuran layar yang berbeda.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153481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Jenis Bug Khas Aplikasi Mobile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29959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Aplikasi seluler memiliki karakteristik unik yang berbeda dari aplikasi web atau desktop.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2750245"/>
            <a:ext cx="5351725" cy="1494830"/>
          </a:xfrm>
          <a:prstGeom prst="roundRect">
            <a:avLst>
              <a:gd name="adj" fmla="val 464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3119" y="2921893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NullPointer / Null Safety Error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119" y="3279577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Mencoba mengakses data dari objek yang nilainya belum diinisialisasi atau masih kosong (null). Salah satu penyebab crash paling umum pada aplikasi mobile.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2750245"/>
            <a:ext cx="5351725" cy="1494830"/>
          </a:xfrm>
          <a:prstGeom prst="roundRect">
            <a:avLst>
              <a:gd name="adj" fmla="val 464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50139" y="2921893"/>
            <a:ext cx="500843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ANR (Application Not Responding)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0139" y="3279577"/>
            <a:ext cx="500843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Terjadi ketika kamu menjalankan proses berat (seperti mengunduh file atau mengolah database) di Main Thread/UI Thread, sehingga layar aplikasi membeku selama lebih dari 5 detik.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4410373"/>
            <a:ext cx="10868745" cy="1230213"/>
          </a:xfrm>
          <a:prstGeom prst="roundRect">
            <a:avLst>
              <a:gd name="adj" fmla="val 5647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3119" y="4582021"/>
            <a:ext cx="105254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Lifecycle Issues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119" y="4939705"/>
            <a:ext cx="1052545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Aplikasi crash saat orientasi layar diputar (screen rotation) atau saat aplikasi ditinggalkan ke background karena status variabel hilang dari memori.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61475" y="139352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Debugging Network &amp; API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15830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Aplikasi mobile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saat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ini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 hampir selalu berkomunikasi dengan API/server backend.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61475" y="303887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Inspector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475" y="3462635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Android Studio memiliki Network Inspector bawaan yang menampilkan detail setiap request secara real-time.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3038872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Status Code &amp; JSON Parsing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3462635"/>
            <a:ext cx="5232666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Kemampuan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membedakan</a:t>
            </a:r>
            <a:r>
              <a:rPr lang="en-US" sz="13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apakah error berasal dari server (misalnya respon HTTP status 404 atau 500) atau dari kode aplikasi sendiri karena gagal melakukan parsing data JSON akibat tipe data yang tidak sesuai.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475" y="4855964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095677"/>
            <a:ext cx="206667" cy="16529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98731" y="5062537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Gunakan tools seperti Postman </a:t>
            </a:r>
            <a:r>
              <a:rPr lang="en-US" sz="1300" dirty="0" err="1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untuk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menguji endpoint API secara </a:t>
            </a:r>
            <a:r>
              <a:rPr lang="en-US" sz="1300" dirty="0" err="1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terpisah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dari</a:t>
            </a:r>
            <a:r>
              <a:rPr lang="en-US" sz="130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aplikasi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38688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Terima Kasih!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776041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56832" y="297140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💬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Pertanyaan &amp; Diskusi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380085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Sampaikan di forum diskusi atau langsung di kelas — tidak ada pertanyaan yang salah!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1475" y="4369296"/>
            <a:ext cx="6296860" cy="1101824"/>
          </a:xfrm>
          <a:prstGeom prst="roundRect">
            <a:avLst>
              <a:gd name="adj" fmla="val 7205"/>
            </a:avLst>
          </a:prstGeom>
          <a:solidFill>
            <a:srgbClr val="31136C"/>
          </a:solidFill>
          <a:ln w="635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56832" y="4564658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</a:t>
            </a:r>
            <a:r>
              <a:rPr lang="en-US" sz="18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Pertemuan Berikutnya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6832" y="4973340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450" b="1" dirty="0">
                <a:solidFill>
                  <a:srgbClr val="DCD7E5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UTS</a:t>
            </a:r>
            <a:endParaRPr lang="en-US" sz="14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273F9E9-DBF9-530E-04A6-80D73F57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4279" y="0"/>
            <a:ext cx="382772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2082</Words>
  <Application>Microsoft Macintosh PowerPoint</Application>
  <PresentationFormat>Widescreen</PresentationFormat>
  <Paragraphs>279</Paragraphs>
  <Slides>33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Heebo Light</vt:lpstr>
      <vt:lpstr>Arial</vt:lpstr>
      <vt:lpstr>Heebo</vt:lpstr>
      <vt:lpstr>Montserrat Light</vt:lpstr>
      <vt:lpstr>Montserrat</vt:lpstr>
      <vt:lpstr>Google Sans Code Medium</vt:lpstr>
      <vt:lpstr>Heebo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Azis Amirulbahar</cp:lastModifiedBy>
  <cp:revision>15</cp:revision>
  <dcterms:created xsi:type="dcterms:W3CDTF">2026-09-23T08:40:26Z</dcterms:created>
  <dcterms:modified xsi:type="dcterms:W3CDTF">2026-10-02T01:27:55Z</dcterms:modified>
</cp:coreProperties>
</file>