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9" r:id="rId10"/>
    <p:sldId id="264" r:id="rId11"/>
    <p:sldId id="265" r:id="rId12"/>
    <p:sldId id="266" r:id="rId13"/>
    <p:sldId id="267" r:id="rId14"/>
    <p:sldId id="268" r:id="rId15"/>
    <p:sldId id="290" r:id="rId16"/>
    <p:sldId id="269" r:id="rId17"/>
    <p:sldId id="278" r:id="rId18"/>
    <p:sldId id="279" r:id="rId19"/>
    <p:sldId id="270" r:id="rId20"/>
    <p:sldId id="271" r:id="rId21"/>
    <p:sldId id="272" r:id="rId22"/>
    <p:sldId id="273" r:id="rId23"/>
    <p:sldId id="275" r:id="rId24"/>
    <p:sldId id="288" r:id="rId25"/>
    <p:sldId id="277" r:id="rId26"/>
  </p:sldIdLst>
  <p:sldSz cx="12192000" cy="6858000"/>
  <p:notesSz cx="6858000" cy="12192000"/>
  <p:embeddedFontLs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Heebo" pitchFamily="2" charset="-79"/>
      <p:regular r:id="rId32"/>
      <p:bold r:id="rId33"/>
    </p:embeddedFont>
    <p:embeddedFont>
      <p:font typeface="Heebo Bold"/>
      <p:regular r:id="rId34"/>
      <p:bold r:id="rId35"/>
    </p:embeddedFont>
    <p:embeddedFont>
      <p:font typeface="Heebo Light" pitchFamily="2" charset="-79"/>
      <p:regular r:id="rId36"/>
    </p:embeddedFont>
    <p:embeddedFont>
      <p:font typeface="Montserrat" pitchFamily="2" charset="77"/>
      <p:regular r:id="rId37"/>
      <p:bold r:id="rId38"/>
      <p:italic r:id="rId39"/>
      <p:boldItalic r:id="rId40"/>
    </p:embeddedFont>
    <p:embeddedFont>
      <p:font typeface="Montserrat Light" panose="00000400000000000000" pitchFamily="2" charset="77"/>
      <p:regular r:id="rId41"/>
      <p:italic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32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855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2C5AF-2FEB-AFC0-0285-1282EA71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F00F9-ACEE-BBFD-3D70-A8EC31D02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F5FE2-13C3-8656-EF36-006F9FD20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79A7E-E1F8-31C0-43A3-52C16C8B2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09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46027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Management &amp; Recomposition: Membangun UI Interaktif di Jetpack Compose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92091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Pemrograman Mobile — IF21507 | Pertemuan ke-5 | 2 SKS (100 Menit)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Dosen: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Azis Amirulbahar, S.Pd., M.T.I.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| Prodi Informatika, Fakultas Teknik, Universitas Jenderal Soedirman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Capaian Pembelajaran Pertemuan Ini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563" y="159583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&amp; Recomposition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Memahami konsep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</a:t>
            </a: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mekanisme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Recomposition</a:t>
            </a: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Jetpack Compose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5563" y="261947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 &amp; mutableStateOf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Menggunakan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remember</a:t>
            </a: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mutableStateOf</a:t>
            </a: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untuk menyimpan State reaktif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5563" y="364311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rememberSaveable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Menerapkan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rememberSaveable</a:t>
            </a: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agar State bertahan saat rotasi layar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5563" y="466675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Hoisting &amp; UDF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Mengimplementasikan pola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 Hoisting</a:t>
            </a: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Unidirectional Data Flow (UDF)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5563" y="569039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Stateful vs Stateless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Membedakan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Stateful</a:t>
            </a: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vs </a:t>
            </a: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Stateless Composable</a:t>
            </a: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kapan menggunakannya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1139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Itu State?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5233360" y="1341239"/>
            <a:ext cx="1955652" cy="114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</a:t>
            </a: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adalah data yang menentukan tampilan UI pada waktu tertentu — jika State berubah, UI harus berubah.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33360" y="2602309"/>
            <a:ext cx="1955652" cy="1967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Teks yang diketik di TextField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Status checkbox (dicentang / tidak)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Jumlah item di keranjang belanja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Status toggle favorit (</a:t>
            </a: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❤️</a:t>
            </a: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/ </a:t>
            </a: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🤍</a:t>
            </a: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33360" y="4715272"/>
            <a:ext cx="1955652" cy="1455837"/>
          </a:xfrm>
          <a:prstGeom prst="roundRect">
            <a:avLst>
              <a:gd name="adj" fmla="val 4516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825" y="4912122"/>
            <a:ext cx="195654" cy="156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41943" y="4870946"/>
            <a:ext cx="1290605" cy="1144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Aturan</a:t>
            </a:r>
            <a: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:</a:t>
            </a:r>
            <a:br>
              <a:rPr lang="en-US" sz="12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</a:b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UI = f(State) </a:t>
            </a:r>
            <a:r>
              <a:rPr lang="en-US" sz="1200" i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tampilan adalah fungsi dari data yang ada saat ini</a:t>
            </a:r>
            <a:r>
              <a:rPr lang="en-US" sz="12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7146" y="2988072"/>
            <a:ext cx="3959324" cy="1565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951"/>
            <a:ext cx="10868745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Itu Recomposition?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" y="994668"/>
            <a:ext cx="10489541" cy="51274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214" y="2758843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Berubah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87038" y="1585015"/>
            <a:ext cx="2660747" cy="30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Compose Mendeteksi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00939" y="3997885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Recomposition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840750" y="5193450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 Diperbarui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193135"/>
            <a:ext cx="1147833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Compose hanya me-recompose fungsi yang </a:t>
            </a:r>
            <a:r>
              <a:rPr lang="en-US" sz="8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terpengaruh</a:t>
            </a: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oleh perubahan State — bukan seluruh UI. Recomposition bersifat </a:t>
            </a: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idempoten</a:t>
            </a: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hasil yang sama untuk input yang sama.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244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Variabel Biasa Tidak Bisa Memicu UI Update?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6934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Kode yang SALAH (tidak reaktif)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948087"/>
            <a:ext cx="10868745" cy="2797373"/>
          </a:xfrm>
          <a:prstGeom prst="roundRect">
            <a:avLst>
              <a:gd name="adj" fmla="val 2838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8283" y="3137098"/>
            <a:ext cx="10415129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Variabel biasa — Compose tidak memantau ini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count = 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Button(onClick = { count++ })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Text("Count: $count")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Klik tombol → nilai berubah di memori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tapi UI tidak pernah diperbarui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07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Solusi: </a:t>
            </a:r>
            <a:r>
              <a:rPr lang="en-US" sz="370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mutableStateOf</a:t>
            </a: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Penampung Data Reaktif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6139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mutableStateOf&lt;T&gt;()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membungkus nilai dalam objek State yang dipantau oleh Compose runtime. Setiap kali nilai di dalamnya berubah, Compose otomatis menjadwalkan Recomposition.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78857"/>
            <a:ext cx="10868745" cy="2183904"/>
          </a:xfrm>
          <a:prstGeom prst="roundRect">
            <a:avLst>
              <a:gd name="adj" fmla="val 363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825" y="3085207"/>
            <a:ext cx="5428023" cy="2171204"/>
          </a:xfrm>
          <a:custGeom>
            <a:avLst/>
            <a:gdLst/>
            <a:ahLst/>
            <a:cxnLst/>
            <a:rect l="l" t="t" r="r" b="b"/>
            <a:pathLst>
              <a:path w="5428023" h="2171204">
                <a:moveTo>
                  <a:pt x="66156" y="0"/>
                </a:moveTo>
                <a:lnTo>
                  <a:pt x="5428023" y="0"/>
                </a:lnTo>
                <a:lnTo>
                  <a:pt x="5428023" y="2171204"/>
                </a:lnTo>
                <a:lnTo>
                  <a:pt x="66156" y="2171204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6832" y="327421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Sebelum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56832" y="3782120"/>
            <a:ext cx="5050009" cy="982861"/>
          </a:xfrm>
          <a:prstGeom prst="roundRect">
            <a:avLst>
              <a:gd name="adj" fmla="val 8077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83640" y="3971131"/>
            <a:ext cx="459639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count = 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Tidak reaktif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48" y="3085207"/>
            <a:ext cx="5428023" cy="2171204"/>
          </a:xfrm>
          <a:custGeom>
            <a:avLst/>
            <a:gdLst/>
            <a:ahLst/>
            <a:cxnLst/>
            <a:rect l="l" t="t" r="r" b="b"/>
            <a:pathLst>
              <a:path w="5428023" h="2171204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2105046"/>
                </a:lnTo>
                <a:arcTo wR="66156" hR="66158" stAng="0" swAng="5400000"/>
                <a:lnTo>
                  <a:pt x="0" y="2171204"/>
                </a:lnTo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95848" y="3085207"/>
            <a:ext cx="25399" cy="2171204"/>
          </a:xfrm>
          <a:prstGeom prst="roundRect">
            <a:avLst>
              <a:gd name="adj" fmla="val 50001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84854" y="327421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Sesudah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284854" y="3782120"/>
            <a:ext cx="5050009" cy="1285280"/>
          </a:xfrm>
          <a:prstGeom prst="roundRect">
            <a:avLst>
              <a:gd name="adj" fmla="val 6177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1663" y="3971131"/>
            <a:ext cx="459639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countState =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mutableStateOf(0)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Compose memantau ini!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5475387"/>
            <a:ext cx="10868745" cy="680442"/>
          </a:xfrm>
          <a:prstGeom prst="roundRect">
            <a:avLst>
              <a:gd name="adj" fmla="val 11667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8283" y="5664398"/>
            <a:ext cx="1102471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countState = mutableStateOf(0) //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833"/>
            <a:ext cx="10868745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</a:t>
            </a: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Menjaga State Tetap Hidup saat Recomposition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057698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remember diperlukan?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470646"/>
            <a:ext cx="5228995" cy="1153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Tanpa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remember { }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setiap Recomposition akan menginisialisasi ulang variabel dari awal — nilai selalu kembali ke 0.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remember { }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menyimpan nilai di memori Compose dan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tidak me-reset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nilainya saat Recomposition terjadi.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792637"/>
            <a:ext cx="5228995" cy="614958"/>
          </a:xfrm>
          <a:prstGeom prst="roundRect">
            <a:avLst>
              <a:gd name="adj" fmla="val 11497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46" y="4015184"/>
            <a:ext cx="210338" cy="168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8355" y="3969643"/>
            <a:ext cx="5123429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Nilai bertahan antar Recomposition </a:t>
            </a: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7575" y="2057698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 — Kombinasi remember + mutableStateOf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307575" y="2489398"/>
            <a:ext cx="5228995" cy="3569097"/>
          </a:xfrm>
          <a:prstGeom prst="roundRect">
            <a:avLst>
              <a:gd name="adj" fmla="val 198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09579" y="2657673"/>
            <a:ext cx="4824986" cy="3232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Counter()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 countState = remember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mutableStateOf(0)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Button(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onClick = { countState.value++ }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Text("Count: ${countState.value}")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395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Delegasi Properti Kotlin: Sintaks </a:t>
            </a:r>
            <a:r>
              <a:rPr lang="en-US" sz="325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"by"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yang Lebih Bersih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44278"/>
            <a:ext cx="5434373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265043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 — Verbose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26769" y="3071614"/>
            <a:ext cx="5103784" cy="1653679"/>
          </a:xfrm>
          <a:prstGeom prst="roundRect">
            <a:avLst>
              <a:gd name="adj" fmla="val 420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5202" y="3236913"/>
            <a:ext cx="4706919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countState = remember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mutableStateOf(0)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Akses: countState.value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Tulis: countState.value++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844278"/>
            <a:ext cx="5434373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1142" y="2650430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4 — Idiomatik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61142" y="3071614"/>
            <a:ext cx="5103784" cy="1653679"/>
          </a:xfrm>
          <a:prstGeom prst="roundRect">
            <a:avLst>
              <a:gd name="adj" fmla="val 420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59574" y="3236913"/>
            <a:ext cx="4706919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count by remember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mutableStateOf(0)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Akses: count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Tulis: count++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1475" y="5053310"/>
            <a:ext cx="1147833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mendukung delegasi properti dengan kata kunci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by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menghilangkan kebutuhan menulis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.value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setiap saat. Wajib import: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61475" y="5476776"/>
            <a:ext cx="10868745" cy="859830"/>
          </a:xfrm>
          <a:prstGeom prst="roundRect">
            <a:avLst>
              <a:gd name="adj" fmla="val 8079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59907" y="5642074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androidx.compose.runtime.getValue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androidx.compose.runtime.setValue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75CBD-0DD8-9AAA-47A4-FB7C1DF2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46" y="274831"/>
            <a:ext cx="9462507" cy="630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8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23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Masalah: State Hilang saat Rotasi Layar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654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yang terjadi saat rotasi?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49773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Rotasi layar =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Configuration Change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→ Activity di-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destroy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dibuat ulang dari awal.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remember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hanya bertahan selama Composable hidup di memori. Saat Activity di-destroy, semua State yang disimpan dengan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remember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akan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hilang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2776" y="2489101"/>
          <a:ext cx="5203794" cy="1966268"/>
        </p:xfrm>
        <a:graphic>
          <a:graphicData uri="http://schemas.openxmlformats.org/drawingml/2006/table">
            <a:tbl>
              <a:tblPr/>
              <a:tblGrid>
                <a:gridCol w="2081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API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Recomposition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Rotasi Layar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9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remember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Bertahan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Hilang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rememberSaveable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Bertahan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Bertahan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32776" y="468074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Solusinya: gunakan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rememberSaveable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untuk State yang penting bagi pengguna.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00609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rememberSaveable</a:t>
            </a: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State yang Bertahan saat Rotasi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95602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rememberSaveable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menyimpan State ke dalam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Bundle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(mekanisme Android) — bertahan saat Activity di-destroy karena Configuration Change.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773488"/>
            <a:ext cx="6296860" cy="2183904"/>
          </a:xfrm>
          <a:prstGeom prst="roundRect">
            <a:avLst>
              <a:gd name="adj" fmla="val 363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28717" y="396884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5 — Counter Tahan Rotasi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428717" y="4476750"/>
            <a:ext cx="5906146" cy="1285280"/>
          </a:xfrm>
          <a:prstGeom prst="roundRect">
            <a:avLst>
              <a:gd name="adj" fmla="val 6177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55526" y="4665762"/>
            <a:ext cx="54525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count by rememberSaveable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mutableStateOf(0)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3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Perbandingan: remember vs rememberSaveable</a:t>
            </a:r>
            <a:endParaRPr lang="en-US" sz="3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53159"/>
          <a:ext cx="10868745" cy="2243279"/>
        </p:xfrm>
        <a:graphic>
          <a:graphicData uri="http://schemas.openxmlformats.org/drawingml/2006/table">
            <a:tbl>
              <a:tblPr/>
              <a:tblGrid>
                <a:gridCol w="326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8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8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API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Recomposition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Rotasi Layar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Use Case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remember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Bertahan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Hilang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Animasi, fokus UI sementara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rememberSaveable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Bertahan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Bertahan</a:t>
                      </a:r>
                      <a:endParaRPr lang="en-US" sz="145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Input pengguna, status interaksi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4721820"/>
            <a:ext cx="5339820" cy="1442343"/>
          </a:xfrm>
          <a:prstGeom prst="roundRect">
            <a:avLst>
              <a:gd name="adj" fmla="val 5504"/>
            </a:avLst>
          </a:prstGeom>
          <a:solidFill>
            <a:srgbClr val="0D0A2C">
              <a:alpha val="95000"/>
            </a:srgbClr>
          </a:solidFill>
          <a:ln w="25399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5881" y="493623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Gunakan remember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5344914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sementara yang tidak perlu dipertahankan: animasi, state fokus UI lokal.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90301" y="4721820"/>
            <a:ext cx="5339919" cy="1442343"/>
          </a:xfrm>
          <a:prstGeom prst="roundRect">
            <a:avLst>
              <a:gd name="adj" fmla="val 5504"/>
            </a:avLst>
          </a:prstGeom>
          <a:solidFill>
            <a:srgbClr val="0D0A2C">
              <a:alpha val="95000"/>
            </a:srgbClr>
          </a:solidFill>
          <a:ln w="25399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4708" y="4936232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Gunakan rememberSaveable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404708" y="5344914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Input pengguna, status toggle, posisi scroll — state yang harus konsisten lintas rotasi.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829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Masalah Stateful Composable: Sulit Diuji &amp; Tidak Reusable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2090539"/>
            <a:ext cx="521828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Contoh Stateful (kurang ideal untuk komponen reusable)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2837557"/>
            <a:ext cx="5218280" cy="2905621"/>
          </a:xfrm>
          <a:prstGeom prst="roundRect">
            <a:avLst>
              <a:gd name="adj" fmla="val 256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4095" y="3014762"/>
            <a:ext cx="4793039" cy="2551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CounterStateful()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count by remember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mutableStateOf(0)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Button(onClick = { count++ })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Text("Count: $count")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18290" y="2090539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Masalah yang muncul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83029" y="2615109"/>
            <a:ext cx="46535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Logika &amp; Tampilan Bercampur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83029" y="3058120"/>
            <a:ext cx="465354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dikelola di dalam komponen yang sama dengan tampilan — sulit dipisahkan untuk pengujian.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83029" y="4000401"/>
            <a:ext cx="46535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Tidak Reusable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83029" y="4443413"/>
            <a:ext cx="465354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Tidak bisa digunakan ulang dengan data berbeda tanpa mengubah kode internal komponen.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83029" y="5385693"/>
            <a:ext cx="465354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Solusi: State Hoisting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83029" y="5828705"/>
            <a:ext cx="4653541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Angkat State ke Parent — jadikan komponen ini Stateless.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Solusi: </a:t>
            </a:r>
            <a:r>
              <a:rPr lang="en-US" sz="315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Hoisting</a:t>
            </a:r>
            <a:r>
              <a:rPr lang="en-US" sz="3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Angkat State ke Parent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38" y="1393726"/>
            <a:ext cx="6207664" cy="4789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75205" y="3519497"/>
            <a:ext cx="1082665" cy="49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Hoisting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40265" y="4980966"/>
            <a:ext cx="1610656" cy="49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Child menerima data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640265" y="5546518"/>
            <a:ext cx="1610656" cy="184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Child bersifat stateless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77843" y="3304526"/>
            <a:ext cx="1645865" cy="49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 update State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77843" y="3870079"/>
            <a:ext cx="1645865" cy="36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Parent menangani event dan ubah State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55609" y="4888953"/>
            <a:ext cx="1610656" cy="49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onEvent (Event Up)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955609" y="5454506"/>
            <a:ext cx="1610656" cy="36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Child mengirim event ke Parent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9228" y="3295724"/>
            <a:ext cx="1645865" cy="495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(State Down)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309228" y="3861276"/>
            <a:ext cx="1645865" cy="36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Parameter yang diteruskan ke Child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58327" y="1521633"/>
            <a:ext cx="1654667" cy="74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 menyimpan State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3258327" y="2334752"/>
            <a:ext cx="1654667" cy="368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diangkat ke Parent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90084" y="2476798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Prinsip State Hoisting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990084" y="2870101"/>
            <a:ext cx="3546485" cy="2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 Hoisting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= memindahkan State dari child composable ke parent, menjadikan child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Stateless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Child hanya menerima data (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 Down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sebagai parameter fungsi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Child mengirim event (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Event Up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via lambda callback ke Parent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Ini adalah inti dari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Unidirectional Data Flow (UDF)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Compose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18CE-A941-2263-429E-7DA91BF2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D338A446-B775-E2C0-A63C-7D6DDCF8B22C}"/>
              </a:ext>
            </a:extLst>
          </p:cNvPr>
          <p:cNvSpPr/>
          <p:nvPr/>
        </p:nvSpPr>
        <p:spPr>
          <a:xfrm>
            <a:off x="6311940" y="2844931"/>
            <a:ext cx="5880060" cy="3674622"/>
          </a:xfrm>
          <a:prstGeom prst="roundRect">
            <a:avLst>
              <a:gd name="adj" fmla="val 256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82754BE-5495-C595-5839-12C4BFF0FC68}"/>
              </a:ext>
            </a:extLst>
          </p:cNvPr>
          <p:cNvSpPr/>
          <p:nvPr/>
        </p:nvSpPr>
        <p:spPr>
          <a:xfrm>
            <a:off x="661475" y="567829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Contoh</a:t>
            </a:r>
            <a:r>
              <a:rPr lang="en-US" sz="3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Perbaikan</a:t>
            </a:r>
            <a:endParaRPr lang="en-US" sz="3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70F6DB-23A2-AC34-CB70-37696B7CC28F}"/>
              </a:ext>
            </a:extLst>
          </p:cNvPr>
          <p:cNvSpPr/>
          <p:nvPr/>
        </p:nvSpPr>
        <p:spPr>
          <a:xfrm>
            <a:off x="661475" y="2090539"/>
            <a:ext cx="521828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⚠️</a:t>
            </a: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Contoh Stateful (kurang ideal untuk komponen reusable)</a:t>
            </a:r>
            <a:endParaRPr lang="en-US" sz="1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B6165F-396E-3223-7FD7-A9A918EB37DD}"/>
              </a:ext>
            </a:extLst>
          </p:cNvPr>
          <p:cNvSpPr/>
          <p:nvPr/>
        </p:nvSpPr>
        <p:spPr>
          <a:xfrm>
            <a:off x="661475" y="2837557"/>
            <a:ext cx="5218280" cy="2905621"/>
          </a:xfrm>
          <a:prstGeom prst="roundRect">
            <a:avLst>
              <a:gd name="adj" fmla="val 256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9DBA19-8A2B-170E-8B6F-7A1E53EAE2E2}"/>
              </a:ext>
            </a:extLst>
          </p:cNvPr>
          <p:cNvSpPr/>
          <p:nvPr/>
        </p:nvSpPr>
        <p:spPr>
          <a:xfrm>
            <a:off x="874095" y="3014762"/>
            <a:ext cx="4793039" cy="2551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CounterStateful()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count by remember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mutableStateOf(0)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Button(onClick = { count++ })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Text("Count: $count")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99CE24-F3E6-3547-49C1-EE141B339A5D}"/>
              </a:ext>
            </a:extLst>
          </p:cNvPr>
          <p:cNvSpPr/>
          <p:nvPr/>
        </p:nvSpPr>
        <p:spPr>
          <a:xfrm>
            <a:off x="6318290" y="2090539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 err="1">
                <a:solidFill>
                  <a:srgbClr val="F2F0F4"/>
                </a:solidFill>
                <a:latin typeface="Montserrat" pitchFamily="34" charset="0"/>
              </a:rPr>
              <a:t>Kuragng</a:t>
            </a:r>
            <a:r>
              <a:rPr lang="en-US" sz="1700" dirty="0">
                <a:solidFill>
                  <a:srgbClr val="F2F0F4"/>
                </a:solidFill>
                <a:latin typeface="Montserrat" pitchFamily="34" charset="0"/>
              </a:rPr>
              <a:t> ideal </a:t>
            </a:r>
            <a:r>
              <a:rPr lang="en-US" sz="1700" dirty="0" err="1">
                <a:solidFill>
                  <a:srgbClr val="F2F0F4"/>
                </a:solidFill>
                <a:latin typeface="Montserrat" pitchFamily="34" charset="0"/>
              </a:rPr>
              <a:t>bukan</a:t>
            </a:r>
            <a:r>
              <a:rPr lang="en-US" sz="1700" dirty="0">
                <a:solidFill>
                  <a:srgbClr val="F2F0F4"/>
                </a:solidFill>
                <a:latin typeface="Montserrat" pitchFamily="34" charset="0"/>
              </a:rPr>
              <a:t> </a:t>
            </a:r>
            <a:r>
              <a:rPr lang="en-US" sz="1700" dirty="0" err="1">
                <a:solidFill>
                  <a:srgbClr val="F2F0F4"/>
                </a:solidFill>
                <a:latin typeface="Montserrat" pitchFamily="34" charset="0"/>
              </a:rPr>
              <a:t>berarti</a:t>
            </a:r>
            <a:r>
              <a:rPr lang="en-US" sz="1700" dirty="0">
                <a:solidFill>
                  <a:srgbClr val="F2F0F4"/>
                </a:solidFill>
                <a:latin typeface="Montserrat" pitchFamily="34" charset="0"/>
              </a:rPr>
              <a:t> </a:t>
            </a:r>
            <a:r>
              <a:rPr lang="en-US" sz="1700" dirty="0" err="1">
                <a:solidFill>
                  <a:srgbClr val="F2F0F4"/>
                </a:solidFill>
                <a:latin typeface="Montserrat" pitchFamily="34" charset="0"/>
              </a:rPr>
              <a:t>ada</a:t>
            </a:r>
            <a:r>
              <a:rPr lang="en-US" sz="1700" dirty="0">
                <a:solidFill>
                  <a:srgbClr val="F2F0F4"/>
                </a:solidFill>
                <a:latin typeface="Montserrat" pitchFamily="34" charset="0"/>
              </a:rPr>
              <a:t> bugs</a:t>
            </a:r>
            <a:endParaRPr lang="en-US" sz="1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693215-8868-F622-8252-A7783D80F40E}"/>
              </a:ext>
            </a:extLst>
          </p:cNvPr>
          <p:cNvSpPr txBox="1"/>
          <p:nvPr/>
        </p:nvSpPr>
        <p:spPr>
          <a:xfrm>
            <a:off x="6526207" y="2943304"/>
            <a:ext cx="609797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B0F0"/>
                </a:solidFill>
              </a:rPr>
              <a:t>// 1. Stateless (Sangat </a:t>
            </a:r>
            <a:r>
              <a:rPr lang="en-US" sz="1000" dirty="0" err="1">
                <a:solidFill>
                  <a:srgbClr val="00B0F0"/>
                </a:solidFill>
              </a:rPr>
              <a:t>mudah</a:t>
            </a:r>
            <a:r>
              <a:rPr lang="en-US" sz="1000" dirty="0">
                <a:solidFill>
                  <a:srgbClr val="00B0F0"/>
                </a:solidFill>
              </a:rPr>
              <a:t> di-reuse dan </a:t>
            </a:r>
            <a:r>
              <a:rPr lang="en-US" sz="1000" dirty="0" err="1">
                <a:solidFill>
                  <a:srgbClr val="00B0F0"/>
                </a:solidFill>
              </a:rPr>
              <a:t>dites</a:t>
            </a:r>
            <a:r>
              <a:rPr lang="en-US" sz="1000" dirty="0">
                <a:solidFill>
                  <a:srgbClr val="00B0F0"/>
                </a:solidFill>
              </a:rPr>
              <a:t>)</a:t>
            </a:r>
          </a:p>
          <a:p>
            <a:r>
              <a:rPr lang="en-US" sz="1000" dirty="0">
                <a:solidFill>
                  <a:srgbClr val="00B0F0"/>
                </a:solidFill>
              </a:rPr>
              <a:t>@Composable</a:t>
            </a:r>
          </a:p>
          <a:p>
            <a:r>
              <a:rPr lang="en-US" sz="1000" dirty="0">
                <a:solidFill>
                  <a:srgbClr val="00B0F0"/>
                </a:solidFill>
              </a:rPr>
              <a:t>fun </a:t>
            </a:r>
            <a:r>
              <a:rPr lang="en-US" sz="1000" dirty="0" err="1">
                <a:solidFill>
                  <a:srgbClr val="00B0F0"/>
                </a:solidFill>
              </a:rPr>
              <a:t>CounterButton</a:t>
            </a:r>
            <a:r>
              <a:rPr lang="en-US" sz="1000" dirty="0">
                <a:solidFill>
                  <a:srgbClr val="00B0F0"/>
                </a:solidFill>
              </a:rPr>
              <a:t>(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count: Int,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</a:t>
            </a:r>
            <a:r>
              <a:rPr lang="en-US" sz="1000" dirty="0" err="1">
                <a:solidFill>
                  <a:srgbClr val="00B0F0"/>
                </a:solidFill>
              </a:rPr>
              <a:t>onIncrement</a:t>
            </a:r>
            <a:r>
              <a:rPr lang="en-US" sz="1000" dirty="0">
                <a:solidFill>
                  <a:srgbClr val="00B0F0"/>
                </a:solidFill>
              </a:rPr>
              <a:t>: () -&gt; Unit,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modifier: Modifier = Modifier</a:t>
            </a:r>
          </a:p>
          <a:p>
            <a:r>
              <a:rPr lang="en-US" sz="1000" dirty="0">
                <a:solidFill>
                  <a:srgbClr val="00B0F0"/>
                </a:solidFill>
              </a:rPr>
              <a:t>) {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Button(</a:t>
            </a:r>
            <a:r>
              <a:rPr lang="en-US" sz="1000" dirty="0" err="1">
                <a:solidFill>
                  <a:srgbClr val="00B0F0"/>
                </a:solidFill>
              </a:rPr>
              <a:t>onClick</a:t>
            </a:r>
            <a:r>
              <a:rPr lang="en-US" sz="1000" dirty="0">
                <a:solidFill>
                  <a:srgbClr val="00B0F0"/>
                </a:solidFill>
              </a:rPr>
              <a:t> = </a:t>
            </a:r>
            <a:r>
              <a:rPr lang="en-US" sz="1000" dirty="0" err="1">
                <a:solidFill>
                  <a:srgbClr val="00B0F0"/>
                </a:solidFill>
              </a:rPr>
              <a:t>onIncrement</a:t>
            </a:r>
            <a:r>
              <a:rPr lang="en-US" sz="1000" dirty="0">
                <a:solidFill>
                  <a:srgbClr val="00B0F0"/>
                </a:solidFill>
              </a:rPr>
              <a:t>, modifier = modifier) {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    Text("Count: $count")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}</a:t>
            </a:r>
          </a:p>
          <a:p>
            <a:r>
              <a:rPr lang="en-US" sz="1000" dirty="0">
                <a:solidFill>
                  <a:srgbClr val="00B0F0"/>
                </a:solidFill>
              </a:rPr>
              <a:t>}</a:t>
            </a:r>
          </a:p>
          <a:p>
            <a:endParaRPr lang="en-US" sz="1000" dirty="0">
              <a:solidFill>
                <a:srgbClr val="00B0F0"/>
              </a:solidFill>
            </a:endParaRPr>
          </a:p>
          <a:p>
            <a:r>
              <a:rPr lang="en-US" sz="1000" dirty="0">
                <a:solidFill>
                  <a:srgbClr val="00B0F0"/>
                </a:solidFill>
              </a:rPr>
              <a:t>// 2. Stateful (Container </a:t>
            </a:r>
            <a:r>
              <a:rPr lang="en-US" sz="1000" dirty="0" err="1">
                <a:solidFill>
                  <a:srgbClr val="00B0F0"/>
                </a:solidFill>
              </a:rPr>
              <a:t>pengelola</a:t>
            </a:r>
            <a:r>
              <a:rPr lang="en-US" sz="1000" dirty="0">
                <a:solidFill>
                  <a:srgbClr val="00B0F0"/>
                </a:solidFill>
              </a:rPr>
              <a:t> state)</a:t>
            </a:r>
          </a:p>
          <a:p>
            <a:r>
              <a:rPr lang="en-US" sz="1000" dirty="0">
                <a:solidFill>
                  <a:srgbClr val="00B0F0"/>
                </a:solidFill>
              </a:rPr>
              <a:t>@Composable</a:t>
            </a:r>
          </a:p>
          <a:p>
            <a:r>
              <a:rPr lang="en-US" sz="1000" dirty="0">
                <a:solidFill>
                  <a:srgbClr val="00B0F0"/>
                </a:solidFill>
              </a:rPr>
              <a:t>fun </a:t>
            </a:r>
            <a:r>
              <a:rPr lang="en-US" sz="1000" dirty="0" err="1">
                <a:solidFill>
                  <a:srgbClr val="00B0F0"/>
                </a:solidFill>
              </a:rPr>
              <a:t>CounterScreen</a:t>
            </a:r>
            <a:r>
              <a:rPr lang="en-US" sz="1000" dirty="0">
                <a:solidFill>
                  <a:srgbClr val="00B0F0"/>
                </a:solidFill>
              </a:rPr>
              <a:t>() {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var count by </a:t>
            </a:r>
            <a:r>
              <a:rPr lang="en-US" sz="1000" dirty="0" err="1">
                <a:solidFill>
                  <a:srgbClr val="00B0F0"/>
                </a:solidFill>
              </a:rPr>
              <a:t>rememberSaveable</a:t>
            </a:r>
            <a:r>
              <a:rPr lang="en-US" sz="1000" dirty="0">
                <a:solidFill>
                  <a:srgbClr val="00B0F0"/>
                </a:solidFill>
              </a:rPr>
              <a:t> { </a:t>
            </a:r>
            <a:r>
              <a:rPr lang="en-US" sz="1000" dirty="0" err="1">
                <a:solidFill>
                  <a:srgbClr val="00B0F0"/>
                </a:solidFill>
              </a:rPr>
              <a:t>mutableStateOf</a:t>
            </a:r>
            <a:r>
              <a:rPr lang="en-US" sz="1000" dirty="0">
                <a:solidFill>
                  <a:srgbClr val="00B0F0"/>
                </a:solidFill>
              </a:rPr>
              <a:t>(0) }</a:t>
            </a:r>
          </a:p>
          <a:p>
            <a:endParaRPr lang="en-US" sz="1000" dirty="0">
              <a:solidFill>
                <a:srgbClr val="00B0F0"/>
              </a:solidFill>
            </a:endParaRPr>
          </a:p>
          <a:p>
            <a:r>
              <a:rPr lang="en-US" sz="1000" dirty="0">
                <a:solidFill>
                  <a:srgbClr val="00B0F0"/>
                </a:solidFill>
              </a:rPr>
              <a:t>    </a:t>
            </a:r>
            <a:r>
              <a:rPr lang="en-US" sz="1000" dirty="0" err="1">
                <a:solidFill>
                  <a:srgbClr val="00B0F0"/>
                </a:solidFill>
              </a:rPr>
              <a:t>CounterButton</a:t>
            </a:r>
            <a:r>
              <a:rPr lang="en-US" sz="1000" dirty="0">
                <a:solidFill>
                  <a:srgbClr val="00B0F0"/>
                </a:solidFill>
              </a:rPr>
              <a:t>(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    count = count,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    </a:t>
            </a:r>
            <a:r>
              <a:rPr lang="en-US" sz="1000" dirty="0" err="1">
                <a:solidFill>
                  <a:srgbClr val="00B0F0"/>
                </a:solidFill>
              </a:rPr>
              <a:t>onIncrement</a:t>
            </a:r>
            <a:r>
              <a:rPr lang="en-US" sz="1000" dirty="0">
                <a:solidFill>
                  <a:srgbClr val="00B0F0"/>
                </a:solidFill>
              </a:rPr>
              <a:t> = { count++ }</a:t>
            </a:r>
          </a:p>
          <a:p>
            <a:r>
              <a:rPr lang="en-US" sz="1000" dirty="0">
                <a:solidFill>
                  <a:srgbClr val="00B0F0"/>
                </a:solidFill>
              </a:rPr>
              <a:t>    )</a:t>
            </a:r>
          </a:p>
          <a:p>
            <a:r>
              <a:rPr lang="en-US" sz="1000" dirty="0">
                <a:solidFill>
                  <a:srgbClr val="00B0F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2086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141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Unidirectional Data Flow (UDF): </a:t>
            </a:r>
            <a:r>
              <a:rPr lang="en-US" sz="370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Down, Event Up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00734"/>
            <a:ext cx="10868745" cy="2047180"/>
          </a:xfrm>
          <a:prstGeom prst="roundRect">
            <a:avLst>
              <a:gd name="adj" fmla="val 3878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825" y="2707084"/>
            <a:ext cx="3618616" cy="2034480"/>
          </a:xfrm>
          <a:custGeom>
            <a:avLst/>
            <a:gdLst/>
            <a:ahLst/>
            <a:cxnLst/>
            <a:rect l="l" t="t" r="r" b="b"/>
            <a:pathLst>
              <a:path w="3618616" h="2034480">
                <a:moveTo>
                  <a:pt x="66156" y="0"/>
                </a:moveTo>
                <a:lnTo>
                  <a:pt x="3618616" y="0"/>
                </a:lnTo>
                <a:lnTo>
                  <a:pt x="3618616" y="2034480"/>
                </a:lnTo>
                <a:lnTo>
                  <a:pt x="66156" y="2034480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6832" y="2896096"/>
            <a:ext cx="29571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Down ↓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304778"/>
            <a:ext cx="295714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Parent meneruskan nilai State ke Child sebagai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parameter fungsi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Child hanya membaca — tidak mengubah State secara langsung.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6440" y="2707084"/>
            <a:ext cx="3618715" cy="203448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86440" y="2707084"/>
            <a:ext cx="25399" cy="2034480"/>
          </a:xfrm>
          <a:prstGeom prst="roundRect">
            <a:avLst>
              <a:gd name="adj" fmla="val 50001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8908" y="2896096"/>
            <a:ext cx="267377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Up ↑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758908" y="3304778"/>
            <a:ext cx="2673779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Child memanggil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lambda callback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(misal: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onIncrement: () → Unit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untuk memberi tahu Parent agar mengubah State.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5155" y="2707084"/>
            <a:ext cx="3618715" cy="2034480"/>
          </a:xfrm>
          <a:custGeom>
            <a:avLst/>
            <a:gdLst/>
            <a:ahLst/>
            <a:cxnLst/>
            <a:rect l="l" t="t" r="r" b="b"/>
            <a:pathLst>
              <a:path w="3618715" h="2034480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1968322"/>
                </a:lnTo>
                <a:arcTo wR="66156" hR="66158" stAng="0" swAng="5400000"/>
                <a:lnTo>
                  <a:pt x="0" y="2034480"/>
                </a:lnTo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05155" y="2707084"/>
            <a:ext cx="25399" cy="2034480"/>
          </a:xfrm>
          <a:prstGeom prst="roundRect">
            <a:avLst>
              <a:gd name="adj" fmla="val 50001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7623" y="2896096"/>
            <a:ext cx="29572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Source of Truth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377623" y="3304778"/>
            <a:ext cx="295724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hanya diubah di satu tempat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(Parent) — aliran data satu arah, mudah di-trace dan di-debug.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96054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228233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23" y="519678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UDF membuat aliran data </a:t>
            </a: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dapat diprediksi</a:t>
            </a: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tidak ada perubahan State tersembunyi dari berbagai tempat.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050206" y="3488035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0D0A2C">
              <a:alpha val="95000"/>
            </a:srgbClr>
          </a:solidFill>
          <a:ln w="25399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8274" y="3606105"/>
            <a:ext cx="236234" cy="2362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668921" y="3488035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0D0A2C">
              <a:alpha val="95000"/>
            </a:srgbClr>
          </a:solidFill>
          <a:ln w="25399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6989" y="3606105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4BB53F-C422-14F2-8ABB-92240AC03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43" y="118962"/>
            <a:ext cx="9930114" cy="66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55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8122D-04DA-8CC3-38BB-C0531AEA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03" y="113335"/>
            <a:ext cx="9946994" cy="66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28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873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Implementasi State Hoisting: Stateless Counter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505843"/>
            <a:ext cx="521828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Stateless Child — hanya menerima data &amp; callback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2246511"/>
            <a:ext cx="5218280" cy="2905621"/>
          </a:xfrm>
          <a:prstGeom prst="roundRect">
            <a:avLst>
              <a:gd name="adj" fmla="val 256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4095" y="2423716"/>
            <a:ext cx="4793039" cy="2551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CounterDisplay(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count: Int,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onIncrement: () -&gt; Unit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Button(onClick = onIncrement)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Text("Count: $count")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5338961"/>
            <a:ext cx="521828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Child tidak tahu dari mana </a:t>
            </a:r>
            <a:r>
              <a:rPr lang="en-US" sz="13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berasal atau bagaimana State dikelola — murni tampilan.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8290" y="1505843"/>
            <a:ext cx="521828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Stateful Parent — menyimpan &amp; mengelola State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18290" y="2246511"/>
            <a:ext cx="5218280" cy="3189089"/>
          </a:xfrm>
          <a:prstGeom prst="roundRect">
            <a:avLst>
              <a:gd name="adj" fmla="val 2334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911" y="2423716"/>
            <a:ext cx="4793039" cy="283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CounterScreen()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count by rememberSaveable {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mutableStateOf(0)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CounterDisplay(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 = count,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onIncrement = { count++ }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18290" y="5622429"/>
            <a:ext cx="521828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Parent adalah satu-satunya tempat State diubah — sesuai prinsip UDF.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" y="477441"/>
            <a:ext cx="4427228" cy="5903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5787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Keuntungan </a:t>
            </a:r>
            <a:r>
              <a:rPr lang="en-US" sz="280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Hoisting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04218"/>
            <a:ext cx="361743" cy="361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3360" y="1704380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Reusabilitas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233360" y="1996877"/>
            <a:ext cx="629686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CounterDisplay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bisa dipakai di mana saja dengan data berbeda tanpa modifikasi kode internal.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429173"/>
            <a:ext cx="361743" cy="361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33360" y="2929334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Testabilitas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233360" y="3221831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Stateless composable mudah diuji — cukup berikan nilai parameter dan verifikasi tampilan yang dihasilkan.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852168"/>
            <a:ext cx="361743" cy="3617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33360" y="4352330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Pemisahan Concern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5233360" y="4644827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Logika bisnis di Parent, tampilan di Child — sesuai prinsip 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Single Responsibility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070773"/>
            <a:ext cx="361743" cy="3617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33360" y="5570934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Predictability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233360" y="5863431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Satu sumber kebenaran (</a:t>
            </a:r>
            <a:r>
              <a:rPr lang="en-US" sz="11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single source of truth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untuk setiap State — tidak ada perubahan tersembunyi.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40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Stateful vs Stateless Composable: Ringkasan</a:t>
            </a:r>
            <a:endParaRPr lang="en-US" sz="3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52699"/>
          <a:ext cx="10868745" cy="3339817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1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0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Aspek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Stateful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Stateless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1C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Definisi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Menyimpan State internal dengan remember/rememberSaveable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Hanya menerima parameter dan callback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Cocok untuk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Screen-level composable (entry point aplikasi)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Komponen UI reusable (Button, Card, Item)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Reusabilitas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Rendah — State terikat di dalam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Tinggi — dapat dipakai ulang bebas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Testabilitas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Lebih kompleks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Mudah — input/output jelas</a:t>
                      </a:r>
                      <a:endParaRPr lang="en-US" sz="14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2C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5317927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585619"/>
            <a:ext cx="236234" cy="1890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555416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Best Practice:</a:t>
            </a: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Desain komponen sebagai Stateless, angkat State ke level tertinggi yang membutuhkannya.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638"/>
            <a:ext cx="10868745" cy="38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 Kasus: Favorite Toggle List </a:t>
            </a:r>
            <a:r>
              <a:rPr lang="en-US" sz="2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🎯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107083"/>
            <a:ext cx="696131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Skenario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73783"/>
            <a:ext cx="7570896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Daftar item yang bisa di-toggle sebagai favorit (</a:t>
            </a: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❤️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/</a:t>
            </a: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🤍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— menerapkan </a:t>
            </a: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semua konsep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pertemuan ini dalam satu komponen.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1608733"/>
            <a:ext cx="6961311" cy="357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State: </a:t>
            </a: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isFavorite: Boolean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disimpan di Parent dengan </a:t>
            </a: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rememberSaveable</a:t>
            </a:r>
            <a:endParaRPr lang="en-US" sz="950" dirty="0"/>
          </a:p>
          <a:p>
            <a:pPr marL="193040" indent="-193040" algn="l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Child (</a:t>
            </a: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FavoriteItem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menerima </a:t>
            </a: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isFavorite</a:t>
            </a: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9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onToggle: () → Unit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2043708"/>
            <a:ext cx="696131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 — Definisi Stateless Child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320131"/>
            <a:ext cx="6961311" cy="3921919"/>
          </a:xfrm>
          <a:prstGeom prst="roundRect">
            <a:avLst>
              <a:gd name="adj" fmla="val 1297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6727" y="2441178"/>
            <a:ext cx="6670806" cy="367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FavoriteItem(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String,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isFavorite: Boolean,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onToggle: () -&gt; Unit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Text(name)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IconButton(onClick = onToggle) {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Icon(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(isFavorite)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Icons.Filled.Favorite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Icons.Outlined.FavoriteBorder,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contentDescription = null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403" y="1873349"/>
            <a:ext cx="3612067" cy="361215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30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Ringkasan Konsep Pertemuan ke-5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6176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57636"/>
            <a:ext cx="3496877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1475" y="250289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&amp; Recomposition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911574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= data yang menentukan UI;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Recomposition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= UI diperbarui otomatis saat State berubah.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06176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357636"/>
            <a:ext cx="3496877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47359" y="250289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 + mutableStateOf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2911574"/>
            <a:ext cx="3496877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reaktif yang bertahan saat Recomposition. Gunakan sintaks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untuk kode yang lebih idiomatik.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06176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367161"/>
            <a:ext cx="3496877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33244" y="250289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rememberSaveable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2911574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yang juga bertahan saat rotasi layar (Configuration Change) via Bundle Android.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16857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445496"/>
            <a:ext cx="5339820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1475" y="460970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Hoisting + UDF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5018385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di Parent, Event dari Child — satu arah, mudah di-trace, mudah di-debug.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416857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445496"/>
            <a:ext cx="5339820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90301" y="460970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Stateless Composable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5018385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Lebih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reusable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testable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dan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maintainable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standar desain komponen Compose modern.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3868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Terima Kasih!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77604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6832" y="297140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Pertanyaan &amp; Diskusi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38008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Sampaikan di forum diskusi atau langsung di kelas — tidak ada pertanyaan yang salah!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369296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6832" y="456465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Pertemuan Berikutnya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6832" y="497334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Networking &amp; Architecture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73F9E9-DBF9-530E-04A6-80D73F57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79" y="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14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Referensi / Daftar Pustaka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0155"/>
            <a:ext cx="5339820" cy="16384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934567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Developers.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State and Jetpack Compose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Google LLC. Diakses dari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https://developer.android.com/jetpack/compose/state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1720155"/>
            <a:ext cx="5339919" cy="16384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06305" y="1934567"/>
            <a:ext cx="48095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Developers.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Managing State in Compose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Google LLC. Diakses dari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https://developer.android.com/codelabs/jetpack-compose-state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47666"/>
            <a:ext cx="5339820" cy="10336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7479" y="3762077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Filot, A., &amp; Stevenson, M. (2023).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Jetpack Compose by Tutorials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(3rd ed.). Kodeco Inc.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547666"/>
            <a:ext cx="5339919" cy="103366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506305" y="3762077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Jemerov, D., &amp; Isakova, S. (2017).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in Action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Manning Publications.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70338"/>
            <a:ext cx="5339820" cy="13360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7479" y="4984750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Leland, A., &amp; Bailey, N. (2022).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Thinking in Compose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Google I/O 2022. Diakses dari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https://www.youtube.com/watch?v=SMOhl9RK0BA</a:t>
            </a:r>
            <a:endParaRPr lang="en-US" sz="14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4770338"/>
            <a:ext cx="5339919" cy="13360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506305" y="4984750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Mosca, G. (2023).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UI Development with Jetpack Compose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Packt Publishing.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1917</Words>
  <Application>Microsoft Macintosh PowerPoint</Application>
  <PresentationFormat>Widescreen</PresentationFormat>
  <Paragraphs>325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Montserrat</vt:lpstr>
      <vt:lpstr>Heebo Bold</vt:lpstr>
      <vt:lpstr>Heebo Light</vt:lpstr>
      <vt:lpstr>Consolas</vt:lpstr>
      <vt:lpstr>Montserrat Light</vt:lpstr>
      <vt:lpstr>Twemoji Mozilla</vt:lpstr>
      <vt:lpstr>Heebo</vt:lpstr>
      <vt:lpstr>Twemoji Mozilla, Apple Color Emoji, Segoe UI Emoji, Segoe UI Symbol, Noto Color Emoji, EmojiOne Color, Android Emoji, 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Azis Amirulbahar</cp:lastModifiedBy>
  <cp:revision>7</cp:revision>
  <dcterms:created xsi:type="dcterms:W3CDTF">2026-09-16T06:52:13Z</dcterms:created>
  <dcterms:modified xsi:type="dcterms:W3CDTF">2026-09-17T02:02:20Z</dcterms:modified>
</cp:coreProperties>
</file>