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lXDC4H_93laV1_eHHFT949fUipzkiFOBH3fAiZZUCdYojwUyX2aTonS1aIwMrx6NUIsHfUHSLzjGJFxxj7kCzMIlSC20SNjaJf9GmESvWFqgy6FNrwzWSIu2lzePyWSz8zg09RAX43OFexidzEE3_7l3auaKk4w9ktJdqg-&amp;format=source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0" r:id="rId3"/>
    <p:sldId id="257" r:id="rId4"/>
    <p:sldId id="258" r:id="rId5"/>
    <p:sldId id="259" r:id="rId6"/>
    <p:sldId id="260" r:id="rId7"/>
    <p:sldId id="261" r:id="rId8"/>
    <p:sldId id="262" r:id="rId9"/>
    <p:sldId id="279" r:id="rId10"/>
    <p:sldId id="263" r:id="rId11"/>
    <p:sldId id="281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7" r:id="rId25"/>
    <p:sldId id="278" r:id="rId26"/>
  </p:sldIdLst>
  <p:sldSz cx="12192000" cy="6858000"/>
  <p:notesSz cx="6858000" cy="12192000"/>
  <p:embeddedFontLs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Heebo Bold" pitchFamily="2" charset="-79"/>
      <p:regular r:id="rId32"/>
      <p:bold r:id="rId33"/>
    </p:embeddedFont>
    <p:embeddedFont>
      <p:font typeface="Heebo Light" pitchFamily="2" charset="-79"/>
      <p:regular r:id="rId34"/>
    </p:embeddedFont>
    <p:embeddedFont>
      <p:font typeface="Montserrat" pitchFamily="2" charset="77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10"/>
  </p:normalViewPr>
  <p:slideViewPr>
    <p:cSldViewPr snapToGrid="0" snapToObjects="1">
      <p:cViewPr>
        <p:scale>
          <a:sx n="88" d="100"/>
          <a:sy n="88" d="100"/>
        </p:scale>
        <p:origin x="144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280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660F9-B13C-E4FC-9ED5-5B2D13247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8A0E4-E593-7295-CB85-D25194AD0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4A672-88C3-533F-561A-659035A11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6274C-D9D7-D748-9EF7-B44775ADFF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49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lXDC4H_93laV1_eHHFT949fUipzkiFOBH3fAiZZUCdYojwUyX2aTonS1aIwMrx6NUIsHfUHSLzjGJFxxj7kCzMIlSC20SNjaJf9GmESvWFqgy6FNrwzWSIu2lzePyWSz8zg09RAX43OFexidzEE3_7l3auaKk4w9ktJdqg-&amp;format=source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ndroid.com/articles/cross-device-services-and-smartphone-integration/" TargetMode="External"/><Relationship Id="rId3" Type="http://schemas.openxmlformats.org/officeDocument/2006/relationships/hyperlink" Target="https://en.wikipedia.org/wiki/Android_version_history" TargetMode="External"/><Relationship Id="rId7" Type="http://schemas.openxmlformats.org/officeDocument/2006/relationships/hyperlink" Target="https://developers.google.com/cars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pc.land/global-mobile-operating-systems-divide-follows-geographic-lines-traffic-analysis-reveals/" TargetMode="External"/><Relationship Id="rId11" Type="http://schemas.openxmlformats.org/officeDocument/2006/relationships/hyperlink" Target="https://kotlinlang.org/docs/home.html" TargetMode="External"/><Relationship Id="rId5" Type="http://schemas.openxmlformats.org/officeDocument/2006/relationships/hyperlink" Target="https://www.digitalinformationworld.com/2025/03/global-smartphone-sales-flat-in-q4-2024.html" TargetMode="External"/><Relationship Id="rId10" Type="http://schemas.openxmlformats.org/officeDocument/2006/relationships/hyperlink" Target="https://developer.android.com/reference" TargetMode="External"/><Relationship Id="rId4" Type="http://schemas.openxmlformats.org/officeDocument/2006/relationships/hyperlink" Target="https://blog.google/products-and-platforms/platforms/android/android-anniversary-tv-auto-wear/" TargetMode="External"/><Relationship Id="rId9" Type="http://schemas.openxmlformats.org/officeDocument/2006/relationships/hyperlink" Target="https://kotlinlang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233360" y="187910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Pengantar</a:t>
            </a:r>
            <a:b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3700" b="1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Pemrograman</a:t>
            </a:r>
            <a:r>
              <a:rPr lang="en-US" sz="37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Mobile</a:t>
            </a:r>
            <a:endParaRPr lang="en-US" sz="3700" b="1" dirty="0"/>
          </a:p>
        </p:txBody>
      </p:sp>
      <p:sp>
        <p:nvSpPr>
          <p:cNvPr id="5" name="Text 1"/>
          <p:cNvSpPr/>
          <p:nvPr/>
        </p:nvSpPr>
        <p:spPr>
          <a:xfrm>
            <a:off x="5233360" y="3343870"/>
            <a:ext cx="6296860" cy="1634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Pemrograman Mobile — IF21507 | Pertemuan 1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Program Studi Informatika, Fakultas Teknik — Universitas Jenderal Soedirman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Azis Amirulbahar, S.Pd., M.T.I.</a:t>
            </a:r>
            <a:endParaRPr lang="en-US" sz="14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3C981-BCA4-5727-F3AF-E32236BB3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5130"/>
            <a:ext cx="38277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475B520-7FBB-0468-4048-A55D361AAE93}"/>
              </a:ext>
            </a:extLst>
          </p:cNvPr>
          <p:cNvSpPr/>
          <p:nvPr/>
        </p:nvSpPr>
        <p:spPr>
          <a:xfrm>
            <a:off x="661475" y="706140"/>
            <a:ext cx="11010572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Persiapan</a:t>
            </a: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37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Alat </a:t>
            </a:r>
            <a:r>
              <a:rPr lang="en-US" sz="3700" b="1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Pengembangan</a:t>
            </a:r>
            <a:endParaRPr lang="en-US" sz="3700" b="1" dirty="0"/>
          </a:p>
        </p:txBody>
      </p:sp>
      <p:pic>
        <p:nvPicPr>
          <p:cNvPr id="4" name="Picture 3" descr="Apa Itu Android Studio? Ini Penjelasan dan Cara Instalnya | kumparan.com">
            <a:extLst>
              <a:ext uri="{FF2B5EF4-FFF2-40B4-BE49-F238E27FC236}">
                <a16:creationId xmlns:a16="http://schemas.microsoft.com/office/drawing/2014/main" id="{4764AC0A-CDD2-9688-D298-3E4B2AFB3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105922"/>
            <a:ext cx="5040296" cy="2646155"/>
          </a:xfrm>
          <a:prstGeom prst="rect">
            <a:avLst/>
          </a:prstGeom>
        </p:spPr>
      </p:pic>
      <p:pic>
        <p:nvPicPr>
          <p:cNvPr id="5" name="Picture 4" descr="Visual Studio Code - Download and install on Windows | Microsoft Store">
            <a:extLst>
              <a:ext uri="{FF2B5EF4-FFF2-40B4-BE49-F238E27FC236}">
                <a16:creationId xmlns:a16="http://schemas.microsoft.com/office/drawing/2014/main" id="{C6CFFC66-75CB-1DF9-9959-38038EBB0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4738" y="2266275"/>
            <a:ext cx="2423832" cy="242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25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7061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 itu Pemrograman Mobile?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170906"/>
            <a:ext cx="3053877" cy="2652018"/>
          </a:xfrm>
          <a:prstGeom prst="roundRect">
            <a:avLst>
              <a:gd name="adj" fmla="val 2993"/>
            </a:avLst>
          </a:prstGeom>
          <a:solidFill>
            <a:srgbClr val="0D0A2C">
              <a:alpha val="95000"/>
            </a:srgbClr>
          </a:solidFill>
          <a:ln w="25399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5881" y="2385318"/>
            <a:ext cx="26250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Definisi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794000"/>
            <a:ext cx="262506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Pengembangan aplikasi yang berjalan pada perangkat bergerak (mobile devices), mencakup desain UI/UX, logika bisnis, dan integrasi layanan platform.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170906"/>
            <a:ext cx="3053976" cy="2652018"/>
          </a:xfrm>
          <a:prstGeom prst="roundRect">
            <a:avLst>
              <a:gd name="adj" fmla="val 2993"/>
            </a:avLst>
          </a:prstGeom>
          <a:solidFill>
            <a:srgbClr val="0D0A2C">
              <a:alpha val="95000"/>
            </a:srgbClr>
          </a:solidFill>
          <a:ln w="25399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8765" y="2385318"/>
            <a:ext cx="26251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Dua Ekosistem Utama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118765" y="3089275"/>
            <a:ext cx="2625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Android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(Google) dan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iOS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(Apple) mendominasi lanskap pemrograman mobile global.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5011936"/>
            <a:ext cx="6296860" cy="1139924"/>
          </a:xfrm>
          <a:prstGeom prst="roundRect">
            <a:avLst>
              <a:gd name="adj" fmla="val 6964"/>
            </a:avLst>
          </a:prstGeom>
          <a:solidFill>
            <a:srgbClr val="0D0A2C">
              <a:alpha val="95000"/>
            </a:srgbClr>
          </a:solidFill>
          <a:ln w="25399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5881" y="5226348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Bahasa Utama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75881" y="5635030"/>
            <a:ext cx="586804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Kotlin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(Android) ·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Swift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(iOS) ·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Dart/Flutter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(cross-platform)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878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Sejarah Perkembangan Mobile Platform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086323" y="1374775"/>
            <a:ext cx="19050" cy="4934248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20532" y="1554559"/>
            <a:ext cx="505011" cy="1905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06493" y="1374775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69545" y="1406277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1475" y="1432620"/>
            <a:ext cx="45927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2007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1475" y="1785541"/>
            <a:ext cx="45927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Apple merilis iPhone OS 1.0 — era smartphone modern dimulai.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6152" y="2527697"/>
            <a:ext cx="505011" cy="1905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906493" y="2347913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69545" y="2379414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937499" y="2405757"/>
            <a:ext cx="45927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2008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937499" y="2758678"/>
            <a:ext cx="45927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1.0 dirilis bersama HTC Dream (T-Mobile G1). Google akuisisi Android Inc. sejak 2005.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20532" y="3379887"/>
            <a:ext cx="505011" cy="1905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06493" y="3200102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69545" y="3231604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61475" y="3257947"/>
            <a:ext cx="45927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2009–2013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61475" y="3610868"/>
            <a:ext cx="45927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Perang ekosistem: App Store vs Google Play. Era Symbian &amp; BlackBerry runtuh.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6152" y="4232077"/>
            <a:ext cx="505011" cy="1905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06493" y="4052292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69545" y="4083794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6937499" y="4110137"/>
            <a:ext cx="45927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937499" y="4463058"/>
            <a:ext cx="45927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meluas ke 3 platform baru: Android Auto, Android TV, dan Android Wear.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20532" y="5084266"/>
            <a:ext cx="505011" cy="1905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06493" y="4904482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69545" y="4935984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661475" y="4962327"/>
            <a:ext cx="4592721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2019–kini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61475" y="5315248"/>
            <a:ext cx="4592721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6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Kotlin ditetapkan sebagai bahasa resmi Android. Jetpack Compose menjadi standar UI modern.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33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Share Sistem Operasi Mobile Global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0012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77651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Android Mendominasi Dunia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260798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Berdasarkan data Q4 2024, Android menguasai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74% market share global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angka yang konsisten dari tahun sebelumnya.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035697"/>
            <a:ext cx="5203794" cy="164425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iOS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~22%, dominan di Amerika Utara &amp; Australia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HarmonyOS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(Huawei) ~4%, tumbuh pesat di China (+19% YoY)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mendominasi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&gt;95%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beberapa pasar Asia, Afrika, dan Amerika Selatan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32776" y="4892576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783" y="5166618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7024" y="5109865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Belajar Android development = menjangkau mayoritas pengguna smartphone dunia.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58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Bukan Hanya Smartphone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44563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453283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Smartwatch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861965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Wear OS &amp; watchOS — kesehatan, notifikasi, fitness tracking langsung di pergelangan tangan.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744563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453283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TV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861965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TV / Google TV — streaming, gaming, dan kontrol smart home di layar besar.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844826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55354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Unit Kendaraan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962227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Auto &amp; AAOS — navigasi, media, dan asisten suara terintegrasi di dalam mobil.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844826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55354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Tablet &amp; Foldable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962227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Layar besar, multitasking, dan stylus support untuk produktivitas maksimal.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356682" y="577969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adalah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ekosistem terhubung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 dari ponsel ke TV, jam tangan, laptop, hingga mobil.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57318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Mengapa Belajar Pemrograman Mobile?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182364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50079" y="1880493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Pasar Raksasa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50079" y="2225774"/>
            <a:ext cx="578014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Lebih dari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3,6 miliar pengguna smartphone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aktif di seluruh dunia — pasar terbesar dalam sejarah teknologi.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3011289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50079" y="3068141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Permintaan Tinggi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750079" y="3413423"/>
            <a:ext cx="578014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Developer mobile terus dicari industri teknologi Indonesia: Gojek, Tokopedia, Traveloka, dan ribuan startup lokal.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419893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50079" y="4255790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Stack Modern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50079" y="4601071"/>
            <a:ext cx="578014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Kotlin + Jetpack Compose = teknologi yang digunakan Google dan perusahaan teknologi terkemuka dunia.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5386586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50079" y="5443438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 Skill, Banyak Platform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50079" y="5788720"/>
            <a:ext cx="578014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Smartphone, smartwatch, Smart TV, hingga kendaraan — semua bisa dijangkau dengan satu bahasa: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Kotlin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458882-DB08-A6E7-E6FC-57D3364E5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8277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57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Rencana Perkuliahan — 8 Pertemuan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85180"/>
            <a:ext cx="10868745" cy="903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5563" y="159583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02918" y="1454845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Pertemuan 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402918" y="176212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Dasar Pemrograman Kotlin: Variables, Control Flow, Null Safety, Lambda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08820"/>
            <a:ext cx="10868745" cy="9036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5563" y="261947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402918" y="247848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Pertemuan 2–3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02918" y="278576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Jetpack Compose: UI Dasar &amp; State Management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32460"/>
            <a:ext cx="10868745" cy="9036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5563" y="364311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402918" y="350212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Pertemuan 4–5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402918" y="380940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Navigation, ViewModel, dan Arsitektur MVVM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56100"/>
            <a:ext cx="10868745" cy="9036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5563" y="466675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402918" y="452576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Pertemuan 6–7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402918" y="483304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Networking, Room Database, dan Coroutines</a:t>
            </a:r>
            <a:endParaRPr lang="en-US" sz="11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79740"/>
            <a:ext cx="10868745" cy="9036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5563" y="569039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1402918" y="554940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Pertemuan 8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402918" y="5856684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Proyek Akhir &amp; Review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AEE9D-C022-5554-AE92-78D2F488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C54316B9-E06A-0083-9E00-C3EFA041604C}"/>
              </a:ext>
            </a:extLst>
          </p:cNvPr>
          <p:cNvSpPr/>
          <p:nvPr/>
        </p:nvSpPr>
        <p:spPr>
          <a:xfrm>
            <a:off x="661475" y="57457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Pertemuan</a:t>
            </a:r>
            <a:r>
              <a:rPr lang="en-US" sz="2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9 - 16</a:t>
            </a:r>
            <a:endParaRPr lang="en-US" sz="2950" dirty="0"/>
          </a:p>
        </p:txBody>
      </p:sp>
      <p:pic>
        <p:nvPicPr>
          <p:cNvPr id="10" name="Picture 9" descr="Flutter | Google Open Source Projects">
            <a:extLst>
              <a:ext uri="{FF2B5EF4-FFF2-40B4-BE49-F238E27FC236}">
                <a16:creationId xmlns:a16="http://schemas.microsoft.com/office/drawing/2014/main" id="{855A9F0C-1743-05F9-4EFD-DFE5123B7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929" y="1282143"/>
            <a:ext cx="7661836" cy="429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25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717252"/>
            <a:ext cx="6296860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Mengapa Kotlin untuk Android?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61475" y="1915815"/>
            <a:ext cx="6296860" cy="1131689"/>
          </a:xfrm>
          <a:prstGeom prst="roundRect">
            <a:avLst>
              <a:gd name="adj" fmla="val 591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27265" y="2081609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🏆</a:t>
            </a: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Bahasa Resmi Android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7265" y="2411413"/>
            <a:ext cx="596527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Ditetapkan oleh Google sejak 2019 — dukungan penuh dari ekosistem dan dokumentasi resmi.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3182045"/>
            <a:ext cx="6296860" cy="896541"/>
          </a:xfrm>
          <a:prstGeom prst="roundRect">
            <a:avLst>
              <a:gd name="adj" fmla="val 747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7265" y="3347839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🔗</a:t>
            </a: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100% Interoperable dengan Java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7265" y="3677642"/>
            <a:ext cx="59652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Kotlin dan Java dapat digunakan bersama dalam satu proyek tanpa konflik.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4213126"/>
            <a:ext cx="6296860" cy="896541"/>
          </a:xfrm>
          <a:prstGeom prst="roundRect">
            <a:avLst>
              <a:gd name="adj" fmla="val 747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7265" y="4378920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✍️</a:t>
            </a: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Ringkas &amp; Ekspresif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7265" y="4708723"/>
            <a:ext cx="59652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Mengurangi boilerplate code secara signifikan — lebih sedikit kode, lebih sedikit bug.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5244207"/>
            <a:ext cx="6296860" cy="896541"/>
          </a:xfrm>
          <a:prstGeom prst="roundRect">
            <a:avLst>
              <a:gd name="adj" fmla="val 747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7265" y="5410002"/>
            <a:ext cx="596527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⚡</a:t>
            </a:r>
            <a:r>
              <a:rPr lang="en-US" sz="15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Multi-Paradigma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27265" y="5739805"/>
            <a:ext cx="596527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Mendukung paradigma </a:t>
            </a: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functional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</a:t>
            </a:r>
            <a:r>
              <a:rPr lang="en-US" sz="12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object-oriented</a:t>
            </a:r>
            <a:r>
              <a:rPr lang="en-US" sz="12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sekaligus dalam satu bahasa.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57646A-1267-23BF-0BB3-69917F6A0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79" y="0"/>
            <a:ext cx="38277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565A-086A-6B1E-1C47-85D268413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E70207-86F6-5276-3C22-8259F5207E2D}"/>
              </a:ext>
            </a:extLst>
          </p:cNvPr>
          <p:cNvSpPr/>
          <p:nvPr/>
        </p:nvSpPr>
        <p:spPr>
          <a:xfrm>
            <a:off x="661475" y="706140"/>
            <a:ext cx="11010572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Bereksperimen </a:t>
            </a:r>
            <a:r>
              <a:rPr lang="en-US" sz="370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dengan</a:t>
            </a: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Kotlin </a:t>
            </a:r>
            <a:r>
              <a:rPr lang="en-US" sz="3700" b="1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menggunakan</a:t>
            </a:r>
            <a:r>
              <a:rPr lang="en-US" sz="3700" b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Browser</a:t>
            </a:r>
            <a:endParaRPr lang="en-US" sz="3700" b="1" dirty="0"/>
          </a:p>
        </p:txBody>
      </p:sp>
      <p:pic>
        <p:nvPicPr>
          <p:cNvPr id="6" name="Picture 5" descr="Kotlin Playground: Edit, Run, Share Kotlin Code Online">
            <a:extLst>
              <a:ext uri="{FF2B5EF4-FFF2-40B4-BE49-F238E27FC236}">
                <a16:creationId xmlns:a16="http://schemas.microsoft.com/office/drawing/2014/main" id="{FC865B7C-9408-D222-6B01-D96F6E2AF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561" y="2184873"/>
            <a:ext cx="7772400" cy="3886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A03B10-85F3-6A85-6A41-12AF107CC5B7}"/>
              </a:ext>
            </a:extLst>
          </p:cNvPr>
          <p:cNvSpPr txBox="1"/>
          <p:nvPr/>
        </p:nvSpPr>
        <p:spPr>
          <a:xfrm>
            <a:off x="3046379" y="6337699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play.kotlinlang.org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745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Keunggulan Kotlin: Lebih dari Sekadar Android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58133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Kotlin Multiplatform (KMP)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60638"/>
            <a:ext cx="5315512" cy="399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Dengan KMP, satu codebase Kotlin dapat digunakan untuk membangun aplikasi di </a:t>
            </a:r>
            <a:r>
              <a:rPr lang="en-US" sz="7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Android, iOS, Web, dan Desktop</a:t>
            </a: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tanpa mengorbankan performa native.</a:t>
            </a:r>
            <a:endParaRPr lang="en-US" sz="7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Logika bisnis dibagikan bersama, sementara UI tetap ditulis per platform untuk pengalaman pengguna terbaik.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816449"/>
            <a:ext cx="5315512" cy="256977"/>
          </a:xfrm>
          <a:prstGeom prst="roundRect">
            <a:avLst>
              <a:gd name="adj" fmla="val 15929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3894534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3885902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 cross‑platform without compromising performance, UX, or code quality.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26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 Memulai Belajar Kotlin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32707"/>
            <a:ext cx="189007" cy="1890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367161"/>
            <a:ext cx="3496877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61475" y="251241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Android Studio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2921099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IDE resmi Google; sudah include Kotlin compiler, emulator, dan Jetpack tools. Unduh di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developer.android.com/studio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132707"/>
            <a:ext cx="189007" cy="18901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47359" y="2367161"/>
            <a:ext cx="3496877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347359" y="251241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Coba Kotlin Playground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347359" y="2921099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Latihan langsung di browser tanpa instalasi: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play.kotlinlang.org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3244" y="2132707"/>
            <a:ext cx="189007" cy="18901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33244" y="2367161"/>
            <a:ext cx="3496877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8033244" y="251241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Ikuti Kotlin Tour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033244" y="2921099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Panduan interaktif resmi di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kotlinlang.org/docs/kotlin-tour-hello-world.html</a:t>
            </a:r>
            <a:endParaRPr lang="en-US" sz="14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82666"/>
            <a:ext cx="189007" cy="18901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61475" y="4435971"/>
            <a:ext cx="5339820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661475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Buat Proyek Android Pertama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61475" y="5008860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Gunakan template "Empty Activity" di Android Studio, pilih bahasa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Kotlin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4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0301" y="4182666"/>
            <a:ext cx="189007" cy="18901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190301" y="4435971"/>
            <a:ext cx="5339820" cy="2540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6190301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Eksplorasi Dokumentasi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6190301" y="5008860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developer.android.com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kotlinlang.org/docs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sebagai referensi utama.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8175"/>
            <a:ext cx="10868745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Kotlin Multiplatform: Satu Bahasa, Banyak Platform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008737" y="2166441"/>
            <a:ext cx="352773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 Codebase, Semua Platform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008737" y="2599234"/>
            <a:ext cx="3527734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Kotlin Multiplatform (KMP) memungkinkan berbagi </a:t>
            </a:r>
            <a:r>
              <a:rPr lang="en-US" sz="13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logika bisnis</a:t>
            </a: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Android, iOS, Web, Desktop, dan Server — tanpa mengorbankan performa native.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08737" y="3814961"/>
            <a:ext cx="3527734" cy="2310805"/>
          </a:xfrm>
          <a:prstGeom prst="rect">
            <a:avLst/>
          </a:prstGeom>
          <a:noFill/>
          <a:ln/>
        </p:spPr>
        <p:txBody>
          <a:bodyPr wrap="square" lIns="0" tIns="6970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Digunakan oleh: </a:t>
            </a:r>
            <a:r>
              <a:rPr lang="en-US" sz="13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Netflix, VMware, Philips, Cash App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UI tetap ditulis per platform; logika dibagikan bersama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Didukung penuh oleh </a:t>
            </a:r>
            <a:r>
              <a:rPr lang="en-US" sz="13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JetBrains</a:t>
            </a: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semakin diadopsi Google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Masa depan: satu developer Kotlin untuk semua platform sekaligus</a:t>
            </a:r>
            <a:endParaRPr lang="en-US" sz="1350" dirty="0"/>
          </a:p>
        </p:txBody>
      </p:sp>
      <p:pic>
        <p:nvPicPr>
          <p:cNvPr id="7" name="Picture 6" descr="Kotlin Multiplatform – Build Cross-Platform Apps">
            <a:extLst>
              <a:ext uri="{FF2B5EF4-FFF2-40B4-BE49-F238E27FC236}">
                <a16:creationId xmlns:a16="http://schemas.microsoft.com/office/drawing/2014/main" id="{445CC7DC-2C1F-C03C-539D-74F830582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29" y="2141009"/>
            <a:ext cx="7084014" cy="39847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68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Kotlin vs Java: Perbandingan Sintaks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085479"/>
            <a:ext cx="10868745" cy="3655616"/>
          </a:xfrm>
          <a:prstGeom prst="roundRect">
            <a:avLst>
              <a:gd name="adj" fmla="val 2172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1475" y="2636937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1475" y="3204270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1475" y="3771602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1475" y="4622304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1475" y="5189637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68023" y="2091829"/>
            <a:ext cx="2713962" cy="545108"/>
          </a:xfrm>
          <a:custGeom>
            <a:avLst/>
            <a:gdLst/>
            <a:ahLst/>
            <a:cxnLst/>
            <a:rect l="l" t="t" r="r" b="b"/>
            <a:pathLst>
              <a:path w="2713962" h="545108">
                <a:moveTo>
                  <a:pt x="66156" y="0"/>
                </a:moveTo>
                <a:lnTo>
                  <a:pt x="2713962" y="0"/>
                </a:lnTo>
                <a:lnTo>
                  <a:pt x="2713962" y="545108"/>
                </a:lnTo>
                <a:lnTo>
                  <a:pt x="0" y="545108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7030" y="2211586"/>
            <a:ext cx="29455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Fitur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381985" y="2091829"/>
            <a:ext cx="4016671" cy="545108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70992" y="2211586"/>
            <a:ext cx="42482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Kotlin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98656" y="2091829"/>
            <a:ext cx="4125214" cy="545108"/>
          </a:xfrm>
          <a:custGeom>
            <a:avLst/>
            <a:gdLst/>
            <a:ahLst/>
            <a:cxnLst/>
            <a:rect l="l" t="t" r="r" b="b"/>
            <a:pathLst>
              <a:path w="4125214" h="545108">
                <a:moveTo>
                  <a:pt x="0" y="0"/>
                </a:moveTo>
                <a:lnTo>
                  <a:pt x="4059058" y="0"/>
                </a:lnTo>
                <a:arcTo wR="66156" hR="66158" stAng="16200000" swAng="5400000"/>
                <a:lnTo>
                  <a:pt x="4125214" y="545108"/>
                </a:lnTo>
                <a:lnTo>
                  <a:pt x="0" y="545108"/>
                </a:lnTo>
                <a:lnTo>
                  <a:pt x="0" y="0"/>
                </a:lnTo>
                <a:close/>
              </a:path>
            </a:pathLst>
          </a:cu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7663" y="2211586"/>
            <a:ext cx="435678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Java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7030" y="2759869"/>
            <a:ext cx="29455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Deklarasi Variabel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70992" y="2759869"/>
            <a:ext cx="4248242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 name = "Informatika"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587663" y="2759869"/>
            <a:ext cx="4356785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= "Informatika";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7030" y="3327202"/>
            <a:ext cx="29455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Null Safety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570992" y="3327202"/>
            <a:ext cx="4248242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Tipe nullable bawaan: 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String?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87663" y="3327202"/>
            <a:ext cx="435678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Rentan NullPointerException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7030" y="3894534"/>
            <a:ext cx="29455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Fungsi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570992" y="3894534"/>
            <a:ext cx="4248242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 greet(name: String) = "Hello, $name"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87663" y="3894534"/>
            <a:ext cx="374720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Memerlukan return type &amp; return keyword eksplisit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57030" y="4745236"/>
            <a:ext cx="29455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 Class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570992" y="4745236"/>
            <a:ext cx="4248242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Otomatis: 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equals()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hashCode()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toString()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87663" y="4745236"/>
            <a:ext cx="435678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Harus ditulis manual (verbose)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57030" y="5312569"/>
            <a:ext cx="29455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Baris Kode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570992" y="5312569"/>
            <a:ext cx="42482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~40% lebih sedikit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587663" y="5312569"/>
            <a:ext cx="435678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Lebih banyak boilerplate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93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Variables &amp; Tipe Data di Kotlin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0252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 vs var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186807"/>
            <a:ext cx="5203794" cy="196572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val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immutable (read-only), seperti 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Java. Nilainya tidak dapat diubah setelah ditetapkan.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var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mutable, nilainya dapat diubah sewaktu-waktu.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Type inference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 Kotlin mendeteksi tipe data secara otomatis — tidak perlu mendeklarasikan tipe secara eksplisit.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32776" y="2726134"/>
            <a:ext cx="5203794" cy="2192536"/>
          </a:xfrm>
          <a:prstGeom prst="roundRect">
            <a:avLst>
              <a:gd name="adj" fmla="val 3621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59584" y="2915146"/>
            <a:ext cx="475017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nama: String = "User" // immutable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usia = 25 // type inference: Int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usia = 26 // OK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nama = "Pengguna"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ERROR: val tidak bisa diubah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18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Flow: if, when, for, while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9496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Konsep Utama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079254"/>
            <a:ext cx="5203794" cy="168235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if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Kotlin adalah ekspresi — dapat mengembalikan nilai langsung.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when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menggantikan 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Java, lebih fleksibel dan powerful.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for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menggunakan range: 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(i in 1..10)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32776" y="2618581"/>
            <a:ext cx="5203794" cy="2494955"/>
          </a:xfrm>
          <a:prstGeom prst="roundRect">
            <a:avLst>
              <a:gd name="adj" fmla="val 3182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59584" y="2807593"/>
            <a:ext cx="4750177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 sebagai ekspresi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grade = when (nilai)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90..100 -&gt; "A"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80..89 -&gt; "B"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70..79 -&gt; "C"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else -&gt; "D"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881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 Safety di Kotlin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5444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Mengapa Null Safety Penting?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633192"/>
            <a:ext cx="11478330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Kotlin membedakan tipe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nullable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String?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dan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non-nullable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secara ketat di level compiler.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167287"/>
            <a:ext cx="11478330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Safe call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578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Object-Oriented Programming (OOP) di Kotlin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62385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Fitur OOP Kotlin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875334"/>
            <a:ext cx="5228995" cy="2219325"/>
          </a:xfrm>
          <a:prstGeom prst="rect">
            <a:avLst/>
          </a:prstGeom>
          <a:noFill/>
          <a:ln/>
        </p:spPr>
        <p:txBody>
          <a:bodyPr wrap="square" lIns="0" tIns="67338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Class &amp; Object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OOP penuh: class, inheritance, interface, abstraction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 Class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khusus untuk menyimpan data; otomatis generate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equals()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copy()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toString()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Sealed Class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membatasi hierarki class; sangat berguna untuk merepresentasikan state UI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Companion Object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pengganti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Java, mendefinisikan anggota tingkat class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7575" y="1481137"/>
            <a:ext cx="5228995" cy="4646613"/>
          </a:xfrm>
          <a:prstGeom prst="roundRect">
            <a:avLst>
              <a:gd name="adj" fmla="val 1522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09579" y="1649413"/>
            <a:ext cx="4824986" cy="4310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 Class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class Mahasiswa(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 nama: String,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 nim: String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Sealed Class untuk UI State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 class UiState {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object Loading : UiState()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 class Success(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 data: String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: UiState()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 class Error(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 msg: String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: UiState()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06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&amp; Higher-Order Functions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4375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 itu Lambda?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928045"/>
            <a:ext cx="5203794" cy="2173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Lambda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adalah fungsi anonim yang dapat disimpan dalam variabel atau diteruskan sebagai argumen ke fungsi lain.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Sintaks: 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 parameter -&gt; body }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Higher-order function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adalah fungsi yang menerima atau mengembalikan fungsi lain — fondasi dari banyak API Kotlin modern.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32776" y="2467372"/>
            <a:ext cx="5203794" cy="2797373"/>
          </a:xfrm>
          <a:prstGeom prst="roundRect">
            <a:avLst>
              <a:gd name="adj" fmla="val 2838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59584" y="2656384"/>
            <a:ext cx="4750177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Lambda sederhana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tambah = { a: Int, b: Int -&gt; a + b }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println(tambah(3, 5)) // 8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Lambda pada koleksi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angka = listOf(1, 2, 3, 4, 5)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genap = angka.filter { it % 2 == 0 }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[2, 4]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82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sebagai Dasar Jetpack Compose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4133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Mengapa Lambda Penting di Compose?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625626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Jetpack Compose menggunakan lambda secara ekstensif untuk mendefinisikan UI. Setiap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Composable function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menerima lambda sebagai parameter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content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702943"/>
            <a:ext cx="5203794" cy="105846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Event handler (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onValueChange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adalah lambda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UI "bersarang" dibangun dari lambda di dalam lambda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Memahami lambda = kunci memahami Compose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332776" y="2164953"/>
            <a:ext cx="5203794" cy="3402211"/>
          </a:xfrm>
          <a:prstGeom prst="roundRect">
            <a:avLst>
              <a:gd name="adj" fmla="val 2333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59584" y="2353965"/>
            <a:ext cx="4750177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@Composable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 Greeting(name: String)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Button(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onClick =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println("Halo, $name!")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) {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Text(text = "Klik Saya")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568027"/>
            <a:ext cx="6296860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Ringkasan: Sintaks Kotlin yang Wajib Dikuasai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61475" y="2005608"/>
            <a:ext cx="6296860" cy="4284266"/>
          </a:xfrm>
          <a:prstGeom prst="roundRect">
            <a:avLst>
              <a:gd name="adj" fmla="val 1824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67825" y="2011958"/>
            <a:ext cx="6284160" cy="1067891"/>
          </a:xfrm>
          <a:custGeom>
            <a:avLst/>
            <a:gdLst/>
            <a:ahLst/>
            <a:cxnLst/>
            <a:rect l="l" t="t" r="r" b="b"/>
            <a:pathLst>
              <a:path w="6284160" h="1067891">
                <a:moveTo>
                  <a:pt x="65123" y="0"/>
                </a:moveTo>
                <a:lnTo>
                  <a:pt x="6219037" y="0"/>
                </a:lnTo>
                <a:arcTo wR="65123" hR="65124" stAng="16200000" swAng="5400000"/>
                <a:lnTo>
                  <a:pt x="6284160" y="1067891"/>
                </a:lnTo>
                <a:lnTo>
                  <a:pt x="0" y="1067891"/>
                </a:lnTo>
                <a:lnTo>
                  <a:pt x="0" y="65124"/>
                </a:lnTo>
                <a:arcTo wR="65123" hR="65124" stAng="10800000" swAng="5400000"/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3855" y="2197993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3855" y="2598539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val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(immutable) vs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var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(mutable) — type inference otomatis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7825" y="3079849"/>
            <a:ext cx="6284160" cy="1067891"/>
          </a:xfrm>
          <a:prstGeom prst="rect">
            <a:avLst/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67825" y="3079849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3855" y="3265884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Flow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53855" y="3666430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if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sebagai ekspresi ·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when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pengganti switch · range loop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7825" y="4147741"/>
            <a:ext cx="6284160" cy="1067891"/>
          </a:xfrm>
          <a:prstGeom prst="rect">
            <a:avLst/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7825" y="4147741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53855" y="4333776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 Safety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53855" y="4734322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?.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safe call ·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?: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elvis · tipe nullable vs non-nullable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67825" y="5215632"/>
            <a:ext cx="6284160" cy="1067891"/>
          </a:xfrm>
          <a:custGeom>
            <a:avLst/>
            <a:gdLst/>
            <a:ahLst/>
            <a:cxnLst/>
            <a:rect l="l" t="t" r="r" b="b"/>
            <a:pathLst>
              <a:path w="6284160" h="1067891">
                <a:moveTo>
                  <a:pt x="0" y="0"/>
                </a:moveTo>
                <a:lnTo>
                  <a:pt x="6284160" y="0"/>
                </a:lnTo>
                <a:lnTo>
                  <a:pt x="6284160" y="1002767"/>
                </a:lnTo>
                <a:arcTo wR="65123" hR="65124" stAng="0" swAng="5400000"/>
                <a:lnTo>
                  <a:pt x="65123" y="1067891"/>
                </a:lnTo>
                <a:arcTo wR="65123" hR="65124" stAng="5400000" swAng="5400000"/>
                <a:lnTo>
                  <a:pt x="0" y="0"/>
                </a:lnTo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67825" y="5215632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53855" y="5401667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53855" y="5802213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Fungsi anonim · higher-order functions · dasar Compose UI</a:t>
            </a:r>
            <a:endParaRPr lang="en-US" sz="14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F3A51A4-0889-F6B4-570F-9E99FB58C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79" y="0"/>
            <a:ext cx="38277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08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Referensi &amp; Sumber Belajar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5954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559546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Android Developers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968228"/>
            <a:ext cx="460750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Dokumentasi resmi Android: API reference, Jetpack Compose, Kotlin guides, dan tutorial.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developer.android.com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55954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559546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Kotlin Documentation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2968228"/>
            <a:ext cx="460760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Panduan resmi bahasa Kotlin dari JetBrains: tour interaktif, referensi API, dan contoh kode.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kotlinlang.org/docs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25350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425350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Jetpack Compose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4662190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Toolkit UI modern Android.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developer.android.com/jetpack/compose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25350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425350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Kotlin Playground &amp; YouTube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4662190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Latihan online: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play.kotlinlang.org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· Tutorial resmi: </a:t>
            </a: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Android Developers YouTube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38688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Terima Kasih!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776041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6832" y="297140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Pertanyaan &amp; Diskusi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38008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Sampaikan di forum diskusi atau langsung di kelas — tidak ada pertanyaan yang salah!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4369296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6832" y="456465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Pertemuan Berikutnya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56832" y="497334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Jetpack Compose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Membangun UI Pertama Anda di Android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73F9E9-DBF9-530E-04A6-80D73F57F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79" y="0"/>
            <a:ext cx="38277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45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Referensi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83246"/>
            <a:ext cx="10868745" cy="446008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Wikipedia. (2024).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version history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Diakses dari </a:t>
            </a:r>
            <a:r>
              <a:rPr lang="en-US" sz="145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https://en.wikipedia.org/wiki/Android_version_history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Google. (2024).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10 years ago, Android expanded to 3 new platforms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Diakses dari </a:t>
            </a:r>
            <a:r>
              <a:rPr lang="en-US" sz="145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https://blog.google/products-and-platforms/platforms/android/android-anniversary-tv-auto-wear/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Digital Information World. (2025).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Global smartphone sales flat in Q4 2024 as Android faces record lows in India, US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Diakses dari </a:t>
            </a:r>
            <a:r>
              <a:rPr lang="en-US" sz="145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https://www.digitalinformationworld.com/2025/03/global-smartphone-sales-flat-in-q4-2024.html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PPC.land. (2024).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Global mobile operating systems divide follows geographic lines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Diakses dari </a:t>
            </a:r>
            <a:r>
              <a:rPr lang="en-US" sz="145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https://ppc.land/global-mobile-operating-systems-divide-follows-geographic-lines-traffic-analysis-reveals/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Google for Developers. (2024).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for Cars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Diakses dari </a:t>
            </a:r>
            <a:r>
              <a:rPr lang="en-US" sz="145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https://developers.google.com/cars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Android. (2024).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Cross-device services &amp; smartphone integration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Diakses dari </a:t>
            </a:r>
            <a:r>
              <a:rPr lang="en-US" sz="145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https://www.android.com/articles/cross-device-services-and-smartphone-integration/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JetBrains. (2024).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Kotlin programming language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Diakses dari </a:t>
            </a:r>
            <a:r>
              <a:rPr lang="en-US" sz="145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https://kotlinlang.org/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Google. (2024).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API reference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Diakses dari </a:t>
            </a:r>
            <a:r>
              <a:rPr lang="en-US" sz="145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https://developer.android.com/reference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JetBrains. (2024). </a:t>
            </a:r>
            <a:r>
              <a:rPr lang="en-US" sz="145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Kotlin documentation</a:t>
            </a: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Diakses dari </a:t>
            </a:r>
            <a:r>
              <a:rPr lang="en-US" sz="1450" b="1" u="sng" dirty="0">
                <a:solidFill>
                  <a:srgbClr val="8252E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https://kotlinlang.org/docs/home.html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252E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1909</Words>
  <Application>Microsoft Macintosh PowerPoint</Application>
  <PresentationFormat>Widescreen</PresentationFormat>
  <Paragraphs>259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Montserrat</vt:lpstr>
      <vt:lpstr>Heebo Bold</vt:lpstr>
      <vt:lpstr>Heebo Light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Azis Amirulbahar</cp:lastModifiedBy>
  <cp:revision>2</cp:revision>
  <dcterms:created xsi:type="dcterms:W3CDTF">2026-08-19T14:01:47Z</dcterms:created>
  <dcterms:modified xsi:type="dcterms:W3CDTF">2026-08-19T23:00:00Z</dcterms:modified>
</cp:coreProperties>
</file>