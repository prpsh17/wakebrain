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4"/>
  </p:notesMasterIdLst>
  <p:sldIdLst>
    <p:sldId id="256" r:id="rId2"/>
    <p:sldId id="257" r:id="rId3"/>
    <p:sldId id="258" r:id="rId4"/>
    <p:sldId id="280" r:id="rId5"/>
    <p:sldId id="281" r:id="rId6"/>
    <p:sldId id="282" r:id="rId7"/>
    <p:sldId id="259" r:id="rId8"/>
    <p:sldId id="260" r:id="rId9"/>
    <p:sldId id="261" r:id="rId10"/>
    <p:sldId id="262" r:id="rId11"/>
    <p:sldId id="263" r:id="rId12"/>
    <p:sldId id="264" r:id="rId13"/>
    <p:sldId id="265" r:id="rId14"/>
    <p:sldId id="283" r:id="rId15"/>
    <p:sldId id="266" r:id="rId16"/>
    <p:sldId id="268" r:id="rId17"/>
    <p:sldId id="269" r:id="rId18"/>
    <p:sldId id="286" r:id="rId19"/>
    <p:sldId id="287" r:id="rId20"/>
    <p:sldId id="288" r:id="rId21"/>
    <p:sldId id="289" r:id="rId22"/>
    <p:sldId id="270" r:id="rId23"/>
    <p:sldId id="271" r:id="rId24"/>
    <p:sldId id="272" r:id="rId25"/>
    <p:sldId id="273" r:id="rId26"/>
    <p:sldId id="274" r:id="rId27"/>
    <p:sldId id="275" r:id="rId28"/>
    <p:sldId id="285" r:id="rId29"/>
    <p:sldId id="277" r:id="rId30"/>
    <p:sldId id="278" r:id="rId31"/>
    <p:sldId id="284" r:id="rId32"/>
    <p:sldId id="279" r:id="rId33"/>
  </p:sldIdLst>
  <p:sldSz cx="12192000" cy="6858000"/>
  <p:notesSz cx="6858000" cy="12192000"/>
  <p:embeddedFontLst>
    <p:embeddedFont>
      <p:font typeface="Consolas" panose="020B0609020204030204" pitchFamily="49" charset="0"/>
      <p:regular r:id="rId35"/>
      <p:bold r:id="rId36"/>
      <p:italic r:id="rId37"/>
      <p:boldItalic r:id="rId38"/>
    </p:embeddedFont>
    <p:embeddedFont>
      <p:font typeface="Heebo Bold"/>
      <p:regular r:id="rId39"/>
      <p:bold r:id="rId40"/>
    </p:embeddedFont>
    <p:embeddedFont>
      <p:font typeface="Heebo Light" pitchFamily="2" charset="-79"/>
      <p:regular r:id="rId41"/>
    </p:embeddedFont>
    <p:embeddedFont>
      <p:font typeface="Montserrat" pitchFamily="2" charset="77"/>
      <p:regular r:id="rId42"/>
      <p:bold r:id="rId43"/>
      <p:italic r:id="rId44"/>
      <p:boldItalic r:id="rId45"/>
    </p:embeddedFont>
    <p:embeddedFont>
      <p:font typeface="Montserrat Light" panose="00000400000000000000" pitchFamily="2" charset="77"/>
      <p:regular r:id="rId46"/>
      <p:italic r:id="rId4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67"/>
    <p:restoredTop sz="94610"/>
  </p:normalViewPr>
  <p:slideViewPr>
    <p:cSldViewPr snapToGrid="0" snapToObjects="1">
      <p:cViewPr varScale="1">
        <p:scale>
          <a:sx n="106" d="100"/>
          <a:sy n="106" d="100"/>
        </p:scale>
        <p:origin x="48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5479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EA6D8-3B0A-958E-C0E3-D17D5C782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FDC7F-BB07-0B12-EBAC-043D54ABA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0BB25D-6275-6E5A-D615-3672F85740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7629BF-8D86-67CC-8194-4DFCF0D7D3DE}"/>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3034541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EF0D8-CEFC-FCAC-8F34-8293CC239E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0F1D65-D7F2-B396-EB1F-517A98E967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FA24AB-6F27-0DED-9296-8144536B5B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D536E7-D0F1-4484-A20D-C98F1D61FD6E}"/>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6728041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D0A2C">
              <a:alpha val="95000"/>
            </a:srgbClr>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2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github.com/android/compose-samples.git"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522288"/>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F2F0F4"/>
                </a:solidFill>
                <a:latin typeface="Montserrat" pitchFamily="34" charset="0"/>
                <a:ea typeface="Montserrat" pitchFamily="34" charset="-122"/>
                <a:cs typeface="Montserrat" pitchFamily="34" charset="-120"/>
              </a:rPr>
              <a:t>Pengenalan Compose &amp; Layout Dasar</a:t>
            </a:r>
            <a:endParaRPr lang="en-US" sz="3250" dirty="0"/>
          </a:p>
        </p:txBody>
      </p:sp>
      <p:sp>
        <p:nvSpPr>
          <p:cNvPr id="3" name="Text 1"/>
          <p:cNvSpPr/>
          <p:nvPr/>
        </p:nvSpPr>
        <p:spPr>
          <a:xfrm>
            <a:off x="661475" y="1369715"/>
            <a:ext cx="11478330" cy="264616"/>
          </a:xfrm>
          <a:prstGeom prst="rect">
            <a:avLst/>
          </a:prstGeom>
          <a:noFill/>
          <a:ln/>
        </p:spPr>
        <p:txBody>
          <a:bodyPr wrap="none" lIns="0" tIns="0" rIns="0" bIns="0" rtlCol="0" anchor="t"/>
          <a:lstStyle/>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Pertemuan 2 — UI Imperatif vs Deklaratif, Layout Composables &amp; Modifiers</a:t>
            </a:r>
            <a:endParaRPr lang="en-US" sz="1300" dirty="0"/>
          </a:p>
        </p:txBody>
      </p:sp>
      <p:sp>
        <p:nvSpPr>
          <p:cNvPr id="4" name="Shape 2"/>
          <p:cNvSpPr/>
          <p:nvPr/>
        </p:nvSpPr>
        <p:spPr>
          <a:xfrm>
            <a:off x="661475" y="1861641"/>
            <a:ext cx="10868745" cy="19050"/>
          </a:xfrm>
          <a:prstGeom prst="roundRect">
            <a:avLst>
              <a:gd name="adj" fmla="val 49999"/>
            </a:avLst>
          </a:prstGeom>
          <a:solidFill>
            <a:srgbClr val="DCD7E5">
              <a:alpha val="50000"/>
            </a:srgbClr>
          </a:solidFill>
          <a:ln/>
        </p:spPr>
        <p:txBody>
          <a:bodyPr/>
          <a:lstStyle/>
          <a:p>
            <a:endParaRPr lang="en-US"/>
          </a:p>
        </p:txBody>
      </p:sp>
      <p:sp>
        <p:nvSpPr>
          <p:cNvPr id="5" name="Shape 3"/>
          <p:cNvSpPr/>
          <p:nvPr/>
        </p:nvSpPr>
        <p:spPr>
          <a:xfrm>
            <a:off x="542415" y="2108002"/>
            <a:ext cx="6597981" cy="1945184"/>
          </a:xfrm>
          <a:prstGeom prst="roundRect">
            <a:avLst>
              <a:gd name="adj" fmla="val 6122"/>
            </a:avLst>
          </a:prstGeom>
          <a:solidFill>
            <a:srgbClr val="481C9E">
              <a:alpha val="95000"/>
            </a:srgbClr>
          </a:solidFill>
          <a:ln/>
        </p:spPr>
        <p:txBody>
          <a:bodyPr/>
          <a:lstStyle/>
          <a:p>
            <a:endParaRPr lang="en-US"/>
          </a:p>
        </p:txBody>
      </p:sp>
      <p:sp>
        <p:nvSpPr>
          <p:cNvPr id="6" name="Text 4"/>
          <p:cNvSpPr/>
          <p:nvPr/>
        </p:nvSpPr>
        <p:spPr>
          <a:xfrm>
            <a:off x="707710" y="2273300"/>
            <a:ext cx="6267392" cy="258465"/>
          </a:xfrm>
          <a:prstGeom prst="rect">
            <a:avLst/>
          </a:prstGeom>
          <a:noFill/>
          <a:ln/>
        </p:spPr>
        <p:txBody>
          <a:bodyPr wrap="none" lIns="0" tIns="0" rIns="0" bIns="0" rtlCol="0" anchor="t"/>
          <a:lstStyle/>
          <a:p>
            <a:pPr marL="0" indent="0" algn="l">
              <a:lnSpc>
                <a:spcPct val="104000"/>
              </a:lnSpc>
              <a:buNone/>
            </a:pPr>
            <a:r>
              <a:rPr lang="en-US" sz="1600" dirty="0">
                <a:solidFill>
                  <a:srgbClr val="F2F0F4"/>
                </a:solidFill>
                <a:latin typeface="Montserrat" pitchFamily="34" charset="0"/>
                <a:ea typeface="Montserrat" pitchFamily="34" charset="-122"/>
                <a:cs typeface="Montserrat" pitchFamily="34" charset="-120"/>
              </a:rPr>
              <a:t>Informasi Mata Kuliah</a:t>
            </a:r>
            <a:endParaRPr lang="en-US" sz="1600" dirty="0"/>
          </a:p>
        </p:txBody>
      </p:sp>
      <p:sp>
        <p:nvSpPr>
          <p:cNvPr id="7" name="Text 5"/>
          <p:cNvSpPr/>
          <p:nvPr/>
        </p:nvSpPr>
        <p:spPr>
          <a:xfrm>
            <a:off x="707710" y="2697063"/>
            <a:ext cx="6267392" cy="942677"/>
          </a:xfrm>
          <a:prstGeom prst="rect">
            <a:avLst/>
          </a:prstGeom>
          <a:noFill/>
          <a:ln/>
        </p:spPr>
        <p:txBody>
          <a:bodyPr wrap="square" lIns="0" tIns="0" rIns="0" bIns="0" rtlCol="0" anchor="t"/>
          <a:lstStyle/>
          <a:p>
            <a:pPr marL="0" indent="0" algn="l">
              <a:lnSpc>
                <a:spcPct val="133000"/>
              </a:lnSpc>
              <a:spcAft>
                <a:spcPts val="1150"/>
              </a:spcAft>
              <a:buNone/>
            </a:pPr>
            <a:r>
              <a:rPr lang="en-US" sz="1300" b="1" dirty="0">
                <a:solidFill>
                  <a:srgbClr val="DCD7E5"/>
                </a:solidFill>
                <a:latin typeface="Heebo Bold" pitchFamily="34" charset="0"/>
                <a:ea typeface="Heebo Bold" pitchFamily="34" charset="-122"/>
                <a:cs typeface="Heebo Bold" pitchFamily="34" charset="-120"/>
              </a:rPr>
              <a:t>Pemrograman Mobile</a:t>
            </a:r>
            <a:r>
              <a:rPr lang="en-US" sz="1300" dirty="0">
                <a:solidFill>
                  <a:srgbClr val="DCD7E5"/>
                </a:solidFill>
                <a:latin typeface="Heebo Light" pitchFamily="34" charset="0"/>
                <a:ea typeface="Heebo Light" pitchFamily="34" charset="-122"/>
                <a:cs typeface="Heebo Light" pitchFamily="34" charset="-120"/>
              </a:rPr>
              <a:t> · IF21507 / 2 SKS</a:t>
            </a:r>
            <a:endParaRPr lang="en-US" sz="1300" dirty="0"/>
          </a:p>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Program Studi Informatika · Fakultas Teknik</a:t>
            </a:r>
            <a:endParaRPr lang="en-US" sz="1300" dirty="0"/>
          </a:p>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Universitas Jenderal Soedirman</a:t>
            </a:r>
            <a:endParaRPr lang="en-US" sz="1300" dirty="0"/>
          </a:p>
        </p:txBody>
      </p:sp>
      <p:sp>
        <p:nvSpPr>
          <p:cNvPr id="8" name="Text 6"/>
          <p:cNvSpPr/>
          <p:nvPr/>
        </p:nvSpPr>
        <p:spPr>
          <a:xfrm>
            <a:off x="7431100" y="2273300"/>
            <a:ext cx="4105371" cy="258465"/>
          </a:xfrm>
          <a:prstGeom prst="rect">
            <a:avLst/>
          </a:prstGeom>
          <a:noFill/>
          <a:ln/>
        </p:spPr>
        <p:txBody>
          <a:bodyPr wrap="none" lIns="0" tIns="0" rIns="0" bIns="0" rtlCol="0" anchor="t"/>
          <a:lstStyle/>
          <a:p>
            <a:pPr marL="0" indent="0" algn="l">
              <a:lnSpc>
                <a:spcPct val="104000"/>
              </a:lnSpc>
              <a:buNone/>
            </a:pPr>
            <a:r>
              <a:rPr lang="en-US" sz="1600" dirty="0">
                <a:solidFill>
                  <a:srgbClr val="F2F0F4"/>
                </a:solidFill>
                <a:latin typeface="Montserrat" pitchFamily="34" charset="0"/>
                <a:ea typeface="Montserrat" pitchFamily="34" charset="-122"/>
                <a:cs typeface="Montserrat" pitchFamily="34" charset="-120"/>
              </a:rPr>
              <a:t>Pengampu</a:t>
            </a:r>
            <a:endParaRPr lang="en-US" sz="1600" dirty="0"/>
          </a:p>
        </p:txBody>
      </p:sp>
      <p:sp>
        <p:nvSpPr>
          <p:cNvPr id="9" name="Text 7"/>
          <p:cNvSpPr/>
          <p:nvPr/>
        </p:nvSpPr>
        <p:spPr>
          <a:xfrm>
            <a:off x="7431100" y="2697063"/>
            <a:ext cx="4105371" cy="1207294"/>
          </a:xfrm>
          <a:prstGeom prst="rect">
            <a:avLst/>
          </a:prstGeom>
          <a:noFill/>
          <a:ln/>
        </p:spPr>
        <p:txBody>
          <a:bodyPr wrap="square" lIns="0" tIns="0" rIns="0" bIns="0" rtlCol="0" anchor="t"/>
          <a:lstStyle/>
          <a:p>
            <a:pPr marL="0" indent="0" algn="l">
              <a:lnSpc>
                <a:spcPct val="133000"/>
              </a:lnSpc>
              <a:spcAft>
                <a:spcPts val="1150"/>
              </a:spcAft>
              <a:buNone/>
            </a:pPr>
            <a:r>
              <a:rPr lang="en-US" sz="1300" b="1" dirty="0">
                <a:solidFill>
                  <a:srgbClr val="DCD7E5"/>
                </a:solidFill>
                <a:latin typeface="Heebo Bold" pitchFamily="34" charset="0"/>
                <a:ea typeface="Heebo Bold" pitchFamily="34" charset="-122"/>
                <a:cs typeface="Heebo Bold" pitchFamily="34" charset="-120"/>
              </a:rPr>
              <a:t>Azis Amirulbahar, S.Pd., M.T.I.</a:t>
            </a:r>
            <a:endParaRPr lang="en-US" sz="1300" dirty="0"/>
          </a:p>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Topik pertemuan ini mencakup perbandingan paradigma UI, tiga pilar layout Compose, serta penguasaan Modifier untuk membangun antarmuka Android modern.</a:t>
            </a:r>
            <a:endParaRPr lang="en-US" sz="1300" dirty="0"/>
          </a:p>
        </p:txBody>
      </p:sp>
      <p:sp>
        <p:nvSpPr>
          <p:cNvPr id="10" name="Shape 8"/>
          <p:cNvSpPr/>
          <p:nvPr/>
        </p:nvSpPr>
        <p:spPr>
          <a:xfrm>
            <a:off x="661475" y="4239220"/>
            <a:ext cx="5351725" cy="965597"/>
          </a:xfrm>
          <a:prstGeom prst="roundRect">
            <a:avLst>
              <a:gd name="adj" fmla="val 7194"/>
            </a:avLst>
          </a:prstGeom>
          <a:solidFill>
            <a:srgbClr val="31136C"/>
          </a:solidFill>
          <a:ln w="6350">
            <a:solidFill>
              <a:srgbClr val="4A2C85"/>
            </a:solidFill>
            <a:prstDash val="solid"/>
          </a:ln>
        </p:spPr>
        <p:txBody>
          <a:bodyPr/>
          <a:lstStyle/>
          <a:p>
            <a:endParaRPr lang="en-US"/>
          </a:p>
        </p:txBody>
      </p:sp>
      <p:sp>
        <p:nvSpPr>
          <p:cNvPr id="11" name="Text 9"/>
          <p:cNvSpPr/>
          <p:nvPr/>
        </p:nvSpPr>
        <p:spPr>
          <a:xfrm>
            <a:off x="833119" y="4410869"/>
            <a:ext cx="5008437" cy="258465"/>
          </a:xfrm>
          <a:prstGeom prst="rect">
            <a:avLst/>
          </a:prstGeom>
          <a:noFill/>
          <a:ln/>
        </p:spPr>
        <p:txBody>
          <a:bodyPr wrap="none" lIns="0" tIns="0" rIns="0" bIns="0" rtlCol="0" anchor="t"/>
          <a:lstStyle/>
          <a:p>
            <a:pPr marL="0" indent="0" algn="l">
              <a:lnSpc>
                <a:spcPct val="104000"/>
              </a:lnSpc>
              <a:buNone/>
            </a:pPr>
            <a:r>
              <a:rPr lang="en-US" sz="1600" dirty="0">
                <a:solidFill>
                  <a:srgbClr val="DCD7E5"/>
                </a:solidFill>
                <a:latin typeface="Montserrat" pitchFamily="34" charset="0"/>
                <a:ea typeface="Montserrat" pitchFamily="34" charset="-122"/>
                <a:cs typeface="Montserrat" pitchFamily="34" charset="-120"/>
              </a:rPr>
              <a:t>Paradigma UI</a:t>
            </a:r>
            <a:endParaRPr lang="en-US" sz="1600" dirty="0"/>
          </a:p>
        </p:txBody>
      </p:sp>
      <p:sp>
        <p:nvSpPr>
          <p:cNvPr id="12" name="Text 10"/>
          <p:cNvSpPr/>
          <p:nvPr/>
        </p:nvSpPr>
        <p:spPr>
          <a:xfrm>
            <a:off x="833119" y="4768552"/>
            <a:ext cx="5008437" cy="264616"/>
          </a:xfrm>
          <a:prstGeom prst="rect">
            <a:avLst/>
          </a:prstGeom>
          <a:noFill/>
          <a:ln/>
        </p:spPr>
        <p:txBody>
          <a:bodyPr wrap="none" lIns="0" tIns="0" rIns="0" bIns="0" rtlCol="0" anchor="t"/>
          <a:lstStyle/>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Imperatif vs Deklaratif</a:t>
            </a:r>
            <a:endParaRPr lang="en-US" sz="1300" dirty="0"/>
          </a:p>
        </p:txBody>
      </p:sp>
      <p:sp>
        <p:nvSpPr>
          <p:cNvPr id="13" name="Shape 11"/>
          <p:cNvSpPr/>
          <p:nvPr/>
        </p:nvSpPr>
        <p:spPr>
          <a:xfrm>
            <a:off x="6178495" y="4239220"/>
            <a:ext cx="5351725" cy="965597"/>
          </a:xfrm>
          <a:prstGeom prst="roundRect">
            <a:avLst>
              <a:gd name="adj" fmla="val 7194"/>
            </a:avLst>
          </a:prstGeom>
          <a:solidFill>
            <a:srgbClr val="31136C"/>
          </a:solidFill>
          <a:ln w="6350">
            <a:solidFill>
              <a:srgbClr val="4A2C85"/>
            </a:solidFill>
            <a:prstDash val="solid"/>
          </a:ln>
        </p:spPr>
        <p:txBody>
          <a:bodyPr/>
          <a:lstStyle/>
          <a:p>
            <a:endParaRPr lang="en-US"/>
          </a:p>
        </p:txBody>
      </p:sp>
      <p:sp>
        <p:nvSpPr>
          <p:cNvPr id="14" name="Text 12"/>
          <p:cNvSpPr/>
          <p:nvPr/>
        </p:nvSpPr>
        <p:spPr>
          <a:xfrm>
            <a:off x="6350139" y="4410869"/>
            <a:ext cx="5008437" cy="258465"/>
          </a:xfrm>
          <a:prstGeom prst="rect">
            <a:avLst/>
          </a:prstGeom>
          <a:noFill/>
          <a:ln/>
        </p:spPr>
        <p:txBody>
          <a:bodyPr wrap="none" lIns="0" tIns="0" rIns="0" bIns="0" rtlCol="0" anchor="t"/>
          <a:lstStyle/>
          <a:p>
            <a:pPr marL="0" indent="0" algn="l">
              <a:lnSpc>
                <a:spcPct val="104000"/>
              </a:lnSpc>
              <a:buNone/>
            </a:pPr>
            <a:r>
              <a:rPr lang="en-US" sz="1600" dirty="0">
                <a:solidFill>
                  <a:srgbClr val="DCD7E5"/>
                </a:solidFill>
                <a:latin typeface="Montserrat" pitchFamily="34" charset="0"/>
                <a:ea typeface="Montserrat" pitchFamily="34" charset="-122"/>
                <a:cs typeface="Montserrat" pitchFamily="34" charset="-120"/>
              </a:rPr>
              <a:t>@Composable</a:t>
            </a:r>
            <a:endParaRPr lang="en-US" sz="1600" dirty="0"/>
          </a:p>
        </p:txBody>
      </p:sp>
      <p:sp>
        <p:nvSpPr>
          <p:cNvPr id="15" name="Text 13"/>
          <p:cNvSpPr/>
          <p:nvPr/>
        </p:nvSpPr>
        <p:spPr>
          <a:xfrm>
            <a:off x="6350139" y="4768552"/>
            <a:ext cx="5008437" cy="264616"/>
          </a:xfrm>
          <a:prstGeom prst="rect">
            <a:avLst/>
          </a:prstGeom>
          <a:noFill/>
          <a:ln/>
        </p:spPr>
        <p:txBody>
          <a:bodyPr wrap="none" lIns="0" tIns="0" rIns="0" bIns="0" rtlCol="0" anchor="t"/>
          <a:lstStyle/>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Anatomi &amp; Recomposition</a:t>
            </a:r>
            <a:endParaRPr lang="en-US" sz="1300" dirty="0"/>
          </a:p>
        </p:txBody>
      </p:sp>
      <p:sp>
        <p:nvSpPr>
          <p:cNvPr id="16" name="Shape 14"/>
          <p:cNvSpPr/>
          <p:nvPr/>
        </p:nvSpPr>
        <p:spPr>
          <a:xfrm>
            <a:off x="661475" y="5370116"/>
            <a:ext cx="5351725" cy="965597"/>
          </a:xfrm>
          <a:prstGeom prst="roundRect">
            <a:avLst>
              <a:gd name="adj" fmla="val 7194"/>
            </a:avLst>
          </a:prstGeom>
          <a:solidFill>
            <a:srgbClr val="31136C"/>
          </a:solidFill>
          <a:ln w="6350">
            <a:solidFill>
              <a:srgbClr val="4A2C85"/>
            </a:solidFill>
            <a:prstDash val="solid"/>
          </a:ln>
        </p:spPr>
        <p:txBody>
          <a:bodyPr/>
          <a:lstStyle/>
          <a:p>
            <a:endParaRPr lang="en-US"/>
          </a:p>
        </p:txBody>
      </p:sp>
      <p:sp>
        <p:nvSpPr>
          <p:cNvPr id="17" name="Text 15"/>
          <p:cNvSpPr/>
          <p:nvPr/>
        </p:nvSpPr>
        <p:spPr>
          <a:xfrm>
            <a:off x="833119" y="5541764"/>
            <a:ext cx="5008437" cy="258465"/>
          </a:xfrm>
          <a:prstGeom prst="rect">
            <a:avLst/>
          </a:prstGeom>
          <a:noFill/>
          <a:ln/>
        </p:spPr>
        <p:txBody>
          <a:bodyPr wrap="none" lIns="0" tIns="0" rIns="0" bIns="0" rtlCol="0" anchor="t"/>
          <a:lstStyle/>
          <a:p>
            <a:pPr marL="0" indent="0" algn="l">
              <a:lnSpc>
                <a:spcPct val="104000"/>
              </a:lnSpc>
              <a:buNone/>
            </a:pPr>
            <a:r>
              <a:rPr lang="en-US" sz="1600" dirty="0">
                <a:solidFill>
                  <a:srgbClr val="DCD7E5"/>
                </a:solidFill>
                <a:latin typeface="Montserrat" pitchFamily="34" charset="0"/>
                <a:ea typeface="Montserrat" pitchFamily="34" charset="-122"/>
                <a:cs typeface="Montserrat" pitchFamily="34" charset="-120"/>
              </a:rPr>
              <a:t>Layout Dasar</a:t>
            </a:r>
            <a:endParaRPr lang="en-US" sz="1600" dirty="0"/>
          </a:p>
        </p:txBody>
      </p:sp>
      <p:sp>
        <p:nvSpPr>
          <p:cNvPr id="18" name="Text 16"/>
          <p:cNvSpPr/>
          <p:nvPr/>
        </p:nvSpPr>
        <p:spPr>
          <a:xfrm>
            <a:off x="833119" y="5899448"/>
            <a:ext cx="5008437" cy="264616"/>
          </a:xfrm>
          <a:prstGeom prst="rect">
            <a:avLst/>
          </a:prstGeom>
          <a:noFill/>
          <a:ln/>
        </p:spPr>
        <p:txBody>
          <a:bodyPr wrap="none" lIns="0" tIns="0" rIns="0" bIns="0" rtlCol="0" anchor="t"/>
          <a:lstStyle/>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Column, Row, Box</a:t>
            </a:r>
            <a:endParaRPr lang="en-US" sz="1300" dirty="0"/>
          </a:p>
        </p:txBody>
      </p:sp>
      <p:sp>
        <p:nvSpPr>
          <p:cNvPr id="19" name="Shape 17"/>
          <p:cNvSpPr/>
          <p:nvPr/>
        </p:nvSpPr>
        <p:spPr>
          <a:xfrm>
            <a:off x="6178495" y="5370116"/>
            <a:ext cx="5351725" cy="965597"/>
          </a:xfrm>
          <a:prstGeom prst="roundRect">
            <a:avLst>
              <a:gd name="adj" fmla="val 7194"/>
            </a:avLst>
          </a:prstGeom>
          <a:solidFill>
            <a:srgbClr val="31136C"/>
          </a:solidFill>
          <a:ln w="6350">
            <a:solidFill>
              <a:srgbClr val="4A2C85"/>
            </a:solidFill>
            <a:prstDash val="solid"/>
          </a:ln>
        </p:spPr>
        <p:txBody>
          <a:bodyPr/>
          <a:lstStyle/>
          <a:p>
            <a:endParaRPr lang="en-US"/>
          </a:p>
        </p:txBody>
      </p:sp>
      <p:sp>
        <p:nvSpPr>
          <p:cNvPr id="20" name="Text 18"/>
          <p:cNvSpPr/>
          <p:nvPr/>
        </p:nvSpPr>
        <p:spPr>
          <a:xfrm>
            <a:off x="6350139" y="5541764"/>
            <a:ext cx="5008437" cy="258465"/>
          </a:xfrm>
          <a:prstGeom prst="rect">
            <a:avLst/>
          </a:prstGeom>
          <a:noFill/>
          <a:ln/>
        </p:spPr>
        <p:txBody>
          <a:bodyPr wrap="none" lIns="0" tIns="0" rIns="0" bIns="0" rtlCol="0" anchor="t"/>
          <a:lstStyle/>
          <a:p>
            <a:pPr marL="0" indent="0" algn="l">
              <a:lnSpc>
                <a:spcPct val="104000"/>
              </a:lnSpc>
              <a:buNone/>
            </a:pPr>
            <a:r>
              <a:rPr lang="en-US" sz="1600" dirty="0">
                <a:solidFill>
                  <a:srgbClr val="DCD7E5"/>
                </a:solidFill>
                <a:latin typeface="Montserrat" pitchFamily="34" charset="0"/>
                <a:ea typeface="Montserrat" pitchFamily="34" charset="-122"/>
                <a:cs typeface="Montserrat" pitchFamily="34" charset="-120"/>
              </a:rPr>
              <a:t>Modifiers</a:t>
            </a:r>
            <a:endParaRPr lang="en-US" sz="1600" dirty="0"/>
          </a:p>
        </p:txBody>
      </p:sp>
      <p:sp>
        <p:nvSpPr>
          <p:cNvPr id="21" name="Text 19"/>
          <p:cNvSpPr/>
          <p:nvPr/>
        </p:nvSpPr>
        <p:spPr>
          <a:xfrm>
            <a:off x="6350139" y="5899448"/>
            <a:ext cx="5008437" cy="264616"/>
          </a:xfrm>
          <a:prstGeom prst="rect">
            <a:avLst/>
          </a:prstGeom>
          <a:noFill/>
          <a:ln/>
        </p:spPr>
        <p:txBody>
          <a:bodyPr wrap="none" lIns="0" tIns="0" rIns="0" bIns="0" rtlCol="0" anchor="t"/>
          <a:lstStyle/>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Urutan &amp; Scope Safety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1614289"/>
            <a:ext cx="846811" cy="251420"/>
          </a:xfrm>
          <a:prstGeom prst="roundRect">
            <a:avLst>
              <a:gd name="adj" fmla="val 22103"/>
            </a:avLst>
          </a:prstGeom>
          <a:noFill/>
          <a:ln w="6350">
            <a:solidFill>
              <a:srgbClr val="481C9E"/>
            </a:solidFill>
            <a:prstDash val="solid"/>
          </a:ln>
        </p:spPr>
        <p:txBody>
          <a:bodyPr/>
          <a:lstStyle/>
          <a:p>
            <a:endParaRPr lang="en-US"/>
          </a:p>
        </p:txBody>
      </p:sp>
      <p:sp>
        <p:nvSpPr>
          <p:cNvPr id="3" name="Text 1"/>
          <p:cNvSpPr/>
          <p:nvPr/>
        </p:nvSpPr>
        <p:spPr>
          <a:xfrm>
            <a:off x="760691" y="1663898"/>
            <a:ext cx="1257963" cy="152202"/>
          </a:xfrm>
          <a:prstGeom prst="rect">
            <a:avLst/>
          </a:prstGeom>
          <a:noFill/>
          <a:ln/>
        </p:spPr>
        <p:txBody>
          <a:bodyPr wrap="none" lIns="0" tIns="0" rIns="0" bIns="0" rtlCol="0" anchor="t"/>
          <a:lstStyle/>
          <a:p>
            <a:pPr marL="0" indent="0" algn="l">
              <a:lnSpc>
                <a:spcPct val="96000"/>
              </a:lnSpc>
              <a:buNone/>
            </a:pPr>
            <a:r>
              <a:rPr lang="en-US" sz="1000" dirty="0">
                <a:solidFill>
                  <a:srgbClr val="481C9E"/>
                </a:solidFill>
                <a:latin typeface="Heebo Light" pitchFamily="34" charset="0"/>
                <a:ea typeface="Heebo Light" pitchFamily="34" charset="-122"/>
                <a:cs typeface="Heebo Light" pitchFamily="34" charset="-120"/>
              </a:rPr>
              <a:t>BAGIAN 01</a:t>
            </a:r>
            <a:endParaRPr lang="en-US" sz="1000" dirty="0"/>
          </a:p>
        </p:txBody>
      </p:sp>
      <p:sp>
        <p:nvSpPr>
          <p:cNvPr id="4" name="Text 2"/>
          <p:cNvSpPr/>
          <p:nvPr/>
        </p:nvSpPr>
        <p:spPr>
          <a:xfrm>
            <a:off x="661475" y="1931789"/>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F2F0F4"/>
                </a:solidFill>
                <a:latin typeface="Montserrat" pitchFamily="34" charset="0"/>
                <a:ea typeface="Montserrat" pitchFamily="34" charset="-122"/>
                <a:cs typeface="Montserrat" pitchFamily="34" charset="-120"/>
              </a:rPr>
              <a:t>Android App Fundamentals</a:t>
            </a:r>
            <a:endParaRPr lang="en-US" sz="3250" dirty="0"/>
          </a:p>
        </p:txBody>
      </p:sp>
      <p:sp>
        <p:nvSpPr>
          <p:cNvPr id="5" name="Text 3"/>
          <p:cNvSpPr/>
          <p:nvPr/>
        </p:nvSpPr>
        <p:spPr>
          <a:xfrm>
            <a:off x="661475" y="2696567"/>
            <a:ext cx="11478330" cy="264616"/>
          </a:xfrm>
          <a:prstGeom prst="rect">
            <a:avLst/>
          </a:prstGeom>
          <a:noFill/>
          <a:ln/>
        </p:spPr>
        <p:txBody>
          <a:bodyPr wrap="none" lIns="0" tIns="0" rIns="0" bIns="0" rtlCol="0" anchor="t"/>
          <a:lstStyle/>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Arsitektur dasar aplikasi Android: komponen, manifest, intent, dan sumber daya.</a:t>
            </a:r>
            <a:endParaRPr lang="en-US" sz="1300" dirty="0"/>
          </a:p>
        </p:txBody>
      </p:sp>
      <p:sp>
        <p:nvSpPr>
          <p:cNvPr id="6" name="Shape 4"/>
          <p:cNvSpPr/>
          <p:nvPr/>
        </p:nvSpPr>
        <p:spPr>
          <a:xfrm>
            <a:off x="661475" y="3147219"/>
            <a:ext cx="5351725" cy="965597"/>
          </a:xfrm>
          <a:prstGeom prst="roundRect">
            <a:avLst>
              <a:gd name="adj" fmla="val 7194"/>
            </a:avLst>
          </a:prstGeom>
          <a:solidFill>
            <a:srgbClr val="31136C"/>
          </a:solidFill>
          <a:ln w="6350">
            <a:solidFill>
              <a:srgbClr val="4A2C85"/>
            </a:solidFill>
            <a:prstDash val="solid"/>
          </a:ln>
        </p:spPr>
        <p:txBody>
          <a:bodyPr/>
          <a:lstStyle/>
          <a:p>
            <a:endParaRPr lang="en-US"/>
          </a:p>
        </p:txBody>
      </p:sp>
      <p:sp>
        <p:nvSpPr>
          <p:cNvPr id="7" name="Text 5"/>
          <p:cNvSpPr/>
          <p:nvPr/>
        </p:nvSpPr>
        <p:spPr>
          <a:xfrm>
            <a:off x="833119" y="3318867"/>
            <a:ext cx="5008437" cy="258465"/>
          </a:xfrm>
          <a:prstGeom prst="rect">
            <a:avLst/>
          </a:prstGeom>
          <a:noFill/>
          <a:ln/>
        </p:spPr>
        <p:txBody>
          <a:bodyPr wrap="none" lIns="0" tIns="0" rIns="0" bIns="0" rtlCol="0" anchor="t"/>
          <a:lstStyle/>
          <a:p>
            <a:pPr marL="0" indent="0" algn="l">
              <a:lnSpc>
                <a:spcPct val="104000"/>
              </a:lnSpc>
              <a:buNone/>
            </a:pPr>
            <a:r>
              <a:rPr lang="en-US" sz="1600" dirty="0">
                <a:solidFill>
                  <a:srgbClr val="DCD7E5"/>
                </a:solidFill>
                <a:latin typeface="Montserrat" pitchFamily="34" charset="0"/>
                <a:ea typeface="Montserrat" pitchFamily="34" charset="-122"/>
                <a:cs typeface="Montserrat" pitchFamily="34" charset="-120"/>
              </a:rPr>
              <a:t>App Components</a:t>
            </a:r>
            <a:endParaRPr lang="en-US" sz="1600" dirty="0"/>
          </a:p>
        </p:txBody>
      </p:sp>
      <p:sp>
        <p:nvSpPr>
          <p:cNvPr id="8" name="Text 6"/>
          <p:cNvSpPr/>
          <p:nvPr/>
        </p:nvSpPr>
        <p:spPr>
          <a:xfrm>
            <a:off x="833119" y="3676551"/>
            <a:ext cx="5008437" cy="264616"/>
          </a:xfrm>
          <a:prstGeom prst="rect">
            <a:avLst/>
          </a:prstGeom>
          <a:noFill/>
          <a:ln/>
        </p:spPr>
        <p:txBody>
          <a:bodyPr wrap="none" lIns="0" tIns="0" rIns="0" bIns="0" rtlCol="0" anchor="t"/>
          <a:lstStyle/>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Blok bangunan inti aplikasi Android.</a:t>
            </a:r>
            <a:endParaRPr lang="en-US" sz="1300" dirty="0"/>
          </a:p>
        </p:txBody>
      </p:sp>
      <p:sp>
        <p:nvSpPr>
          <p:cNvPr id="9" name="Shape 7"/>
          <p:cNvSpPr/>
          <p:nvPr/>
        </p:nvSpPr>
        <p:spPr>
          <a:xfrm>
            <a:off x="6178495" y="3147219"/>
            <a:ext cx="5351725" cy="965597"/>
          </a:xfrm>
          <a:prstGeom prst="roundRect">
            <a:avLst>
              <a:gd name="adj" fmla="val 7194"/>
            </a:avLst>
          </a:prstGeom>
          <a:solidFill>
            <a:srgbClr val="31136C"/>
          </a:solidFill>
          <a:ln w="6350">
            <a:solidFill>
              <a:srgbClr val="4A2C85"/>
            </a:solidFill>
            <a:prstDash val="solid"/>
          </a:ln>
        </p:spPr>
        <p:txBody>
          <a:bodyPr/>
          <a:lstStyle/>
          <a:p>
            <a:endParaRPr lang="en-US"/>
          </a:p>
        </p:txBody>
      </p:sp>
      <p:sp>
        <p:nvSpPr>
          <p:cNvPr id="10" name="Text 8"/>
          <p:cNvSpPr/>
          <p:nvPr/>
        </p:nvSpPr>
        <p:spPr>
          <a:xfrm>
            <a:off x="6350139" y="3318867"/>
            <a:ext cx="5008437" cy="258465"/>
          </a:xfrm>
          <a:prstGeom prst="rect">
            <a:avLst/>
          </a:prstGeom>
          <a:noFill/>
          <a:ln/>
        </p:spPr>
        <p:txBody>
          <a:bodyPr wrap="none" lIns="0" tIns="0" rIns="0" bIns="0" rtlCol="0" anchor="t"/>
          <a:lstStyle/>
          <a:p>
            <a:pPr marL="0" indent="0" algn="l">
              <a:lnSpc>
                <a:spcPct val="104000"/>
              </a:lnSpc>
              <a:buNone/>
            </a:pPr>
            <a:r>
              <a:rPr lang="en-US" sz="1600" dirty="0">
                <a:solidFill>
                  <a:srgbClr val="DCD7E5"/>
                </a:solidFill>
                <a:latin typeface="Montserrat" pitchFamily="34" charset="0"/>
                <a:ea typeface="Montserrat" pitchFamily="34" charset="-122"/>
                <a:cs typeface="Montserrat" pitchFamily="34" charset="-120"/>
              </a:rPr>
              <a:t>Intents</a:t>
            </a:r>
            <a:endParaRPr lang="en-US" sz="1600" dirty="0"/>
          </a:p>
        </p:txBody>
      </p:sp>
      <p:sp>
        <p:nvSpPr>
          <p:cNvPr id="11" name="Text 9"/>
          <p:cNvSpPr/>
          <p:nvPr/>
        </p:nvSpPr>
        <p:spPr>
          <a:xfrm>
            <a:off x="6350139" y="3676551"/>
            <a:ext cx="5008437" cy="264616"/>
          </a:xfrm>
          <a:prstGeom prst="rect">
            <a:avLst/>
          </a:prstGeom>
          <a:noFill/>
          <a:ln/>
        </p:spPr>
        <p:txBody>
          <a:bodyPr wrap="none" lIns="0" tIns="0" rIns="0" bIns="0" rtlCol="0" anchor="t"/>
          <a:lstStyle/>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Pesan untuk komunikasi antar komponen.</a:t>
            </a:r>
            <a:endParaRPr lang="en-US" sz="1300" dirty="0"/>
          </a:p>
        </p:txBody>
      </p:sp>
      <p:sp>
        <p:nvSpPr>
          <p:cNvPr id="12" name="Shape 10"/>
          <p:cNvSpPr/>
          <p:nvPr/>
        </p:nvSpPr>
        <p:spPr>
          <a:xfrm>
            <a:off x="661475" y="4278114"/>
            <a:ext cx="5351725" cy="965597"/>
          </a:xfrm>
          <a:prstGeom prst="roundRect">
            <a:avLst>
              <a:gd name="adj" fmla="val 7194"/>
            </a:avLst>
          </a:prstGeom>
          <a:solidFill>
            <a:srgbClr val="31136C"/>
          </a:solidFill>
          <a:ln w="6350">
            <a:solidFill>
              <a:srgbClr val="4A2C85"/>
            </a:solidFill>
            <a:prstDash val="solid"/>
          </a:ln>
        </p:spPr>
        <p:txBody>
          <a:bodyPr/>
          <a:lstStyle/>
          <a:p>
            <a:endParaRPr lang="en-US"/>
          </a:p>
        </p:txBody>
      </p:sp>
      <p:sp>
        <p:nvSpPr>
          <p:cNvPr id="13" name="Text 11"/>
          <p:cNvSpPr/>
          <p:nvPr/>
        </p:nvSpPr>
        <p:spPr>
          <a:xfrm>
            <a:off x="833119" y="4449762"/>
            <a:ext cx="5008437" cy="258465"/>
          </a:xfrm>
          <a:prstGeom prst="rect">
            <a:avLst/>
          </a:prstGeom>
          <a:noFill/>
          <a:ln/>
        </p:spPr>
        <p:txBody>
          <a:bodyPr wrap="none" lIns="0" tIns="0" rIns="0" bIns="0" rtlCol="0" anchor="t"/>
          <a:lstStyle/>
          <a:p>
            <a:pPr marL="0" indent="0" algn="l">
              <a:lnSpc>
                <a:spcPct val="104000"/>
              </a:lnSpc>
              <a:buNone/>
            </a:pPr>
            <a:r>
              <a:rPr lang="en-US" sz="1600" dirty="0">
                <a:solidFill>
                  <a:srgbClr val="DCD7E5"/>
                </a:solidFill>
                <a:latin typeface="Montserrat" pitchFamily="34" charset="0"/>
                <a:ea typeface="Montserrat" pitchFamily="34" charset="-122"/>
                <a:cs typeface="Montserrat" pitchFamily="34" charset="-120"/>
              </a:rPr>
              <a:t>AndroidManifest.xml</a:t>
            </a:r>
            <a:endParaRPr lang="en-US" sz="1600" dirty="0"/>
          </a:p>
        </p:txBody>
      </p:sp>
      <p:sp>
        <p:nvSpPr>
          <p:cNvPr id="14" name="Text 12"/>
          <p:cNvSpPr/>
          <p:nvPr/>
        </p:nvSpPr>
        <p:spPr>
          <a:xfrm>
            <a:off x="833119" y="4807446"/>
            <a:ext cx="5008437" cy="264616"/>
          </a:xfrm>
          <a:prstGeom prst="rect">
            <a:avLst/>
          </a:prstGeom>
          <a:noFill/>
          <a:ln/>
        </p:spPr>
        <p:txBody>
          <a:bodyPr wrap="none" lIns="0" tIns="0" rIns="0" bIns="0" rtlCol="0" anchor="t"/>
          <a:lstStyle/>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Mendeklarasikan komponen dan izin aplikasi.</a:t>
            </a:r>
            <a:endParaRPr lang="en-US" sz="1300" dirty="0"/>
          </a:p>
        </p:txBody>
      </p:sp>
      <p:sp>
        <p:nvSpPr>
          <p:cNvPr id="15" name="Shape 13"/>
          <p:cNvSpPr/>
          <p:nvPr/>
        </p:nvSpPr>
        <p:spPr>
          <a:xfrm>
            <a:off x="6178495" y="4278114"/>
            <a:ext cx="5351725" cy="965597"/>
          </a:xfrm>
          <a:prstGeom prst="roundRect">
            <a:avLst>
              <a:gd name="adj" fmla="val 7194"/>
            </a:avLst>
          </a:prstGeom>
          <a:solidFill>
            <a:srgbClr val="31136C"/>
          </a:solidFill>
          <a:ln w="6350">
            <a:solidFill>
              <a:srgbClr val="4A2C85"/>
            </a:solidFill>
            <a:prstDash val="solid"/>
          </a:ln>
        </p:spPr>
        <p:txBody>
          <a:bodyPr/>
          <a:lstStyle/>
          <a:p>
            <a:endParaRPr lang="en-US"/>
          </a:p>
        </p:txBody>
      </p:sp>
      <p:sp>
        <p:nvSpPr>
          <p:cNvPr id="16" name="Text 14"/>
          <p:cNvSpPr/>
          <p:nvPr/>
        </p:nvSpPr>
        <p:spPr>
          <a:xfrm>
            <a:off x="6350139" y="4449762"/>
            <a:ext cx="5008437" cy="258465"/>
          </a:xfrm>
          <a:prstGeom prst="rect">
            <a:avLst/>
          </a:prstGeom>
          <a:noFill/>
          <a:ln/>
        </p:spPr>
        <p:txBody>
          <a:bodyPr wrap="none" lIns="0" tIns="0" rIns="0" bIns="0" rtlCol="0" anchor="t"/>
          <a:lstStyle/>
          <a:p>
            <a:pPr marL="0" indent="0" algn="l">
              <a:lnSpc>
                <a:spcPct val="104000"/>
              </a:lnSpc>
              <a:buNone/>
            </a:pPr>
            <a:r>
              <a:rPr lang="en-US" sz="1600" dirty="0">
                <a:solidFill>
                  <a:srgbClr val="DCD7E5"/>
                </a:solidFill>
                <a:latin typeface="Montserrat" pitchFamily="34" charset="0"/>
                <a:ea typeface="Montserrat" pitchFamily="34" charset="-122"/>
                <a:cs typeface="Montserrat" pitchFamily="34" charset="-120"/>
              </a:rPr>
              <a:t>App Resources</a:t>
            </a:r>
            <a:endParaRPr lang="en-US" sz="1600" dirty="0"/>
          </a:p>
        </p:txBody>
      </p:sp>
      <p:sp>
        <p:nvSpPr>
          <p:cNvPr id="17" name="Text 15"/>
          <p:cNvSpPr/>
          <p:nvPr/>
        </p:nvSpPr>
        <p:spPr>
          <a:xfrm>
            <a:off x="6350139" y="4807446"/>
            <a:ext cx="5008437" cy="264616"/>
          </a:xfrm>
          <a:prstGeom prst="rect">
            <a:avLst/>
          </a:prstGeom>
          <a:noFill/>
          <a:ln/>
        </p:spPr>
        <p:txBody>
          <a:bodyPr wrap="none" lIns="0" tIns="0" rIns="0" bIns="0" rtlCol="0" anchor="t"/>
          <a:lstStyle/>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Data eksternal seperti layout, string, dan gambar.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475059"/>
            <a:ext cx="10868745" cy="468412"/>
          </a:xfrm>
          <a:prstGeom prst="rect">
            <a:avLst/>
          </a:prstGeom>
          <a:noFill/>
          <a:ln/>
        </p:spPr>
        <p:txBody>
          <a:bodyPr wrap="none" lIns="0" tIns="0" rIns="0" bIns="0" rtlCol="0" anchor="t"/>
          <a:lstStyle/>
          <a:p>
            <a:pPr marL="0" indent="0" algn="l">
              <a:lnSpc>
                <a:spcPct val="104000"/>
              </a:lnSpc>
              <a:buNone/>
            </a:pPr>
            <a:r>
              <a:rPr lang="en-US" sz="2950" dirty="0">
                <a:solidFill>
                  <a:srgbClr val="F2F0F4"/>
                </a:solidFill>
                <a:latin typeface="Montserrat" pitchFamily="34" charset="0"/>
                <a:ea typeface="Montserrat" pitchFamily="34" charset="-122"/>
                <a:cs typeface="Montserrat" pitchFamily="34" charset="-120"/>
              </a:rPr>
              <a:t>Apa itu Android App Fundamentals?</a:t>
            </a:r>
            <a:endParaRPr lang="en-US" sz="2950" dirty="0"/>
          </a:p>
        </p:txBody>
      </p:sp>
      <p:sp>
        <p:nvSpPr>
          <p:cNvPr id="3" name="Text 1"/>
          <p:cNvSpPr/>
          <p:nvPr/>
        </p:nvSpPr>
        <p:spPr>
          <a:xfrm>
            <a:off x="661475" y="1215132"/>
            <a:ext cx="10868745"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DCD7E5"/>
                </a:solidFill>
                <a:latin typeface="Heebo Light" pitchFamily="34" charset="0"/>
                <a:ea typeface="Heebo Light" pitchFamily="34" charset="-122"/>
                <a:cs typeface="Heebo Light" pitchFamily="34" charset="-120"/>
              </a:rPr>
              <a:t>Aplikasi Android umumnya ditulis dalam Kotlin, Java, atau C++. Kode dikompilasi menjadi APK (Android Package) atau AAB (Android App Bundle), lalu berjalan di dalam sandbox keamanan miliknya sendiri.</a:t>
            </a:r>
            <a:endParaRPr lang="en-US" sz="11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977926"/>
            <a:ext cx="6374943" cy="936327"/>
          </a:xfrm>
          <a:prstGeom prst="rect">
            <a:avLst/>
          </a:prstGeom>
        </p:spPr>
      </p:pic>
      <p:sp>
        <p:nvSpPr>
          <p:cNvPr id="5" name="Text 2"/>
          <p:cNvSpPr/>
          <p:nvPr/>
        </p:nvSpPr>
        <p:spPr>
          <a:xfrm>
            <a:off x="906539" y="2146796"/>
            <a:ext cx="5961013" cy="234156"/>
          </a:xfrm>
          <a:prstGeom prst="rect">
            <a:avLst/>
          </a:prstGeom>
          <a:noFill/>
          <a:ln/>
        </p:spPr>
        <p:txBody>
          <a:bodyPr wrap="none" lIns="0" tIns="0" rIns="0" bIns="0" rtlCol="0" anchor="t"/>
          <a:lstStyle/>
          <a:p>
            <a:pPr marL="0" indent="0" algn="l">
              <a:lnSpc>
                <a:spcPct val="104000"/>
              </a:lnSpc>
              <a:buNone/>
            </a:pPr>
            <a:r>
              <a:rPr lang="en-US" sz="1450" dirty="0">
                <a:solidFill>
                  <a:srgbClr val="DCD7E5"/>
                </a:solidFill>
                <a:latin typeface="Montserrat" pitchFamily="34" charset="0"/>
                <a:ea typeface="Montserrat" pitchFamily="34" charset="-122"/>
                <a:cs typeface="Montserrat" pitchFamily="34" charset="-120"/>
              </a:rPr>
              <a:t>Bahasa Pemrograman</a:t>
            </a:r>
            <a:endParaRPr lang="en-US" sz="1450" dirty="0"/>
          </a:p>
        </p:txBody>
      </p:sp>
      <p:sp>
        <p:nvSpPr>
          <p:cNvPr id="6" name="Text 3"/>
          <p:cNvSpPr/>
          <p:nvPr/>
        </p:nvSpPr>
        <p:spPr>
          <a:xfrm>
            <a:off x="906539" y="2516783"/>
            <a:ext cx="5961013" cy="228600"/>
          </a:xfrm>
          <a:prstGeom prst="rect">
            <a:avLst/>
          </a:prstGeom>
          <a:noFill/>
          <a:ln/>
        </p:spPr>
        <p:txBody>
          <a:bodyPr wrap="none" lIns="0" tIns="0" rIns="0" bIns="0" rtlCol="0" anchor="t"/>
          <a:lstStyle/>
          <a:p>
            <a:pPr marL="0" indent="0" algn="l">
              <a:lnSpc>
                <a:spcPct val="127000"/>
              </a:lnSpc>
              <a:buNone/>
            </a:pPr>
            <a:r>
              <a:rPr lang="en-US" sz="1150" dirty="0">
                <a:solidFill>
                  <a:srgbClr val="DCD7E5"/>
                </a:solidFill>
                <a:latin typeface="Heebo Light" pitchFamily="34" charset="0"/>
                <a:ea typeface="Heebo Light" pitchFamily="34" charset="-122"/>
                <a:cs typeface="Heebo Light" pitchFamily="34" charset="-120"/>
              </a:rPr>
              <a:t>Kotlin (direkomendasikan), Java, atau C++ untuk komponen native.</a:t>
            </a:r>
            <a:endParaRPr lang="en-US" sz="11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3050084"/>
            <a:ext cx="6374943" cy="1164927"/>
          </a:xfrm>
          <a:prstGeom prst="rect">
            <a:avLst/>
          </a:prstGeom>
        </p:spPr>
      </p:pic>
      <p:sp>
        <p:nvSpPr>
          <p:cNvPr id="8" name="Text 4"/>
          <p:cNvSpPr/>
          <p:nvPr/>
        </p:nvSpPr>
        <p:spPr>
          <a:xfrm>
            <a:off x="906539" y="3218954"/>
            <a:ext cx="5961013" cy="234156"/>
          </a:xfrm>
          <a:prstGeom prst="rect">
            <a:avLst/>
          </a:prstGeom>
          <a:noFill/>
          <a:ln/>
        </p:spPr>
        <p:txBody>
          <a:bodyPr wrap="none" lIns="0" tIns="0" rIns="0" bIns="0" rtlCol="0" anchor="t"/>
          <a:lstStyle/>
          <a:p>
            <a:pPr marL="0" indent="0" algn="l">
              <a:lnSpc>
                <a:spcPct val="104000"/>
              </a:lnSpc>
              <a:buNone/>
            </a:pPr>
            <a:r>
              <a:rPr lang="en-US" sz="1450" dirty="0">
                <a:solidFill>
                  <a:srgbClr val="DCD7E5"/>
                </a:solidFill>
                <a:latin typeface="Montserrat" pitchFamily="34" charset="0"/>
                <a:ea typeface="Montserrat" pitchFamily="34" charset="-122"/>
                <a:cs typeface="Montserrat" pitchFamily="34" charset="-120"/>
              </a:rPr>
              <a:t>Format Distribusi</a:t>
            </a:r>
            <a:endParaRPr lang="en-US" sz="1450" dirty="0"/>
          </a:p>
        </p:txBody>
      </p:sp>
      <p:sp>
        <p:nvSpPr>
          <p:cNvPr id="9" name="Text 5"/>
          <p:cNvSpPr/>
          <p:nvPr/>
        </p:nvSpPr>
        <p:spPr>
          <a:xfrm>
            <a:off x="906539" y="3588941"/>
            <a:ext cx="5961013"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DCD7E5"/>
                </a:solidFill>
                <a:latin typeface="Heebo Light" pitchFamily="34" charset="0"/>
                <a:ea typeface="Heebo Light" pitchFamily="34" charset="-122"/>
                <a:cs typeface="Heebo Light" pitchFamily="34" charset="-120"/>
              </a:rPr>
              <a:t>APK (Android Package) untuk instalasi langsung; AAB (Android App Bundle) untuk distribusi via Google Play.</a:t>
            </a:r>
            <a:endParaRPr lang="en-US" sz="11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4350841"/>
            <a:ext cx="6374943" cy="1164927"/>
          </a:xfrm>
          <a:prstGeom prst="rect">
            <a:avLst/>
          </a:prstGeom>
        </p:spPr>
      </p:pic>
      <p:sp>
        <p:nvSpPr>
          <p:cNvPr id="11" name="Text 6"/>
          <p:cNvSpPr/>
          <p:nvPr/>
        </p:nvSpPr>
        <p:spPr>
          <a:xfrm>
            <a:off x="906539" y="4519712"/>
            <a:ext cx="5961013" cy="234156"/>
          </a:xfrm>
          <a:prstGeom prst="rect">
            <a:avLst/>
          </a:prstGeom>
          <a:noFill/>
          <a:ln/>
        </p:spPr>
        <p:txBody>
          <a:bodyPr wrap="none" lIns="0" tIns="0" rIns="0" bIns="0" rtlCol="0" anchor="t"/>
          <a:lstStyle/>
          <a:p>
            <a:pPr marL="0" indent="0" algn="l">
              <a:lnSpc>
                <a:spcPct val="104000"/>
              </a:lnSpc>
              <a:buNone/>
            </a:pPr>
            <a:r>
              <a:rPr lang="en-US" sz="1450" dirty="0">
                <a:solidFill>
                  <a:srgbClr val="DCD7E5"/>
                </a:solidFill>
                <a:latin typeface="Montserrat" pitchFamily="34" charset="0"/>
                <a:ea typeface="Montserrat" pitchFamily="34" charset="-122"/>
                <a:cs typeface="Montserrat" pitchFamily="34" charset="-120"/>
              </a:rPr>
              <a:t>Security Sandbox</a:t>
            </a:r>
            <a:endParaRPr lang="en-US" sz="1450" dirty="0"/>
          </a:p>
        </p:txBody>
      </p:sp>
      <p:sp>
        <p:nvSpPr>
          <p:cNvPr id="12" name="Text 7"/>
          <p:cNvSpPr/>
          <p:nvPr/>
        </p:nvSpPr>
        <p:spPr>
          <a:xfrm>
            <a:off x="906539" y="4889698"/>
            <a:ext cx="5961013"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DCD7E5"/>
                </a:solidFill>
                <a:latin typeface="Heebo Light" pitchFamily="34" charset="0"/>
                <a:ea typeface="Heebo Light" pitchFamily="34" charset="-122"/>
                <a:cs typeface="Heebo Light" pitchFamily="34" charset="-120"/>
              </a:rPr>
              <a:t>Setiap aplikasi berjalan dalam proses terpisah dengan ID pengguna unik — isolasi penuh antar aplikasi.</a:t>
            </a:r>
            <a:endParaRPr lang="en-US" sz="1150" dirty="0"/>
          </a:p>
        </p:txBody>
      </p:sp>
      <p:sp>
        <p:nvSpPr>
          <p:cNvPr id="13" name="Shape 8"/>
          <p:cNvSpPr/>
          <p:nvPr/>
        </p:nvSpPr>
        <p:spPr>
          <a:xfrm>
            <a:off x="7408479" y="1977926"/>
            <a:ext cx="4127992" cy="910927"/>
          </a:xfrm>
          <a:prstGeom prst="roundRect">
            <a:avLst>
              <a:gd name="adj" fmla="val 6911"/>
            </a:avLst>
          </a:prstGeom>
          <a:solidFill>
            <a:srgbClr val="31136C"/>
          </a:solidFill>
          <a:ln w="6350">
            <a:solidFill>
              <a:srgbClr val="4A2C85"/>
            </a:solidFill>
            <a:prstDash val="solid"/>
          </a:ln>
        </p:spPr>
        <p:txBody>
          <a:bodyPr/>
          <a:lstStyle/>
          <a:p>
            <a:endParaRPr lang="en-US"/>
          </a:p>
        </p:txBody>
      </p:sp>
      <p:sp>
        <p:nvSpPr>
          <p:cNvPr id="14" name="Text 9"/>
          <p:cNvSpPr/>
          <p:nvPr/>
        </p:nvSpPr>
        <p:spPr>
          <a:xfrm>
            <a:off x="7564645" y="2134096"/>
            <a:ext cx="3815659" cy="234156"/>
          </a:xfrm>
          <a:prstGeom prst="rect">
            <a:avLst/>
          </a:prstGeom>
          <a:noFill/>
          <a:ln/>
        </p:spPr>
        <p:txBody>
          <a:bodyPr wrap="none" lIns="0" tIns="0" rIns="0" bIns="0" rtlCol="0" anchor="t"/>
          <a:lstStyle/>
          <a:p>
            <a:pPr marL="0" indent="0" algn="l">
              <a:lnSpc>
                <a:spcPct val="104000"/>
              </a:lnSpc>
              <a:buNone/>
            </a:pPr>
            <a:r>
              <a:rPr lang="en-US" sz="1450" dirty="0">
                <a:solidFill>
                  <a:srgbClr val="DCD7E5"/>
                </a:solidFill>
                <a:latin typeface="Montserrat" pitchFamily="34" charset="0"/>
                <a:ea typeface="Montserrat" pitchFamily="34" charset="-122"/>
                <a:cs typeface="Montserrat" pitchFamily="34" charset="-120"/>
              </a:rPr>
              <a:t>1 Proses</a:t>
            </a:r>
            <a:endParaRPr lang="en-US" sz="1450" dirty="0"/>
          </a:p>
        </p:txBody>
      </p:sp>
      <p:sp>
        <p:nvSpPr>
          <p:cNvPr id="15" name="Text 10"/>
          <p:cNvSpPr/>
          <p:nvPr/>
        </p:nvSpPr>
        <p:spPr>
          <a:xfrm>
            <a:off x="7564645" y="2504083"/>
            <a:ext cx="3815659" cy="228600"/>
          </a:xfrm>
          <a:prstGeom prst="rect">
            <a:avLst/>
          </a:prstGeom>
          <a:noFill/>
          <a:ln/>
        </p:spPr>
        <p:txBody>
          <a:bodyPr wrap="none" lIns="0" tIns="0" rIns="0" bIns="0" rtlCol="0" anchor="t"/>
          <a:lstStyle/>
          <a:p>
            <a:pPr marL="0" indent="0" algn="l">
              <a:lnSpc>
                <a:spcPct val="127000"/>
              </a:lnSpc>
              <a:buNone/>
            </a:pPr>
            <a:r>
              <a:rPr lang="en-US" sz="1150" dirty="0">
                <a:solidFill>
                  <a:srgbClr val="DCD7E5"/>
                </a:solidFill>
                <a:latin typeface="Heebo Light" pitchFamily="34" charset="0"/>
                <a:ea typeface="Heebo Light" pitchFamily="34" charset="-122"/>
                <a:cs typeface="Heebo Light" pitchFamily="34" charset="-120"/>
              </a:rPr>
              <a:t>per aplikasi</a:t>
            </a:r>
            <a:endParaRPr lang="en-US" sz="1150" dirty="0"/>
          </a:p>
        </p:txBody>
      </p:sp>
      <p:sp>
        <p:nvSpPr>
          <p:cNvPr id="16" name="Shape 11"/>
          <p:cNvSpPr/>
          <p:nvPr/>
        </p:nvSpPr>
        <p:spPr>
          <a:xfrm>
            <a:off x="7408479" y="3024684"/>
            <a:ext cx="4127992" cy="910927"/>
          </a:xfrm>
          <a:prstGeom prst="roundRect">
            <a:avLst>
              <a:gd name="adj" fmla="val 6911"/>
            </a:avLst>
          </a:prstGeom>
          <a:solidFill>
            <a:srgbClr val="31136C"/>
          </a:solidFill>
          <a:ln w="6350">
            <a:solidFill>
              <a:srgbClr val="4A2C85"/>
            </a:solidFill>
            <a:prstDash val="solid"/>
          </a:ln>
        </p:spPr>
        <p:txBody>
          <a:bodyPr/>
          <a:lstStyle/>
          <a:p>
            <a:endParaRPr lang="en-US"/>
          </a:p>
        </p:txBody>
      </p:sp>
      <p:sp>
        <p:nvSpPr>
          <p:cNvPr id="17" name="Text 12"/>
          <p:cNvSpPr/>
          <p:nvPr/>
        </p:nvSpPr>
        <p:spPr>
          <a:xfrm>
            <a:off x="7564645" y="3180854"/>
            <a:ext cx="3815659" cy="234156"/>
          </a:xfrm>
          <a:prstGeom prst="rect">
            <a:avLst/>
          </a:prstGeom>
          <a:noFill/>
          <a:ln/>
        </p:spPr>
        <p:txBody>
          <a:bodyPr wrap="none" lIns="0" tIns="0" rIns="0" bIns="0" rtlCol="0" anchor="t"/>
          <a:lstStyle/>
          <a:p>
            <a:pPr marL="0" indent="0" algn="l">
              <a:lnSpc>
                <a:spcPct val="104000"/>
              </a:lnSpc>
              <a:buNone/>
            </a:pPr>
            <a:r>
              <a:rPr lang="en-US" sz="1450" dirty="0">
                <a:solidFill>
                  <a:srgbClr val="DCD7E5"/>
                </a:solidFill>
                <a:latin typeface="Montserrat" pitchFamily="34" charset="0"/>
                <a:ea typeface="Montserrat" pitchFamily="34" charset="-122"/>
                <a:cs typeface="Montserrat" pitchFamily="34" charset="-120"/>
              </a:rPr>
              <a:t>1 User ID</a:t>
            </a:r>
            <a:endParaRPr lang="en-US" sz="1450" dirty="0"/>
          </a:p>
        </p:txBody>
      </p:sp>
      <p:sp>
        <p:nvSpPr>
          <p:cNvPr id="18" name="Text 13"/>
          <p:cNvSpPr/>
          <p:nvPr/>
        </p:nvSpPr>
        <p:spPr>
          <a:xfrm>
            <a:off x="7564645" y="3550841"/>
            <a:ext cx="3815659" cy="228600"/>
          </a:xfrm>
          <a:prstGeom prst="rect">
            <a:avLst/>
          </a:prstGeom>
          <a:noFill/>
          <a:ln/>
        </p:spPr>
        <p:txBody>
          <a:bodyPr wrap="none" lIns="0" tIns="0" rIns="0" bIns="0" rtlCol="0" anchor="t"/>
          <a:lstStyle/>
          <a:p>
            <a:pPr marL="0" indent="0" algn="l">
              <a:lnSpc>
                <a:spcPct val="127000"/>
              </a:lnSpc>
              <a:buNone/>
            </a:pPr>
            <a:r>
              <a:rPr lang="en-US" sz="1150" dirty="0">
                <a:solidFill>
                  <a:srgbClr val="DCD7E5"/>
                </a:solidFill>
                <a:latin typeface="Heebo Light" pitchFamily="34" charset="0"/>
                <a:ea typeface="Heebo Light" pitchFamily="34" charset="-122"/>
                <a:cs typeface="Heebo Light" pitchFamily="34" charset="-120"/>
              </a:rPr>
              <a:t>unik per aplikasi</a:t>
            </a:r>
            <a:endParaRPr lang="en-US" sz="1150" dirty="0"/>
          </a:p>
        </p:txBody>
      </p:sp>
      <p:sp>
        <p:nvSpPr>
          <p:cNvPr id="19" name="Shape 14"/>
          <p:cNvSpPr/>
          <p:nvPr/>
        </p:nvSpPr>
        <p:spPr>
          <a:xfrm>
            <a:off x="7408479" y="4071441"/>
            <a:ext cx="4127992" cy="910927"/>
          </a:xfrm>
          <a:prstGeom prst="roundRect">
            <a:avLst>
              <a:gd name="adj" fmla="val 6911"/>
            </a:avLst>
          </a:prstGeom>
          <a:solidFill>
            <a:srgbClr val="31136C"/>
          </a:solidFill>
          <a:ln w="6350">
            <a:solidFill>
              <a:srgbClr val="4A2C85"/>
            </a:solidFill>
            <a:prstDash val="solid"/>
          </a:ln>
        </p:spPr>
        <p:txBody>
          <a:bodyPr/>
          <a:lstStyle/>
          <a:p>
            <a:endParaRPr lang="en-US"/>
          </a:p>
        </p:txBody>
      </p:sp>
      <p:sp>
        <p:nvSpPr>
          <p:cNvPr id="20" name="Text 15"/>
          <p:cNvSpPr/>
          <p:nvPr/>
        </p:nvSpPr>
        <p:spPr>
          <a:xfrm>
            <a:off x="7564645" y="4227612"/>
            <a:ext cx="3815659" cy="234156"/>
          </a:xfrm>
          <a:prstGeom prst="rect">
            <a:avLst/>
          </a:prstGeom>
          <a:noFill/>
          <a:ln/>
        </p:spPr>
        <p:txBody>
          <a:bodyPr wrap="none" lIns="0" tIns="0" rIns="0" bIns="0" rtlCol="0" anchor="t"/>
          <a:lstStyle/>
          <a:p>
            <a:pPr marL="0" indent="0" algn="l">
              <a:lnSpc>
                <a:spcPct val="104000"/>
              </a:lnSpc>
              <a:buNone/>
            </a:pPr>
            <a:r>
              <a:rPr lang="en-US" sz="1450" dirty="0">
                <a:solidFill>
                  <a:srgbClr val="DCD7E5"/>
                </a:solidFill>
                <a:latin typeface="Montserrat" pitchFamily="34" charset="0"/>
                <a:ea typeface="Montserrat" pitchFamily="34" charset="-122"/>
                <a:cs typeface="Montserrat" pitchFamily="34" charset="-120"/>
              </a:rPr>
              <a:t>APK / AAB</a:t>
            </a:r>
            <a:endParaRPr lang="en-US" sz="1450" dirty="0"/>
          </a:p>
        </p:txBody>
      </p:sp>
      <p:sp>
        <p:nvSpPr>
          <p:cNvPr id="21" name="Text 16"/>
          <p:cNvSpPr/>
          <p:nvPr/>
        </p:nvSpPr>
        <p:spPr>
          <a:xfrm>
            <a:off x="7564645" y="4597598"/>
            <a:ext cx="3815659" cy="228600"/>
          </a:xfrm>
          <a:prstGeom prst="rect">
            <a:avLst/>
          </a:prstGeom>
          <a:noFill/>
          <a:ln/>
        </p:spPr>
        <p:txBody>
          <a:bodyPr wrap="none" lIns="0" tIns="0" rIns="0" bIns="0" rtlCol="0" anchor="t"/>
          <a:lstStyle/>
          <a:p>
            <a:pPr marL="0" indent="0" algn="l">
              <a:lnSpc>
                <a:spcPct val="127000"/>
              </a:lnSpc>
              <a:buNone/>
            </a:pPr>
            <a:r>
              <a:rPr lang="en-US" sz="1150" dirty="0">
                <a:solidFill>
                  <a:srgbClr val="DCD7E5"/>
                </a:solidFill>
                <a:latin typeface="Heebo Light" pitchFamily="34" charset="0"/>
                <a:ea typeface="Heebo Light" pitchFamily="34" charset="-122"/>
                <a:cs typeface="Heebo Light" pitchFamily="34" charset="-120"/>
              </a:rPr>
              <a:t>format distribusi</a:t>
            </a:r>
            <a:endParaRPr lang="en-US" sz="1150" dirty="0"/>
          </a:p>
        </p:txBody>
      </p:sp>
      <p:sp>
        <p:nvSpPr>
          <p:cNvPr id="22" name="Shape 17"/>
          <p:cNvSpPr/>
          <p:nvPr/>
        </p:nvSpPr>
        <p:spPr>
          <a:xfrm>
            <a:off x="661475" y="5821363"/>
            <a:ext cx="10868745" cy="561479"/>
          </a:xfrm>
          <a:prstGeom prst="roundRect">
            <a:avLst>
              <a:gd name="adj" fmla="val 11212"/>
            </a:avLst>
          </a:prstGeom>
          <a:solidFill>
            <a:srgbClr val="31136C"/>
          </a:solidFill>
          <a:ln/>
        </p:spPr>
        <p:txBody>
          <a:bodyPr/>
          <a:lstStyle/>
          <a:p>
            <a:endParaRPr lang="en-US"/>
          </a:p>
        </p:txBody>
      </p:sp>
      <p:pic>
        <p:nvPicPr>
          <p:cNvPr id="23" name="Image 3" descr="preencoded.png"/>
          <p:cNvPicPr>
            <a:picLocks noChangeAspect="1"/>
          </p:cNvPicPr>
          <p:nvPr/>
        </p:nvPicPr>
        <p:blipFill>
          <a:blip r:embed="rId5"/>
          <a:stretch>
            <a:fillRect/>
          </a:stretch>
        </p:blipFill>
        <p:spPr>
          <a:xfrm>
            <a:off x="811291" y="6015831"/>
            <a:ext cx="187320" cy="149820"/>
          </a:xfrm>
          <a:prstGeom prst="rect">
            <a:avLst/>
          </a:prstGeom>
        </p:spPr>
      </p:pic>
      <p:sp>
        <p:nvSpPr>
          <p:cNvPr id="24" name="Text 18"/>
          <p:cNvSpPr/>
          <p:nvPr/>
        </p:nvSpPr>
        <p:spPr>
          <a:xfrm>
            <a:off x="1148428" y="5994598"/>
            <a:ext cx="10841560" cy="228600"/>
          </a:xfrm>
          <a:prstGeom prst="rect">
            <a:avLst/>
          </a:prstGeom>
          <a:noFill/>
          <a:ln/>
        </p:spPr>
        <p:txBody>
          <a:bodyPr wrap="none" lIns="0" tIns="0" rIns="0" bIns="0" rtlCol="0" anchor="t"/>
          <a:lstStyle/>
          <a:p>
            <a:pPr marL="0" indent="0" algn="l">
              <a:lnSpc>
                <a:spcPct val="127000"/>
              </a:lnSpc>
              <a:buNone/>
            </a:pPr>
            <a:r>
              <a:rPr lang="en-US" sz="1150" dirty="0">
                <a:solidFill>
                  <a:srgbClr val="FFFFFF"/>
                </a:solidFill>
                <a:latin typeface="Heebo Light" pitchFamily="34" charset="0"/>
                <a:ea typeface="Heebo Light" pitchFamily="34" charset="-122"/>
                <a:cs typeface="Heebo Light" pitchFamily="34" charset="-120"/>
              </a:rPr>
              <a:t>Prinsip Least Privilege: Aplikasi hanya mendapat izin minimum yang dibutuhkan — izin tambahan harus diminta secara eksplisit kepada pengguna.</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A20F5C-F274-B594-3B68-F857CD4EE808}"/>
              </a:ext>
            </a:extLst>
          </p:cNvPr>
          <p:cNvPicPr>
            <a:picLocks noChangeAspect="1"/>
          </p:cNvPicPr>
          <p:nvPr/>
        </p:nvPicPr>
        <p:blipFill>
          <a:blip r:embed="rId2"/>
          <a:stretch>
            <a:fillRect/>
          </a:stretch>
        </p:blipFill>
        <p:spPr>
          <a:xfrm>
            <a:off x="2538097" y="1082842"/>
            <a:ext cx="7115806" cy="5354864"/>
          </a:xfrm>
          <a:prstGeom prst="rect">
            <a:avLst/>
          </a:prstGeom>
        </p:spPr>
      </p:pic>
      <p:sp>
        <p:nvSpPr>
          <p:cNvPr id="3" name="Text 0">
            <a:extLst>
              <a:ext uri="{FF2B5EF4-FFF2-40B4-BE49-F238E27FC236}">
                <a16:creationId xmlns:a16="http://schemas.microsoft.com/office/drawing/2014/main" id="{011901AA-1C80-1A50-0596-F72E2A4005D0}"/>
              </a:ext>
            </a:extLst>
          </p:cNvPr>
          <p:cNvSpPr/>
          <p:nvPr/>
        </p:nvSpPr>
        <p:spPr>
          <a:xfrm>
            <a:off x="661475" y="475059"/>
            <a:ext cx="10868745" cy="468412"/>
          </a:xfrm>
          <a:prstGeom prst="rect">
            <a:avLst/>
          </a:prstGeom>
          <a:noFill/>
          <a:ln/>
        </p:spPr>
        <p:txBody>
          <a:bodyPr wrap="none" lIns="0" tIns="0" rIns="0" bIns="0" rtlCol="0" anchor="t"/>
          <a:lstStyle/>
          <a:p>
            <a:pPr marL="0" indent="0" algn="l">
              <a:lnSpc>
                <a:spcPct val="104000"/>
              </a:lnSpc>
              <a:buNone/>
            </a:pPr>
            <a:r>
              <a:rPr lang="en-US" sz="2950" dirty="0" err="1">
                <a:solidFill>
                  <a:srgbClr val="F2F0F4"/>
                </a:solidFill>
                <a:latin typeface="Montserrat" pitchFamily="34" charset="0"/>
                <a:ea typeface="Montserrat" pitchFamily="34" charset="-122"/>
                <a:cs typeface="Montserrat" pitchFamily="34" charset="-120"/>
              </a:rPr>
              <a:t>Membuat</a:t>
            </a:r>
            <a:r>
              <a:rPr lang="en-US" sz="2950" dirty="0">
                <a:solidFill>
                  <a:srgbClr val="F2F0F4"/>
                </a:solidFill>
                <a:latin typeface="Montserrat" pitchFamily="34" charset="0"/>
                <a:ea typeface="Montserrat" pitchFamily="34" charset="-122"/>
                <a:cs typeface="Montserrat" pitchFamily="34" charset="-120"/>
              </a:rPr>
              <a:t> Project Mobile </a:t>
            </a:r>
            <a:r>
              <a:rPr lang="en-US" sz="2950" dirty="0" err="1">
                <a:solidFill>
                  <a:srgbClr val="F2F0F4"/>
                </a:solidFill>
                <a:latin typeface="Montserrat" pitchFamily="34" charset="0"/>
                <a:ea typeface="Montserrat" pitchFamily="34" charset="-122"/>
                <a:cs typeface="Montserrat" pitchFamily="34" charset="-120"/>
              </a:rPr>
              <a:t>dengan</a:t>
            </a:r>
            <a:r>
              <a:rPr lang="en-US" sz="2950" dirty="0">
                <a:solidFill>
                  <a:srgbClr val="F2F0F4"/>
                </a:solidFill>
                <a:latin typeface="Montserrat" pitchFamily="34" charset="0"/>
                <a:ea typeface="Montserrat" pitchFamily="34" charset="-122"/>
                <a:cs typeface="Montserrat" pitchFamily="34" charset="-120"/>
              </a:rPr>
              <a:t> Android Studio</a:t>
            </a:r>
            <a:endParaRPr lang="en-US" sz="2950" dirty="0"/>
          </a:p>
        </p:txBody>
      </p:sp>
    </p:spTree>
    <p:extLst>
      <p:ext uri="{BB962C8B-B14F-4D97-AF65-F5344CB8AC3E}">
        <p14:creationId xmlns:p14="http://schemas.microsoft.com/office/powerpoint/2010/main" val="3435626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588A7-DDC9-9785-F998-4DDC3154D38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40A4304-2767-DEC7-574C-70D01E6E87DE}"/>
              </a:ext>
            </a:extLst>
          </p:cNvPr>
          <p:cNvPicPr>
            <a:picLocks noChangeAspect="1"/>
          </p:cNvPicPr>
          <p:nvPr/>
        </p:nvPicPr>
        <p:blipFill>
          <a:blip r:embed="rId2"/>
          <a:stretch>
            <a:fillRect/>
          </a:stretch>
        </p:blipFill>
        <p:spPr>
          <a:xfrm>
            <a:off x="2209647" y="1106138"/>
            <a:ext cx="6862164" cy="5163913"/>
          </a:xfrm>
          <a:prstGeom prst="rect">
            <a:avLst/>
          </a:prstGeom>
        </p:spPr>
      </p:pic>
      <p:sp>
        <p:nvSpPr>
          <p:cNvPr id="4" name="Text 0">
            <a:extLst>
              <a:ext uri="{FF2B5EF4-FFF2-40B4-BE49-F238E27FC236}">
                <a16:creationId xmlns:a16="http://schemas.microsoft.com/office/drawing/2014/main" id="{BB368A5A-5CAD-812A-D7F4-681BC32C3897}"/>
              </a:ext>
            </a:extLst>
          </p:cNvPr>
          <p:cNvSpPr/>
          <p:nvPr/>
        </p:nvSpPr>
        <p:spPr>
          <a:xfrm>
            <a:off x="204275" y="463027"/>
            <a:ext cx="10868745" cy="468412"/>
          </a:xfrm>
          <a:prstGeom prst="rect">
            <a:avLst/>
          </a:prstGeom>
          <a:noFill/>
          <a:ln/>
        </p:spPr>
        <p:txBody>
          <a:bodyPr wrap="none" lIns="0" tIns="0" rIns="0" bIns="0" rtlCol="0" anchor="t"/>
          <a:lstStyle/>
          <a:p>
            <a:pPr marL="0" indent="0" algn="l">
              <a:lnSpc>
                <a:spcPct val="104000"/>
              </a:lnSpc>
              <a:buNone/>
            </a:pPr>
            <a:r>
              <a:rPr lang="en-US" sz="2950" dirty="0" err="1">
                <a:solidFill>
                  <a:srgbClr val="F2F0F4"/>
                </a:solidFill>
                <a:latin typeface="Montserrat" pitchFamily="34" charset="0"/>
                <a:ea typeface="Montserrat" pitchFamily="34" charset="-122"/>
                <a:cs typeface="Montserrat" pitchFamily="34" charset="-120"/>
              </a:rPr>
              <a:t>Membuat</a:t>
            </a:r>
            <a:r>
              <a:rPr lang="en-US" sz="2950" dirty="0">
                <a:solidFill>
                  <a:srgbClr val="F2F0F4"/>
                </a:solidFill>
                <a:latin typeface="Montserrat" pitchFamily="34" charset="0"/>
                <a:ea typeface="Montserrat" pitchFamily="34" charset="-122"/>
                <a:cs typeface="Montserrat" pitchFamily="34" charset="-120"/>
              </a:rPr>
              <a:t> Project Mobile </a:t>
            </a:r>
            <a:r>
              <a:rPr lang="en-US" sz="2950" dirty="0" err="1">
                <a:solidFill>
                  <a:srgbClr val="F2F0F4"/>
                </a:solidFill>
                <a:latin typeface="Montserrat" pitchFamily="34" charset="0"/>
                <a:ea typeface="Montserrat" pitchFamily="34" charset="-122"/>
                <a:cs typeface="Montserrat" pitchFamily="34" charset="-120"/>
              </a:rPr>
              <a:t>dengan</a:t>
            </a:r>
            <a:r>
              <a:rPr lang="en-US" sz="2950" dirty="0">
                <a:solidFill>
                  <a:srgbClr val="F2F0F4"/>
                </a:solidFill>
                <a:latin typeface="Montserrat" pitchFamily="34" charset="0"/>
                <a:ea typeface="Montserrat" pitchFamily="34" charset="-122"/>
                <a:cs typeface="Montserrat" pitchFamily="34" charset="-120"/>
              </a:rPr>
              <a:t> Android Studio: </a:t>
            </a:r>
            <a:r>
              <a:rPr lang="en-US" sz="2950" dirty="0" err="1">
                <a:solidFill>
                  <a:srgbClr val="F2F0F4"/>
                </a:solidFill>
                <a:latin typeface="Montserrat" pitchFamily="34" charset="0"/>
                <a:ea typeface="Montserrat" pitchFamily="34" charset="-122"/>
                <a:cs typeface="Montserrat" pitchFamily="34" charset="-120"/>
              </a:rPr>
              <a:t>Konfigurasi</a:t>
            </a:r>
            <a:endParaRPr lang="en-US" sz="2950" dirty="0"/>
          </a:p>
        </p:txBody>
      </p:sp>
    </p:spTree>
    <p:extLst>
      <p:ext uri="{BB962C8B-B14F-4D97-AF65-F5344CB8AC3E}">
        <p14:creationId xmlns:p14="http://schemas.microsoft.com/office/powerpoint/2010/main" val="4158258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C84EE82-C66B-C274-AC6F-200526B1858A}"/>
              </a:ext>
            </a:extLst>
          </p:cNvPr>
          <p:cNvSpPr/>
          <p:nvPr/>
        </p:nvSpPr>
        <p:spPr>
          <a:xfrm>
            <a:off x="204275" y="463027"/>
            <a:ext cx="10868745" cy="468412"/>
          </a:xfrm>
          <a:prstGeom prst="rect">
            <a:avLst/>
          </a:prstGeom>
          <a:noFill/>
          <a:ln/>
        </p:spPr>
        <p:txBody>
          <a:bodyPr wrap="none" lIns="0" tIns="0" rIns="0" bIns="0" rtlCol="0" anchor="t"/>
          <a:lstStyle/>
          <a:p>
            <a:pPr marL="0" indent="0" algn="l">
              <a:lnSpc>
                <a:spcPct val="104000"/>
              </a:lnSpc>
              <a:buNone/>
            </a:pPr>
            <a:r>
              <a:rPr lang="en-US" sz="2950" dirty="0">
                <a:solidFill>
                  <a:srgbClr val="F2F0F4"/>
                </a:solidFill>
                <a:latin typeface="Montserrat" pitchFamily="34" charset="0"/>
              </a:rPr>
              <a:t>Istilah yang </a:t>
            </a:r>
            <a:r>
              <a:rPr lang="en-US" sz="2950" dirty="0" err="1">
                <a:solidFill>
                  <a:srgbClr val="F2F0F4"/>
                </a:solidFill>
                <a:latin typeface="Montserrat" pitchFamily="34" charset="0"/>
              </a:rPr>
              <a:t>Digunakan</a:t>
            </a:r>
            <a:r>
              <a:rPr lang="en-US" sz="2950" dirty="0">
                <a:solidFill>
                  <a:srgbClr val="F2F0F4"/>
                </a:solidFill>
                <a:latin typeface="Montserrat" pitchFamily="34" charset="0"/>
              </a:rPr>
              <a:t> </a:t>
            </a:r>
            <a:r>
              <a:rPr lang="en-US" sz="2950" dirty="0" err="1">
                <a:solidFill>
                  <a:srgbClr val="F2F0F4"/>
                </a:solidFill>
                <a:latin typeface="Montserrat" pitchFamily="34" charset="0"/>
              </a:rPr>
              <a:t>dalam</a:t>
            </a:r>
            <a:r>
              <a:rPr lang="en-US" sz="2950" dirty="0">
                <a:solidFill>
                  <a:srgbClr val="F2F0F4"/>
                </a:solidFill>
                <a:latin typeface="Montserrat" pitchFamily="34" charset="0"/>
              </a:rPr>
              <a:t> </a:t>
            </a:r>
            <a:r>
              <a:rPr lang="en-US" sz="2950" dirty="0" err="1">
                <a:solidFill>
                  <a:srgbClr val="F2F0F4"/>
                </a:solidFill>
                <a:latin typeface="Montserrat" pitchFamily="34" charset="0"/>
              </a:rPr>
              <a:t>Konfigurasi</a:t>
            </a:r>
            <a:r>
              <a:rPr lang="en-US" sz="2950" dirty="0">
                <a:solidFill>
                  <a:srgbClr val="F2F0F4"/>
                </a:solidFill>
                <a:latin typeface="Montserrat" pitchFamily="34" charset="0"/>
              </a:rPr>
              <a:t> Project</a:t>
            </a:r>
            <a:endParaRPr lang="en-US" sz="2950" dirty="0"/>
          </a:p>
        </p:txBody>
      </p:sp>
      <p:sp>
        <p:nvSpPr>
          <p:cNvPr id="3" name="Text 5">
            <a:extLst>
              <a:ext uri="{FF2B5EF4-FFF2-40B4-BE49-F238E27FC236}">
                <a16:creationId xmlns:a16="http://schemas.microsoft.com/office/drawing/2014/main" id="{CD3DC416-7F5A-CB85-593D-F57EBBC1B3D8}"/>
              </a:ext>
            </a:extLst>
          </p:cNvPr>
          <p:cNvSpPr/>
          <p:nvPr/>
        </p:nvSpPr>
        <p:spPr>
          <a:xfrm>
            <a:off x="204275" y="1539820"/>
            <a:ext cx="9920386" cy="3172514"/>
          </a:xfrm>
          <a:prstGeom prst="rect">
            <a:avLst/>
          </a:prstGeom>
          <a:noFill/>
          <a:ln/>
        </p:spPr>
        <p:txBody>
          <a:bodyPr wrap="square" lIns="0" tIns="0" rIns="0" bIns="0" rtlCol="0" anchor="t">
            <a:noAutofit/>
          </a:bodyPr>
          <a:lstStyle/>
          <a:p>
            <a:pPr marL="171450" indent="-171450">
              <a:lnSpc>
                <a:spcPct val="133000"/>
              </a:lnSpc>
              <a:buFont typeface="Arial" panose="020B0604020202020204" pitchFamily="34" charset="0"/>
              <a:buChar char="•"/>
            </a:pPr>
            <a:r>
              <a:rPr lang="en-US" sz="1600" b="1" dirty="0">
                <a:solidFill>
                  <a:srgbClr val="DCD7E5"/>
                </a:solidFill>
                <a:latin typeface=""/>
                <a:ea typeface="Heebo Light" pitchFamily="34" charset="-122"/>
                <a:cs typeface="Heebo Light" pitchFamily="34" charset="-120"/>
              </a:rPr>
              <a:t>Name (Nama </a:t>
            </a:r>
            <a:r>
              <a:rPr lang="en-US" sz="1600" b="1" dirty="0" err="1">
                <a:solidFill>
                  <a:srgbClr val="DCD7E5"/>
                </a:solidFill>
                <a:latin typeface=""/>
                <a:ea typeface="Heebo Light" pitchFamily="34" charset="-122"/>
                <a:cs typeface="Heebo Light" pitchFamily="34" charset="-120"/>
              </a:rPr>
              <a:t>Aplikasi</a:t>
            </a:r>
            <a:r>
              <a:rPr lang="en-US" sz="1600" b="1" dirty="0">
                <a:solidFill>
                  <a:srgbClr val="DCD7E5"/>
                </a:solidFill>
                <a:latin typeface=""/>
                <a:ea typeface="Heebo Light" pitchFamily="34" charset="-122"/>
                <a:cs typeface="Heebo Light" pitchFamily="34" charset="-120"/>
              </a:rPr>
              <a:t>): </a:t>
            </a:r>
            <a:r>
              <a:rPr lang="en-US" sz="1600" dirty="0">
                <a:solidFill>
                  <a:srgbClr val="DCD7E5"/>
                </a:solidFill>
                <a:latin typeface=""/>
                <a:ea typeface="Heebo Light" pitchFamily="34" charset="-122"/>
                <a:cs typeface="Heebo Light" pitchFamily="34" charset="-120"/>
              </a:rPr>
              <a:t>Nama </a:t>
            </a:r>
            <a:r>
              <a:rPr lang="en-US" sz="1600" dirty="0" err="1">
                <a:solidFill>
                  <a:srgbClr val="DCD7E5"/>
                </a:solidFill>
                <a:latin typeface=""/>
                <a:ea typeface="Heebo Light" pitchFamily="34" charset="-122"/>
                <a:cs typeface="Heebo Light" pitchFamily="34" charset="-120"/>
              </a:rPr>
              <a:t>aplikasi</a:t>
            </a:r>
            <a:r>
              <a:rPr lang="en-US" sz="1600" dirty="0">
                <a:solidFill>
                  <a:srgbClr val="DCD7E5"/>
                </a:solidFill>
                <a:latin typeface=""/>
                <a:ea typeface="Heebo Light" pitchFamily="34" charset="-122"/>
                <a:cs typeface="Heebo Light" pitchFamily="34" charset="-120"/>
              </a:rPr>
              <a:t> yang </a:t>
            </a:r>
            <a:r>
              <a:rPr lang="en-US" sz="1600" dirty="0" err="1">
                <a:solidFill>
                  <a:srgbClr val="DCD7E5"/>
                </a:solidFill>
                <a:latin typeface=""/>
                <a:ea typeface="Heebo Light" pitchFamily="34" charset="-122"/>
                <a:cs typeface="Heebo Light" pitchFamily="34" charset="-120"/>
              </a:rPr>
              <a:t>akan</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ditampilkan</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kepada</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pengguna</a:t>
            </a:r>
            <a:r>
              <a:rPr lang="en-US" sz="1600" dirty="0">
                <a:solidFill>
                  <a:srgbClr val="DCD7E5"/>
                </a:solidFill>
                <a:latin typeface=""/>
                <a:ea typeface="Heebo Light" pitchFamily="34" charset="-122"/>
                <a:cs typeface="Heebo Light" pitchFamily="34" charset="-120"/>
              </a:rPr>
              <a:t> di </a:t>
            </a:r>
            <a:r>
              <a:rPr lang="en-US" sz="1600" dirty="0" err="1">
                <a:solidFill>
                  <a:srgbClr val="DCD7E5"/>
                </a:solidFill>
                <a:latin typeface=""/>
                <a:ea typeface="Heebo Light" pitchFamily="34" charset="-122"/>
                <a:cs typeface="Heebo Light" pitchFamily="34" charset="-120"/>
              </a:rPr>
              <a:t>layar</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perangkat</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seperti</a:t>
            </a:r>
            <a:r>
              <a:rPr lang="en-US" sz="1600" dirty="0">
                <a:solidFill>
                  <a:srgbClr val="DCD7E5"/>
                </a:solidFill>
                <a:latin typeface=""/>
                <a:ea typeface="Heebo Light" pitchFamily="34" charset="-122"/>
                <a:cs typeface="Heebo Light" pitchFamily="34" charset="-120"/>
              </a:rPr>
              <a:t> di home screen, app drawer, </a:t>
            </a:r>
            <a:r>
              <a:rPr lang="en-US" sz="1600" dirty="0" err="1">
                <a:solidFill>
                  <a:srgbClr val="DCD7E5"/>
                </a:solidFill>
                <a:latin typeface=""/>
                <a:ea typeface="Heebo Light" pitchFamily="34" charset="-122"/>
                <a:cs typeface="Heebo Light" pitchFamily="34" charset="-120"/>
              </a:rPr>
              <a:t>atau</a:t>
            </a:r>
            <a:r>
              <a:rPr lang="en-US" sz="1600" dirty="0">
                <a:solidFill>
                  <a:srgbClr val="DCD7E5"/>
                </a:solidFill>
                <a:latin typeface=""/>
                <a:ea typeface="Heebo Light" pitchFamily="34" charset="-122"/>
                <a:cs typeface="Heebo Light" pitchFamily="34" charset="-120"/>
              </a:rPr>
              <a:t> menu </a:t>
            </a:r>
            <a:r>
              <a:rPr lang="en-US" sz="1600" dirty="0" err="1">
                <a:solidFill>
                  <a:srgbClr val="DCD7E5"/>
                </a:solidFill>
                <a:latin typeface=""/>
                <a:ea typeface="Heebo Light" pitchFamily="34" charset="-122"/>
                <a:cs typeface="Heebo Light" pitchFamily="34" charset="-120"/>
              </a:rPr>
              <a:t>pengaturan</a:t>
            </a:r>
            <a:r>
              <a:rPr lang="en-US" sz="1600" dirty="0">
                <a:solidFill>
                  <a:srgbClr val="DCD7E5"/>
                </a:solidFill>
                <a:latin typeface=""/>
                <a:ea typeface="Heebo Light" pitchFamily="34" charset="-122"/>
                <a:cs typeface="Heebo Light" pitchFamily="34" charset="-120"/>
              </a:rPr>
              <a:t>.</a:t>
            </a:r>
          </a:p>
          <a:p>
            <a:pPr marL="171450" indent="-171450">
              <a:lnSpc>
                <a:spcPct val="133000"/>
              </a:lnSpc>
              <a:buFont typeface="Arial" panose="020B0604020202020204" pitchFamily="34" charset="0"/>
              <a:buChar char="•"/>
            </a:pPr>
            <a:endParaRPr lang="en-US" sz="1600" b="1" dirty="0">
              <a:solidFill>
                <a:srgbClr val="DCD7E5"/>
              </a:solidFill>
              <a:latin typeface=""/>
              <a:ea typeface="Heebo Light" pitchFamily="34" charset="-122"/>
              <a:cs typeface="Heebo Light" pitchFamily="34" charset="-120"/>
            </a:endParaRPr>
          </a:p>
          <a:p>
            <a:pPr marL="171450" indent="-171450">
              <a:lnSpc>
                <a:spcPct val="133000"/>
              </a:lnSpc>
              <a:buFont typeface="Arial" panose="020B0604020202020204" pitchFamily="34" charset="0"/>
              <a:buChar char="•"/>
            </a:pPr>
            <a:r>
              <a:rPr lang="en-US" sz="1600" b="1" dirty="0">
                <a:solidFill>
                  <a:srgbClr val="DCD7E5"/>
                </a:solidFill>
                <a:latin typeface=""/>
                <a:ea typeface="Heebo Light" pitchFamily="34" charset="-122"/>
                <a:cs typeface="Heebo Light" pitchFamily="34" charset="-120"/>
              </a:rPr>
              <a:t>Package Name (Nama Paket):  </a:t>
            </a:r>
            <a:r>
              <a:rPr lang="en-US" sz="1600" dirty="0" err="1">
                <a:solidFill>
                  <a:srgbClr val="DCD7E5"/>
                </a:solidFill>
                <a:latin typeface=""/>
                <a:ea typeface="Heebo Light" pitchFamily="34" charset="-122"/>
                <a:cs typeface="Heebo Light" pitchFamily="34" charset="-120"/>
              </a:rPr>
              <a:t>Identitas</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unik</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aplikasi</a:t>
            </a:r>
            <a:r>
              <a:rPr lang="en-US" sz="1600" dirty="0">
                <a:solidFill>
                  <a:srgbClr val="DCD7E5"/>
                </a:solidFill>
                <a:latin typeface=""/>
                <a:ea typeface="Heebo Light" pitchFamily="34" charset="-122"/>
                <a:cs typeface="Heebo Light" pitchFamily="34" charset="-120"/>
              </a:rPr>
              <a:t> di </a:t>
            </a:r>
            <a:r>
              <a:rPr lang="en-US" sz="1600" dirty="0" err="1">
                <a:solidFill>
                  <a:srgbClr val="DCD7E5"/>
                </a:solidFill>
                <a:latin typeface=""/>
                <a:ea typeface="Heebo Light" pitchFamily="34" charset="-122"/>
                <a:cs typeface="Heebo Light" pitchFamily="34" charset="-120"/>
              </a:rPr>
              <a:t>seluruh</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ekosistem</a:t>
            </a:r>
            <a:r>
              <a:rPr lang="en-US" sz="1600" dirty="0">
                <a:solidFill>
                  <a:srgbClr val="DCD7E5"/>
                </a:solidFill>
                <a:latin typeface=""/>
                <a:ea typeface="Heebo Light" pitchFamily="34" charset="-122"/>
                <a:cs typeface="Heebo Light" pitchFamily="34" charset="-120"/>
              </a:rPr>
              <a:t> Android dan Google Play Store. Tidak </a:t>
            </a:r>
            <a:r>
              <a:rPr lang="en-US" sz="1600" dirty="0" err="1">
                <a:solidFill>
                  <a:srgbClr val="DCD7E5"/>
                </a:solidFill>
                <a:latin typeface=""/>
                <a:ea typeface="Heebo Light" pitchFamily="34" charset="-122"/>
                <a:cs typeface="Heebo Light" pitchFamily="34" charset="-120"/>
              </a:rPr>
              <a:t>boleh</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sama</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dengan</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aplikasi</a:t>
            </a:r>
            <a:r>
              <a:rPr lang="en-US" sz="1600" dirty="0">
                <a:solidFill>
                  <a:srgbClr val="DCD7E5"/>
                </a:solidFill>
                <a:latin typeface=""/>
                <a:ea typeface="Heebo Light" pitchFamily="34" charset="-122"/>
                <a:cs typeface="Heebo Light" pitchFamily="34" charset="-120"/>
              </a:rPr>
              <a:t> lain. </a:t>
            </a:r>
            <a:r>
              <a:rPr lang="en-US" sz="1600" dirty="0" err="1">
                <a:solidFill>
                  <a:srgbClr val="DCD7E5"/>
                </a:solidFill>
                <a:latin typeface=""/>
                <a:ea typeface="Heebo Light" pitchFamily="34" charset="-122"/>
                <a:cs typeface="Heebo Light" pitchFamily="34" charset="-120"/>
              </a:rPr>
              <a:t>Biasanya</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ditulis</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dengan</a:t>
            </a:r>
            <a:r>
              <a:rPr lang="en-US" sz="1600" dirty="0">
                <a:solidFill>
                  <a:srgbClr val="DCD7E5"/>
                </a:solidFill>
                <a:latin typeface=""/>
                <a:ea typeface="Heebo Light" pitchFamily="34" charset="-122"/>
                <a:cs typeface="Heebo Light" pitchFamily="34" charset="-120"/>
              </a:rPr>
              <a:t> format nama domain </a:t>
            </a:r>
            <a:r>
              <a:rPr lang="en-US" sz="1600" dirty="0" err="1">
                <a:solidFill>
                  <a:srgbClr val="DCD7E5"/>
                </a:solidFill>
                <a:latin typeface=""/>
                <a:ea typeface="Heebo Light" pitchFamily="34" charset="-122"/>
                <a:cs typeface="Heebo Light" pitchFamily="34" charset="-120"/>
              </a:rPr>
              <a:t>terbalik</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contoh</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com.namaperusahaan.namaaplikasi</a:t>
            </a:r>
            <a:r>
              <a:rPr lang="en-US" sz="1600" dirty="0">
                <a:solidFill>
                  <a:srgbClr val="DCD7E5"/>
                </a:solidFill>
                <a:latin typeface=""/>
                <a:ea typeface="Heebo Light" pitchFamily="34" charset="-122"/>
                <a:cs typeface="Heebo Light" pitchFamily="34" charset="-120"/>
              </a:rPr>
              <a:t>).</a:t>
            </a:r>
          </a:p>
          <a:p>
            <a:pPr marL="171450" indent="-171450">
              <a:lnSpc>
                <a:spcPct val="133000"/>
              </a:lnSpc>
              <a:buFont typeface="Arial" panose="020B0604020202020204" pitchFamily="34" charset="0"/>
              <a:buChar char="•"/>
            </a:pPr>
            <a:endParaRPr lang="en-US" sz="1600" b="1" dirty="0">
              <a:solidFill>
                <a:srgbClr val="DCD7E5"/>
              </a:solidFill>
              <a:latin typeface=""/>
              <a:ea typeface="Heebo Light" pitchFamily="34" charset="-122"/>
              <a:cs typeface="Heebo Light" pitchFamily="34" charset="-120"/>
            </a:endParaRPr>
          </a:p>
          <a:p>
            <a:pPr marL="171450" indent="-171450">
              <a:lnSpc>
                <a:spcPct val="133000"/>
              </a:lnSpc>
              <a:buFont typeface="Arial" panose="020B0604020202020204" pitchFamily="34" charset="0"/>
              <a:buChar char="•"/>
            </a:pPr>
            <a:r>
              <a:rPr lang="en-US" sz="1600" b="1" dirty="0">
                <a:solidFill>
                  <a:srgbClr val="DCD7E5"/>
                </a:solidFill>
                <a:latin typeface=""/>
                <a:ea typeface="Heebo Light" pitchFamily="34" charset="-122"/>
                <a:cs typeface="Heebo Light" pitchFamily="34" charset="-120"/>
              </a:rPr>
              <a:t>Minimum SDK (SDK Minimum): </a:t>
            </a:r>
            <a:r>
              <a:rPr lang="en-US" sz="1600" dirty="0" err="1">
                <a:solidFill>
                  <a:srgbClr val="DCD7E5"/>
                </a:solidFill>
                <a:latin typeface=""/>
                <a:ea typeface="Heebo Light" pitchFamily="34" charset="-122"/>
                <a:cs typeface="Heebo Light" pitchFamily="34" charset="-120"/>
              </a:rPr>
              <a:t>Versi</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sistem</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operasi</a:t>
            </a:r>
            <a:r>
              <a:rPr lang="en-US" sz="1600" dirty="0">
                <a:solidFill>
                  <a:srgbClr val="DCD7E5"/>
                </a:solidFill>
                <a:latin typeface=""/>
                <a:ea typeface="Heebo Light" pitchFamily="34" charset="-122"/>
                <a:cs typeface="Heebo Light" pitchFamily="34" charset="-120"/>
              </a:rPr>
              <a:t> Android </a:t>
            </a:r>
            <a:r>
              <a:rPr lang="en-US" sz="1600" dirty="0" err="1">
                <a:solidFill>
                  <a:srgbClr val="DCD7E5"/>
                </a:solidFill>
                <a:latin typeface=""/>
                <a:ea typeface="Heebo Light" pitchFamily="34" charset="-122"/>
                <a:cs typeface="Heebo Light" pitchFamily="34" charset="-120"/>
              </a:rPr>
              <a:t>terendah</a:t>
            </a:r>
            <a:r>
              <a:rPr lang="en-US" sz="1600" dirty="0">
                <a:solidFill>
                  <a:srgbClr val="DCD7E5"/>
                </a:solidFill>
                <a:latin typeface=""/>
                <a:ea typeface="Heebo Light" pitchFamily="34" charset="-122"/>
                <a:cs typeface="Heebo Light" pitchFamily="34" charset="-120"/>
              </a:rPr>
              <a:t> yang </a:t>
            </a:r>
            <a:r>
              <a:rPr lang="en-US" sz="1600" dirty="0" err="1">
                <a:solidFill>
                  <a:srgbClr val="DCD7E5"/>
                </a:solidFill>
                <a:latin typeface=""/>
                <a:ea typeface="Heebo Light" pitchFamily="34" charset="-122"/>
                <a:cs typeface="Heebo Light" pitchFamily="34" charset="-120"/>
              </a:rPr>
              <a:t>diizinkan</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untuk</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menginstal</a:t>
            </a:r>
            <a:r>
              <a:rPr lang="en-US" sz="1600" dirty="0">
                <a:solidFill>
                  <a:srgbClr val="DCD7E5"/>
                </a:solidFill>
                <a:latin typeface=""/>
                <a:ea typeface="Heebo Light" pitchFamily="34" charset="-122"/>
                <a:cs typeface="Heebo Light" pitchFamily="34" charset="-120"/>
              </a:rPr>
              <a:t> dan </a:t>
            </a:r>
            <a:r>
              <a:rPr lang="en-US" sz="1600" dirty="0" err="1">
                <a:solidFill>
                  <a:srgbClr val="DCD7E5"/>
                </a:solidFill>
                <a:latin typeface=""/>
                <a:ea typeface="Heebo Light" pitchFamily="34" charset="-122"/>
                <a:cs typeface="Heebo Light" pitchFamily="34" charset="-120"/>
              </a:rPr>
              <a:t>menjalankan</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aplikasi</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Semakin</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rendah</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versinya</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semakin</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banyak</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perangkat</a:t>
            </a:r>
            <a:r>
              <a:rPr lang="en-US" sz="1600" dirty="0">
                <a:solidFill>
                  <a:srgbClr val="DCD7E5"/>
                </a:solidFill>
                <a:latin typeface=""/>
                <a:ea typeface="Heebo Light" pitchFamily="34" charset="-122"/>
                <a:cs typeface="Heebo Light" pitchFamily="34" charset="-120"/>
              </a:rPr>
              <a:t> yang </a:t>
            </a:r>
            <a:r>
              <a:rPr lang="en-US" sz="1600" dirty="0" err="1">
                <a:solidFill>
                  <a:srgbClr val="DCD7E5"/>
                </a:solidFill>
                <a:latin typeface=""/>
                <a:ea typeface="Heebo Light" pitchFamily="34" charset="-122"/>
                <a:cs typeface="Heebo Light" pitchFamily="34" charset="-120"/>
              </a:rPr>
              <a:t>bisa</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menginstal</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namun</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semakin</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terbatas</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fitur</a:t>
            </a:r>
            <a:r>
              <a:rPr lang="en-US" sz="1600" dirty="0">
                <a:solidFill>
                  <a:srgbClr val="DCD7E5"/>
                </a:solidFill>
                <a:latin typeface=""/>
                <a:ea typeface="Heebo Light" pitchFamily="34" charset="-122"/>
                <a:cs typeface="Heebo Light" pitchFamily="34" charset="-120"/>
              </a:rPr>
              <a:t> modern yang </a:t>
            </a:r>
            <a:r>
              <a:rPr lang="en-US" sz="1600" dirty="0" err="1">
                <a:solidFill>
                  <a:srgbClr val="DCD7E5"/>
                </a:solidFill>
                <a:latin typeface=""/>
                <a:ea typeface="Heebo Light" pitchFamily="34" charset="-122"/>
                <a:cs typeface="Heebo Light" pitchFamily="34" charset="-120"/>
              </a:rPr>
              <a:t>bisa</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digunakan</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secara</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langsung</a:t>
            </a:r>
            <a:r>
              <a:rPr lang="en-US" sz="1600" dirty="0">
                <a:solidFill>
                  <a:srgbClr val="DCD7E5"/>
                </a:solidFill>
                <a:latin typeface=""/>
                <a:ea typeface="Heebo Light" pitchFamily="34" charset="-122"/>
                <a:cs typeface="Heebo Light" pitchFamily="34" charset="-120"/>
              </a:rPr>
              <a:t>.</a:t>
            </a:r>
          </a:p>
          <a:p>
            <a:pPr marL="171450" indent="-171450">
              <a:lnSpc>
                <a:spcPct val="133000"/>
              </a:lnSpc>
              <a:buFont typeface="Arial" panose="020B0604020202020204" pitchFamily="34" charset="0"/>
              <a:buChar char="•"/>
            </a:pPr>
            <a:endParaRPr lang="en-US" sz="1600" b="1" dirty="0">
              <a:solidFill>
                <a:srgbClr val="DCD7E5"/>
              </a:solidFill>
              <a:latin typeface=""/>
              <a:ea typeface="Heebo Light" pitchFamily="34" charset="-122"/>
              <a:cs typeface="Heebo Light" pitchFamily="34" charset="-120"/>
            </a:endParaRPr>
          </a:p>
          <a:p>
            <a:pPr marL="171450" indent="-171450">
              <a:lnSpc>
                <a:spcPct val="133000"/>
              </a:lnSpc>
              <a:buFont typeface="Arial" panose="020B0604020202020204" pitchFamily="34" charset="0"/>
              <a:buChar char="•"/>
            </a:pPr>
            <a:r>
              <a:rPr lang="en-US" sz="1600" b="1" dirty="0">
                <a:solidFill>
                  <a:srgbClr val="DCD7E5"/>
                </a:solidFill>
                <a:latin typeface=""/>
                <a:ea typeface="Heebo Light" pitchFamily="34" charset="-122"/>
                <a:cs typeface="Heebo Light" pitchFamily="34" charset="-120"/>
              </a:rPr>
              <a:t>Build Configuration Language: </a:t>
            </a:r>
            <a:r>
              <a:rPr lang="en-US" sz="1600" dirty="0">
                <a:solidFill>
                  <a:srgbClr val="DCD7E5"/>
                </a:solidFill>
                <a:latin typeface=""/>
                <a:ea typeface="Heebo Light" pitchFamily="34" charset="-122"/>
                <a:cs typeface="Heebo Light" pitchFamily="34" charset="-120"/>
              </a:rPr>
              <a:t>Bahasa </a:t>
            </a:r>
            <a:r>
              <a:rPr lang="en-US" sz="1600" dirty="0" err="1">
                <a:solidFill>
                  <a:srgbClr val="DCD7E5"/>
                </a:solidFill>
                <a:latin typeface=""/>
                <a:ea typeface="Heebo Light" pitchFamily="34" charset="-122"/>
                <a:cs typeface="Heebo Light" pitchFamily="34" charset="-120"/>
              </a:rPr>
              <a:t>penulisan</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skrip</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umumnya</a:t>
            </a:r>
            <a:r>
              <a:rPr lang="en-US" sz="1600" dirty="0">
                <a:solidFill>
                  <a:srgbClr val="DCD7E5"/>
                </a:solidFill>
                <a:latin typeface=""/>
                <a:ea typeface="Heebo Light" pitchFamily="34" charset="-122"/>
                <a:cs typeface="Heebo Light" pitchFamily="34" charset="-120"/>
              </a:rPr>
              <a:t> Kotlin DSL </a:t>
            </a:r>
            <a:r>
              <a:rPr lang="en-US" sz="1600" dirty="0" err="1">
                <a:solidFill>
                  <a:srgbClr val="DCD7E5"/>
                </a:solidFill>
                <a:latin typeface=""/>
                <a:ea typeface="Heebo Light" pitchFamily="34" charset="-122"/>
                <a:cs typeface="Heebo Light" pitchFamily="34" charset="-120"/>
              </a:rPr>
              <a:t>atau</a:t>
            </a:r>
            <a:r>
              <a:rPr lang="en-US" sz="1600" dirty="0">
                <a:solidFill>
                  <a:srgbClr val="DCD7E5"/>
                </a:solidFill>
                <a:latin typeface=""/>
                <a:ea typeface="Heebo Light" pitchFamily="34" charset="-122"/>
                <a:cs typeface="Heebo Light" pitchFamily="34" charset="-120"/>
              </a:rPr>
              <a:t> Groovy) pada </a:t>
            </a:r>
            <a:r>
              <a:rPr lang="en-US" sz="1600" dirty="0" err="1">
                <a:solidFill>
                  <a:srgbClr val="DCD7E5"/>
                </a:solidFill>
                <a:latin typeface=""/>
                <a:ea typeface="Heebo Light" pitchFamily="34" charset="-122"/>
                <a:cs typeface="Heebo Light" pitchFamily="34" charset="-120"/>
              </a:rPr>
              <a:t>sistem</a:t>
            </a:r>
            <a:r>
              <a:rPr lang="en-US" sz="1600" dirty="0">
                <a:solidFill>
                  <a:srgbClr val="DCD7E5"/>
                </a:solidFill>
                <a:latin typeface=""/>
                <a:ea typeface="Heebo Light" pitchFamily="34" charset="-122"/>
                <a:cs typeface="Heebo Light" pitchFamily="34" charset="-120"/>
              </a:rPr>
              <a:t> Gradle. </a:t>
            </a:r>
            <a:r>
              <a:rPr lang="en-US" sz="1600" dirty="0" err="1">
                <a:solidFill>
                  <a:srgbClr val="DCD7E5"/>
                </a:solidFill>
                <a:latin typeface=""/>
                <a:ea typeface="Heebo Light" pitchFamily="34" charset="-122"/>
                <a:cs typeface="Heebo Light" pitchFamily="34" charset="-120"/>
              </a:rPr>
              <a:t>Berfungsi</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untuk</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mengatur</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konfigurasi</a:t>
            </a:r>
            <a:r>
              <a:rPr lang="en-US" sz="1600" dirty="0">
                <a:solidFill>
                  <a:srgbClr val="DCD7E5"/>
                </a:solidFill>
                <a:latin typeface=""/>
                <a:ea typeface="Heebo Light" pitchFamily="34" charset="-122"/>
                <a:cs typeface="Heebo Light" pitchFamily="34" charset="-120"/>
              </a:rPr>
              <a:t> build </a:t>
            </a:r>
            <a:r>
              <a:rPr lang="en-US" sz="1600" dirty="0" err="1">
                <a:solidFill>
                  <a:srgbClr val="DCD7E5"/>
                </a:solidFill>
                <a:latin typeface=""/>
                <a:ea typeface="Heebo Light" pitchFamily="34" charset="-122"/>
                <a:cs typeface="Heebo Light" pitchFamily="34" charset="-120"/>
              </a:rPr>
              <a:t>aplikasi</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seperti</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mengatur</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versi</a:t>
            </a:r>
            <a:r>
              <a:rPr lang="en-US" sz="1600" dirty="0">
                <a:solidFill>
                  <a:srgbClr val="DCD7E5"/>
                </a:solidFill>
                <a:latin typeface=""/>
                <a:ea typeface="Heebo Light" pitchFamily="34" charset="-122"/>
                <a:cs typeface="Heebo Light" pitchFamily="34" charset="-120"/>
              </a:rPr>
              <a:t> </a:t>
            </a:r>
            <a:r>
              <a:rPr lang="en-US" sz="1600" dirty="0" err="1">
                <a:solidFill>
                  <a:srgbClr val="DCD7E5"/>
                </a:solidFill>
                <a:latin typeface=""/>
                <a:ea typeface="Heebo Light" pitchFamily="34" charset="-122"/>
                <a:cs typeface="Heebo Light" pitchFamily="34" charset="-120"/>
              </a:rPr>
              <a:t>aplikasi</a:t>
            </a:r>
            <a:r>
              <a:rPr lang="en-US" sz="1600" dirty="0">
                <a:solidFill>
                  <a:srgbClr val="DCD7E5"/>
                </a:solidFill>
                <a:latin typeface=""/>
                <a:ea typeface="Heebo Light" pitchFamily="34" charset="-122"/>
                <a:cs typeface="Heebo Light" pitchFamily="34" charset="-120"/>
              </a:rPr>
              <a:t> dan </a:t>
            </a:r>
            <a:r>
              <a:rPr lang="en-US" sz="1600" dirty="0" err="1">
                <a:solidFill>
                  <a:srgbClr val="DCD7E5"/>
                </a:solidFill>
                <a:latin typeface=""/>
                <a:ea typeface="Heebo Light" pitchFamily="34" charset="-122"/>
                <a:cs typeface="Heebo Light" pitchFamily="34" charset="-120"/>
              </a:rPr>
              <a:t>menambahkan</a:t>
            </a:r>
            <a:r>
              <a:rPr lang="en-US" sz="1600" dirty="0">
                <a:solidFill>
                  <a:srgbClr val="DCD7E5"/>
                </a:solidFill>
                <a:latin typeface=""/>
                <a:ea typeface="Heebo Light" pitchFamily="34" charset="-122"/>
                <a:cs typeface="Heebo Light" pitchFamily="34" charset="-120"/>
              </a:rPr>
              <a:t> library </a:t>
            </a:r>
            <a:r>
              <a:rPr lang="en-US" sz="1600" dirty="0" err="1">
                <a:solidFill>
                  <a:srgbClr val="DCD7E5"/>
                </a:solidFill>
                <a:latin typeface=""/>
                <a:ea typeface="Heebo Light" pitchFamily="34" charset="-122"/>
                <a:cs typeface="Heebo Light" pitchFamily="34" charset="-120"/>
              </a:rPr>
              <a:t>eksternal</a:t>
            </a:r>
            <a:r>
              <a:rPr lang="en-US" sz="1600" dirty="0">
                <a:solidFill>
                  <a:srgbClr val="DCD7E5"/>
                </a:solidFill>
                <a:latin typeface=""/>
                <a:ea typeface="Heebo Light" pitchFamily="34" charset="-122"/>
                <a:cs typeface="Heebo Light" pitchFamily="34" charset="-120"/>
              </a:rPr>
              <a:t>.</a:t>
            </a:r>
            <a:endParaRPr lang="en-US" sz="1600" dirty="0">
              <a:latin typeface=""/>
            </a:endParaRPr>
          </a:p>
        </p:txBody>
      </p:sp>
    </p:spTree>
    <p:extLst>
      <p:ext uri="{BB962C8B-B14F-4D97-AF65-F5344CB8AC3E}">
        <p14:creationId xmlns:p14="http://schemas.microsoft.com/office/powerpoint/2010/main" val="2918449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457101"/>
            <a:ext cx="10868745" cy="492621"/>
          </a:xfrm>
          <a:prstGeom prst="rect">
            <a:avLst/>
          </a:prstGeom>
          <a:noFill/>
          <a:ln/>
        </p:spPr>
        <p:txBody>
          <a:bodyPr wrap="none" lIns="0" tIns="0" rIns="0" bIns="0" rtlCol="0" anchor="t"/>
          <a:lstStyle/>
          <a:p>
            <a:pPr marL="0" indent="0" algn="l">
              <a:lnSpc>
                <a:spcPct val="104000"/>
              </a:lnSpc>
              <a:buNone/>
            </a:pPr>
            <a:r>
              <a:rPr lang="en-US" sz="3100" dirty="0">
                <a:solidFill>
                  <a:srgbClr val="F2F0F4"/>
                </a:solidFill>
                <a:latin typeface="Montserrat" pitchFamily="34" charset="0"/>
                <a:ea typeface="Montserrat" pitchFamily="34" charset="-122"/>
                <a:cs typeface="Montserrat" pitchFamily="34" charset="-120"/>
              </a:rPr>
              <a:t>4 Komponen Utama Aplikasi Android</a:t>
            </a:r>
            <a:endParaRPr lang="en-US" sz="3100" dirty="0"/>
          </a:p>
        </p:txBody>
      </p:sp>
      <p:sp>
        <p:nvSpPr>
          <p:cNvPr id="3" name="Text 1"/>
          <p:cNvSpPr/>
          <p:nvPr/>
        </p:nvSpPr>
        <p:spPr>
          <a:xfrm>
            <a:off x="661475" y="1250156"/>
            <a:ext cx="10868745"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DCD7E5"/>
                </a:solidFill>
                <a:latin typeface="Heebo Light" pitchFamily="34" charset="0"/>
                <a:ea typeface="Heebo Light" pitchFamily="34" charset="-122"/>
                <a:cs typeface="Heebo Light" pitchFamily="34" charset="-120"/>
              </a:rPr>
              <a:t>Setiap aplikasi Android dibangun dari empat jenis komponen. Masing-masing memiliki siklus hidup dan tujuan yang berbeda — sistem dapat mengaktifkan setiap komponen secara independen.</a:t>
            </a:r>
            <a:endParaRPr lang="en-US" sz="1200" dirty="0"/>
          </a:p>
        </p:txBody>
      </p:sp>
      <p:sp>
        <p:nvSpPr>
          <p:cNvPr id="4" name="Shape 2"/>
          <p:cNvSpPr/>
          <p:nvPr/>
        </p:nvSpPr>
        <p:spPr>
          <a:xfrm>
            <a:off x="661475" y="1911648"/>
            <a:ext cx="5359266" cy="1779786"/>
          </a:xfrm>
          <a:prstGeom prst="roundRect">
            <a:avLst>
              <a:gd name="adj" fmla="val 3720"/>
            </a:avLst>
          </a:prstGeom>
          <a:solidFill>
            <a:srgbClr val="31136C"/>
          </a:solidFill>
          <a:ln w="6350">
            <a:solidFill>
              <a:srgbClr val="4A2C85"/>
            </a:solidFill>
            <a:prstDash val="solid"/>
          </a:ln>
        </p:spPr>
        <p:txBody>
          <a:bodyPr/>
          <a:lstStyle/>
          <a:p>
            <a:endParaRPr lang="en-US"/>
          </a:p>
        </p:txBody>
      </p:sp>
      <p:sp>
        <p:nvSpPr>
          <p:cNvPr id="5" name="Shape 3"/>
          <p:cNvSpPr/>
          <p:nvPr/>
        </p:nvSpPr>
        <p:spPr>
          <a:xfrm>
            <a:off x="825380" y="2075557"/>
            <a:ext cx="472865" cy="472877"/>
          </a:xfrm>
          <a:prstGeom prst="ellipse">
            <a:avLst/>
          </a:prstGeom>
          <a:solidFill>
            <a:srgbClr val="581CA0"/>
          </a:solidFill>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5453" y="2205534"/>
            <a:ext cx="212720" cy="212725"/>
          </a:xfrm>
          <a:prstGeom prst="rect">
            <a:avLst/>
          </a:prstGeom>
        </p:spPr>
      </p:pic>
      <p:sp>
        <p:nvSpPr>
          <p:cNvPr id="7" name="Text 4"/>
          <p:cNvSpPr/>
          <p:nvPr/>
        </p:nvSpPr>
        <p:spPr>
          <a:xfrm>
            <a:off x="825380" y="2698651"/>
            <a:ext cx="5031455" cy="246261"/>
          </a:xfrm>
          <a:prstGeom prst="rect">
            <a:avLst/>
          </a:prstGeom>
          <a:noFill/>
          <a:ln/>
        </p:spPr>
        <p:txBody>
          <a:bodyPr wrap="none" lIns="0" tIns="0" rIns="0" bIns="0" rtlCol="0" anchor="t"/>
          <a:lstStyle/>
          <a:p>
            <a:pPr marL="0" indent="0" algn="l">
              <a:lnSpc>
                <a:spcPct val="104000"/>
              </a:lnSpc>
              <a:buNone/>
            </a:pPr>
            <a:r>
              <a:rPr lang="en-US" sz="1550" dirty="0">
                <a:solidFill>
                  <a:srgbClr val="DCD7E5"/>
                </a:solidFill>
                <a:latin typeface="Montserrat" pitchFamily="34" charset="0"/>
                <a:ea typeface="Montserrat" pitchFamily="34" charset="-122"/>
                <a:cs typeface="Montserrat" pitchFamily="34" charset="-120"/>
              </a:rPr>
              <a:t>Activity</a:t>
            </a:r>
            <a:endParaRPr lang="en-US" sz="1550" dirty="0"/>
          </a:p>
        </p:txBody>
      </p:sp>
      <p:sp>
        <p:nvSpPr>
          <p:cNvPr id="8" name="Text 5"/>
          <p:cNvSpPr/>
          <p:nvPr/>
        </p:nvSpPr>
        <p:spPr>
          <a:xfrm>
            <a:off x="825380" y="3035002"/>
            <a:ext cx="5031455"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DCD7E5"/>
                </a:solidFill>
                <a:latin typeface="Heebo Light" pitchFamily="34" charset="0"/>
                <a:ea typeface="Heebo Light" pitchFamily="34" charset="-122"/>
                <a:cs typeface="Heebo Light" pitchFamily="34" charset="-120"/>
              </a:rPr>
              <a:t>Menangani antarmuka pengguna (UI) dan interaksi langsung dengan pengguna. Setiap layar aplikasi biasanya merupakan satu Activity.</a:t>
            </a:r>
            <a:endParaRPr lang="en-US" sz="1200" dirty="0"/>
          </a:p>
        </p:txBody>
      </p:sp>
      <p:sp>
        <p:nvSpPr>
          <p:cNvPr id="9" name="Shape 6"/>
          <p:cNvSpPr/>
          <p:nvPr/>
        </p:nvSpPr>
        <p:spPr>
          <a:xfrm>
            <a:off x="6170954" y="1911648"/>
            <a:ext cx="5359266" cy="1779786"/>
          </a:xfrm>
          <a:prstGeom prst="roundRect">
            <a:avLst>
              <a:gd name="adj" fmla="val 3720"/>
            </a:avLst>
          </a:prstGeom>
          <a:solidFill>
            <a:srgbClr val="31136C"/>
          </a:solidFill>
          <a:ln w="6350">
            <a:solidFill>
              <a:srgbClr val="4A2C85"/>
            </a:solidFill>
            <a:prstDash val="solid"/>
          </a:ln>
        </p:spPr>
        <p:txBody>
          <a:bodyPr/>
          <a:lstStyle/>
          <a:p>
            <a:endParaRPr lang="en-US"/>
          </a:p>
        </p:txBody>
      </p:sp>
      <p:sp>
        <p:nvSpPr>
          <p:cNvPr id="10" name="Shape 7"/>
          <p:cNvSpPr/>
          <p:nvPr/>
        </p:nvSpPr>
        <p:spPr>
          <a:xfrm>
            <a:off x="6334859" y="2075557"/>
            <a:ext cx="472865" cy="472877"/>
          </a:xfrm>
          <a:prstGeom prst="ellipse">
            <a:avLst/>
          </a:prstGeom>
          <a:solidFill>
            <a:srgbClr val="581CA0"/>
          </a:solidFill>
          <a:ln/>
        </p:spPr>
        <p:txBody>
          <a:bodyPr/>
          <a:lstStyle/>
          <a:p>
            <a:endParaRPr lang="en-US"/>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64932" y="2205534"/>
            <a:ext cx="212720" cy="212725"/>
          </a:xfrm>
          <a:prstGeom prst="rect">
            <a:avLst/>
          </a:prstGeom>
        </p:spPr>
      </p:pic>
      <p:sp>
        <p:nvSpPr>
          <p:cNvPr id="12" name="Text 8"/>
          <p:cNvSpPr/>
          <p:nvPr/>
        </p:nvSpPr>
        <p:spPr>
          <a:xfrm>
            <a:off x="6334859" y="2698651"/>
            <a:ext cx="5031455" cy="246261"/>
          </a:xfrm>
          <a:prstGeom prst="rect">
            <a:avLst/>
          </a:prstGeom>
          <a:noFill/>
          <a:ln/>
        </p:spPr>
        <p:txBody>
          <a:bodyPr wrap="none" lIns="0" tIns="0" rIns="0" bIns="0" rtlCol="0" anchor="t"/>
          <a:lstStyle/>
          <a:p>
            <a:pPr marL="0" indent="0" algn="l">
              <a:lnSpc>
                <a:spcPct val="104000"/>
              </a:lnSpc>
              <a:buNone/>
            </a:pPr>
            <a:r>
              <a:rPr lang="en-US" sz="1550" dirty="0">
                <a:solidFill>
                  <a:srgbClr val="DCD7E5"/>
                </a:solidFill>
                <a:latin typeface="Montserrat" pitchFamily="34" charset="0"/>
                <a:ea typeface="Montserrat" pitchFamily="34" charset="-122"/>
                <a:cs typeface="Montserrat" pitchFamily="34" charset="-120"/>
              </a:rPr>
              <a:t>Service</a:t>
            </a:r>
            <a:endParaRPr lang="en-US" sz="1550" dirty="0"/>
          </a:p>
        </p:txBody>
      </p:sp>
      <p:sp>
        <p:nvSpPr>
          <p:cNvPr id="13" name="Text 9"/>
          <p:cNvSpPr/>
          <p:nvPr/>
        </p:nvSpPr>
        <p:spPr>
          <a:xfrm>
            <a:off x="6334859" y="3035002"/>
            <a:ext cx="5031455"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DCD7E5"/>
                </a:solidFill>
                <a:latin typeface="Heebo Light" pitchFamily="34" charset="0"/>
                <a:ea typeface="Heebo Light" pitchFamily="34" charset="-122"/>
                <a:cs typeface="Heebo Light" pitchFamily="34" charset="-120"/>
              </a:rPr>
              <a:t>Menjalankan operasi di latar belakang tanpa UI — misalnya memutar musik, mengunduh file, atau sinkronisasi data.</a:t>
            </a:r>
            <a:endParaRPr lang="en-US" sz="1200" dirty="0"/>
          </a:p>
        </p:txBody>
      </p:sp>
      <p:sp>
        <p:nvSpPr>
          <p:cNvPr id="14" name="Shape 10"/>
          <p:cNvSpPr/>
          <p:nvPr/>
        </p:nvSpPr>
        <p:spPr>
          <a:xfrm>
            <a:off x="661475" y="3841651"/>
            <a:ext cx="5359266" cy="1779786"/>
          </a:xfrm>
          <a:prstGeom prst="roundRect">
            <a:avLst>
              <a:gd name="adj" fmla="val 3720"/>
            </a:avLst>
          </a:prstGeom>
          <a:solidFill>
            <a:srgbClr val="31136C"/>
          </a:solidFill>
          <a:ln w="6350">
            <a:solidFill>
              <a:srgbClr val="4A2C85"/>
            </a:solidFill>
            <a:prstDash val="solid"/>
          </a:ln>
        </p:spPr>
        <p:txBody>
          <a:bodyPr/>
          <a:lstStyle/>
          <a:p>
            <a:endParaRPr lang="en-US"/>
          </a:p>
        </p:txBody>
      </p:sp>
      <p:sp>
        <p:nvSpPr>
          <p:cNvPr id="15" name="Shape 11"/>
          <p:cNvSpPr/>
          <p:nvPr/>
        </p:nvSpPr>
        <p:spPr>
          <a:xfrm>
            <a:off x="825380" y="4005560"/>
            <a:ext cx="472865" cy="472877"/>
          </a:xfrm>
          <a:prstGeom prst="ellipse">
            <a:avLst/>
          </a:prstGeom>
          <a:solidFill>
            <a:srgbClr val="581CA0"/>
          </a:solidFill>
          <a:ln/>
        </p:spPr>
        <p:txBody>
          <a:bodyPr/>
          <a:lstStyle/>
          <a:p>
            <a:endParaRPr lang="en-US"/>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5453" y="4135537"/>
            <a:ext cx="212720" cy="212725"/>
          </a:xfrm>
          <a:prstGeom prst="rect">
            <a:avLst/>
          </a:prstGeom>
        </p:spPr>
      </p:pic>
      <p:sp>
        <p:nvSpPr>
          <p:cNvPr id="17" name="Text 12"/>
          <p:cNvSpPr/>
          <p:nvPr/>
        </p:nvSpPr>
        <p:spPr>
          <a:xfrm>
            <a:off x="825380" y="4628654"/>
            <a:ext cx="5031455" cy="246261"/>
          </a:xfrm>
          <a:prstGeom prst="rect">
            <a:avLst/>
          </a:prstGeom>
          <a:noFill/>
          <a:ln/>
        </p:spPr>
        <p:txBody>
          <a:bodyPr wrap="none" lIns="0" tIns="0" rIns="0" bIns="0" rtlCol="0" anchor="t"/>
          <a:lstStyle/>
          <a:p>
            <a:pPr marL="0" indent="0" algn="l">
              <a:lnSpc>
                <a:spcPct val="104000"/>
              </a:lnSpc>
              <a:buNone/>
            </a:pPr>
            <a:r>
              <a:rPr lang="en-US" sz="1550" dirty="0">
                <a:solidFill>
                  <a:srgbClr val="DCD7E5"/>
                </a:solidFill>
                <a:latin typeface="Montserrat" pitchFamily="34" charset="0"/>
                <a:ea typeface="Montserrat" pitchFamily="34" charset="-122"/>
                <a:cs typeface="Montserrat" pitchFamily="34" charset="-120"/>
              </a:rPr>
              <a:t>Broadcast Receiver</a:t>
            </a:r>
            <a:endParaRPr lang="en-US" sz="1550" dirty="0"/>
          </a:p>
        </p:txBody>
      </p:sp>
      <p:sp>
        <p:nvSpPr>
          <p:cNvPr id="18" name="Text 13"/>
          <p:cNvSpPr/>
          <p:nvPr/>
        </p:nvSpPr>
        <p:spPr>
          <a:xfrm>
            <a:off x="825380" y="4965005"/>
            <a:ext cx="5031455"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DCD7E5"/>
                </a:solidFill>
                <a:latin typeface="Heebo Light" pitchFamily="34" charset="0"/>
                <a:ea typeface="Heebo Light" pitchFamily="34" charset="-122"/>
                <a:cs typeface="Heebo Light" pitchFamily="34" charset="-120"/>
              </a:rPr>
              <a:t>Merespons pengumuman/event dari sistem atau aplikasi lain — misalnya notifikasi baterai lemah atau koneksi jaringan berubah.</a:t>
            </a:r>
            <a:endParaRPr lang="en-US" sz="1200" dirty="0"/>
          </a:p>
        </p:txBody>
      </p:sp>
      <p:sp>
        <p:nvSpPr>
          <p:cNvPr id="19" name="Shape 14"/>
          <p:cNvSpPr/>
          <p:nvPr/>
        </p:nvSpPr>
        <p:spPr>
          <a:xfrm>
            <a:off x="6170954" y="3841651"/>
            <a:ext cx="5359266" cy="1779786"/>
          </a:xfrm>
          <a:prstGeom prst="roundRect">
            <a:avLst>
              <a:gd name="adj" fmla="val 3720"/>
            </a:avLst>
          </a:prstGeom>
          <a:solidFill>
            <a:srgbClr val="31136C"/>
          </a:solidFill>
          <a:ln w="6350">
            <a:solidFill>
              <a:srgbClr val="4A2C85"/>
            </a:solidFill>
            <a:prstDash val="solid"/>
          </a:ln>
        </p:spPr>
        <p:txBody>
          <a:bodyPr/>
          <a:lstStyle/>
          <a:p>
            <a:endParaRPr lang="en-US"/>
          </a:p>
        </p:txBody>
      </p:sp>
      <p:sp>
        <p:nvSpPr>
          <p:cNvPr id="20" name="Shape 15"/>
          <p:cNvSpPr/>
          <p:nvPr/>
        </p:nvSpPr>
        <p:spPr>
          <a:xfrm>
            <a:off x="6334859" y="4005560"/>
            <a:ext cx="472865" cy="472877"/>
          </a:xfrm>
          <a:prstGeom prst="ellipse">
            <a:avLst/>
          </a:prstGeom>
          <a:solidFill>
            <a:srgbClr val="581CA0"/>
          </a:solidFill>
          <a:ln/>
        </p:spPr>
        <p:txBody>
          <a:bodyPr/>
          <a:lstStyle/>
          <a:p>
            <a:endParaRPr lang="en-US"/>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64932" y="4135537"/>
            <a:ext cx="212720" cy="212725"/>
          </a:xfrm>
          <a:prstGeom prst="rect">
            <a:avLst/>
          </a:prstGeom>
        </p:spPr>
      </p:pic>
      <p:sp>
        <p:nvSpPr>
          <p:cNvPr id="22" name="Text 16"/>
          <p:cNvSpPr/>
          <p:nvPr/>
        </p:nvSpPr>
        <p:spPr>
          <a:xfrm>
            <a:off x="6334859" y="4628654"/>
            <a:ext cx="5031455" cy="246261"/>
          </a:xfrm>
          <a:prstGeom prst="rect">
            <a:avLst/>
          </a:prstGeom>
          <a:noFill/>
          <a:ln/>
        </p:spPr>
        <p:txBody>
          <a:bodyPr wrap="none" lIns="0" tIns="0" rIns="0" bIns="0" rtlCol="0" anchor="t"/>
          <a:lstStyle/>
          <a:p>
            <a:pPr marL="0" indent="0" algn="l">
              <a:lnSpc>
                <a:spcPct val="104000"/>
              </a:lnSpc>
              <a:buNone/>
            </a:pPr>
            <a:r>
              <a:rPr lang="en-US" sz="1550" dirty="0">
                <a:solidFill>
                  <a:srgbClr val="DCD7E5"/>
                </a:solidFill>
                <a:latin typeface="Montserrat" pitchFamily="34" charset="0"/>
                <a:ea typeface="Montserrat" pitchFamily="34" charset="-122"/>
                <a:cs typeface="Montserrat" pitchFamily="34" charset="-120"/>
              </a:rPr>
              <a:t>Content Provider</a:t>
            </a:r>
            <a:endParaRPr lang="en-US" sz="1550" dirty="0"/>
          </a:p>
        </p:txBody>
      </p:sp>
      <p:sp>
        <p:nvSpPr>
          <p:cNvPr id="23" name="Text 17"/>
          <p:cNvSpPr/>
          <p:nvPr/>
        </p:nvSpPr>
        <p:spPr>
          <a:xfrm>
            <a:off x="6334859" y="4965005"/>
            <a:ext cx="5031455"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DCD7E5"/>
                </a:solidFill>
                <a:latin typeface="Heebo Light" pitchFamily="34" charset="0"/>
                <a:ea typeface="Heebo Light" pitchFamily="34" charset="-122"/>
                <a:cs typeface="Heebo Light" pitchFamily="34" charset="-120"/>
              </a:rPr>
              <a:t>Mengelola dan membagikan data antar aplikasi secara terstruktur — misalnya akses ke kontak atau galeri foto.</a:t>
            </a:r>
            <a:endParaRPr lang="en-US" sz="1200" dirty="0"/>
          </a:p>
        </p:txBody>
      </p:sp>
      <p:sp>
        <p:nvSpPr>
          <p:cNvPr id="24" name="Shape 18"/>
          <p:cNvSpPr/>
          <p:nvPr/>
        </p:nvSpPr>
        <p:spPr>
          <a:xfrm>
            <a:off x="661475" y="5790406"/>
            <a:ext cx="10868745" cy="610394"/>
          </a:xfrm>
          <a:prstGeom prst="roundRect">
            <a:avLst>
              <a:gd name="adj" fmla="val 10847"/>
            </a:avLst>
          </a:prstGeom>
          <a:solidFill>
            <a:srgbClr val="31136C"/>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819030" y="6007199"/>
            <a:ext cx="197044" cy="157559"/>
          </a:xfrm>
          <a:prstGeom prst="rect">
            <a:avLst/>
          </a:prstGeom>
        </p:spPr>
      </p:pic>
      <p:sp>
        <p:nvSpPr>
          <p:cNvPr id="26" name="Text 19"/>
          <p:cNvSpPr/>
          <p:nvPr/>
        </p:nvSpPr>
        <p:spPr>
          <a:xfrm>
            <a:off x="1173629" y="5980013"/>
            <a:ext cx="10808620" cy="246261"/>
          </a:xfrm>
          <a:prstGeom prst="rect">
            <a:avLst/>
          </a:prstGeom>
          <a:noFill/>
          <a:ln/>
        </p:spPr>
        <p:txBody>
          <a:bodyPr wrap="none" lIns="0" tIns="0" rIns="0" bIns="0" rtlCol="0" anchor="t"/>
          <a:lstStyle/>
          <a:p>
            <a:pPr marL="0" indent="0" algn="l">
              <a:lnSpc>
                <a:spcPct val="130000"/>
              </a:lnSpc>
              <a:buNone/>
            </a:pPr>
            <a:r>
              <a:rPr lang="en-US" sz="1200" dirty="0">
                <a:solidFill>
                  <a:srgbClr val="FFFFFF"/>
                </a:solidFill>
                <a:latin typeface="Heebo Light" pitchFamily="34" charset="0"/>
                <a:ea typeface="Heebo Light" pitchFamily="34" charset="-122"/>
                <a:cs typeface="Heebo Light" pitchFamily="34" charset="-120"/>
              </a:rPr>
              <a:t>Activity adalah komponen yang paling sering digunakan dan menjadi fokus utama pertemuan ini.</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04329"/>
            <a:ext cx="10868745" cy="460375"/>
          </a:xfrm>
          <a:prstGeom prst="rect">
            <a:avLst/>
          </a:prstGeom>
          <a:noFill/>
          <a:ln/>
        </p:spPr>
        <p:txBody>
          <a:bodyPr wrap="none" lIns="0" tIns="0" rIns="0" bIns="0" rtlCol="0" anchor="t"/>
          <a:lstStyle/>
          <a:p>
            <a:pPr marL="0" indent="0" algn="l">
              <a:lnSpc>
                <a:spcPct val="104000"/>
              </a:lnSpc>
              <a:buNone/>
            </a:pPr>
            <a:r>
              <a:rPr lang="en-US" sz="2850" dirty="0">
                <a:solidFill>
                  <a:srgbClr val="F2F0F4"/>
                </a:solidFill>
                <a:latin typeface="Montserrat" pitchFamily="34" charset="0"/>
                <a:ea typeface="Montserrat" pitchFamily="34" charset="-122"/>
                <a:cs typeface="Montserrat" pitchFamily="34" charset="-120"/>
              </a:rPr>
              <a:t>Mengaktifkan Komponen: Intent</a:t>
            </a:r>
            <a:endParaRPr lang="en-US" sz="2850" dirty="0"/>
          </a:p>
        </p:txBody>
      </p:sp>
      <p:sp>
        <p:nvSpPr>
          <p:cNvPr id="3" name="Text 1"/>
          <p:cNvSpPr/>
          <p:nvPr/>
        </p:nvSpPr>
        <p:spPr>
          <a:xfrm>
            <a:off x="661475" y="1227038"/>
            <a:ext cx="10868745" cy="445691"/>
          </a:xfrm>
          <a:prstGeom prst="rect">
            <a:avLst/>
          </a:prstGeom>
          <a:noFill/>
          <a:ln/>
        </p:spPr>
        <p:txBody>
          <a:bodyPr wrap="square" lIns="0" tIns="0" rIns="0" bIns="0" rtlCol="0" anchor="t">
            <a:normAutofit/>
          </a:bodyPr>
          <a:lstStyle/>
          <a:p>
            <a:pPr marL="0" indent="0" algn="l">
              <a:lnSpc>
                <a:spcPct val="126000"/>
              </a:lnSpc>
              <a:buNone/>
            </a:pPr>
            <a:r>
              <a:rPr lang="en-US" sz="1150" dirty="0">
                <a:solidFill>
                  <a:srgbClr val="DCD7E5"/>
                </a:solidFill>
                <a:latin typeface="Heebo Light" pitchFamily="34" charset="0"/>
                <a:ea typeface="Heebo Light" pitchFamily="34" charset="-122"/>
                <a:cs typeface="Heebo Light" pitchFamily="34" charset="-120"/>
              </a:rPr>
              <a:t>Tiga dari empat komponen (Activity, Service, Broadcast Receiver) diaktifkan oleh pesan asinkron bernama Intent. Intent adalah objek pesan yang memfasilitasi komunikasi antar komponen.</a:t>
            </a:r>
            <a:endParaRPr lang="en-US" sz="1150" dirty="0"/>
          </a:p>
        </p:txBody>
      </p:sp>
      <p:sp>
        <p:nvSpPr>
          <p:cNvPr id="4" name="Shape 2"/>
          <p:cNvSpPr/>
          <p:nvPr/>
        </p:nvSpPr>
        <p:spPr>
          <a:xfrm>
            <a:off x="555413" y="1820267"/>
            <a:ext cx="5466816" cy="2763341"/>
          </a:xfrm>
          <a:prstGeom prst="roundRect">
            <a:avLst>
              <a:gd name="adj" fmla="val 3838"/>
            </a:avLst>
          </a:prstGeom>
          <a:solidFill>
            <a:srgbClr val="481C9E">
              <a:alpha val="95000"/>
            </a:srgbClr>
          </a:solidFill>
          <a:ln/>
        </p:spPr>
        <p:txBody>
          <a:bodyPr/>
          <a:lstStyle/>
          <a:p>
            <a:endParaRPr lang="en-US"/>
          </a:p>
        </p:txBody>
      </p:sp>
      <p:sp>
        <p:nvSpPr>
          <p:cNvPr id="5" name="Shape 3"/>
          <p:cNvSpPr/>
          <p:nvPr/>
        </p:nvSpPr>
        <p:spPr>
          <a:xfrm>
            <a:off x="702650" y="1967805"/>
            <a:ext cx="1094355" cy="223838"/>
          </a:xfrm>
          <a:prstGeom prst="roundRect">
            <a:avLst>
              <a:gd name="adj" fmla="val 22111"/>
            </a:avLst>
          </a:prstGeom>
          <a:noFill/>
          <a:ln w="6350">
            <a:solidFill>
              <a:srgbClr val="481C9E"/>
            </a:solidFill>
            <a:prstDash val="solid"/>
          </a:ln>
        </p:spPr>
        <p:txBody>
          <a:bodyPr/>
          <a:lstStyle/>
          <a:p>
            <a:endParaRPr lang="en-US"/>
          </a:p>
        </p:txBody>
      </p:sp>
      <p:sp>
        <p:nvSpPr>
          <p:cNvPr id="6" name="Text 4"/>
          <p:cNvSpPr/>
          <p:nvPr/>
        </p:nvSpPr>
        <p:spPr>
          <a:xfrm>
            <a:off x="790952" y="2011958"/>
            <a:ext cx="1527335" cy="135533"/>
          </a:xfrm>
          <a:prstGeom prst="rect">
            <a:avLst/>
          </a:prstGeom>
          <a:noFill/>
          <a:ln/>
        </p:spPr>
        <p:txBody>
          <a:bodyPr wrap="none" lIns="0" tIns="0" rIns="0" bIns="0" rtlCol="0" anchor="t"/>
          <a:lstStyle/>
          <a:p>
            <a:pPr marL="0" indent="0" algn="l">
              <a:lnSpc>
                <a:spcPct val="96000"/>
              </a:lnSpc>
              <a:buNone/>
            </a:pPr>
            <a:r>
              <a:rPr lang="en-US" sz="900" dirty="0">
                <a:solidFill>
                  <a:srgbClr val="481C9E"/>
                </a:solidFill>
                <a:latin typeface="Heebo Light" pitchFamily="34" charset="0"/>
                <a:ea typeface="Heebo Light" pitchFamily="34" charset="-122"/>
                <a:cs typeface="Heebo Light" pitchFamily="34" charset="-120"/>
              </a:rPr>
              <a:t>EXPLICIT INTENT</a:t>
            </a:r>
            <a:endParaRPr lang="en-US" sz="900" dirty="0"/>
          </a:p>
        </p:txBody>
      </p:sp>
      <p:sp>
        <p:nvSpPr>
          <p:cNvPr id="7" name="Text 5"/>
          <p:cNvSpPr/>
          <p:nvPr/>
        </p:nvSpPr>
        <p:spPr>
          <a:xfrm>
            <a:off x="702650" y="2244030"/>
            <a:ext cx="5172342" cy="230187"/>
          </a:xfrm>
          <a:prstGeom prst="rect">
            <a:avLst/>
          </a:prstGeom>
          <a:noFill/>
          <a:ln/>
        </p:spPr>
        <p:txBody>
          <a:bodyPr wrap="none" lIns="0" tIns="0" rIns="0" bIns="0" rtlCol="0" anchor="t"/>
          <a:lstStyle/>
          <a:p>
            <a:pPr marL="0" indent="0" algn="l">
              <a:lnSpc>
                <a:spcPct val="104000"/>
              </a:lnSpc>
              <a:buNone/>
            </a:pPr>
            <a:r>
              <a:rPr lang="en-US" sz="1400" dirty="0">
                <a:solidFill>
                  <a:srgbClr val="F2F0F4"/>
                </a:solidFill>
                <a:latin typeface="Montserrat" pitchFamily="34" charset="0"/>
                <a:ea typeface="Montserrat" pitchFamily="34" charset="-122"/>
                <a:cs typeface="Montserrat" pitchFamily="34" charset="-120"/>
              </a:rPr>
              <a:t>Komponen Spesifik</a:t>
            </a:r>
            <a:endParaRPr lang="en-US" sz="1400" dirty="0"/>
          </a:p>
        </p:txBody>
      </p:sp>
      <p:sp>
        <p:nvSpPr>
          <p:cNvPr id="8" name="Text 6"/>
          <p:cNvSpPr/>
          <p:nvPr/>
        </p:nvSpPr>
        <p:spPr>
          <a:xfrm>
            <a:off x="702650" y="2605385"/>
            <a:ext cx="5172342" cy="445691"/>
          </a:xfrm>
          <a:prstGeom prst="rect">
            <a:avLst/>
          </a:prstGeom>
          <a:noFill/>
          <a:ln/>
        </p:spPr>
        <p:txBody>
          <a:bodyPr wrap="square" lIns="0" tIns="0" rIns="0" bIns="0" rtlCol="0" anchor="t">
            <a:normAutofit/>
          </a:bodyPr>
          <a:lstStyle/>
          <a:p>
            <a:pPr marL="0" indent="0" algn="l">
              <a:lnSpc>
                <a:spcPct val="126000"/>
              </a:lnSpc>
              <a:buNone/>
            </a:pPr>
            <a:r>
              <a:rPr lang="en-US" sz="1150" dirty="0">
                <a:solidFill>
                  <a:srgbClr val="DCD7E5"/>
                </a:solidFill>
                <a:latin typeface="Heebo Light" pitchFamily="34" charset="0"/>
                <a:ea typeface="Heebo Light" pitchFamily="34" charset="-122"/>
                <a:cs typeface="Heebo Light" pitchFamily="34" charset="-120"/>
              </a:rPr>
              <a:t>Menjalankan komponen yang sudah diketahui secara pasti — biasanya dalam aplikasi yang sama.</a:t>
            </a:r>
            <a:endParaRPr lang="en-US" sz="1150" dirty="0"/>
          </a:p>
        </p:txBody>
      </p:sp>
      <p:sp>
        <p:nvSpPr>
          <p:cNvPr id="9" name="Shape 7"/>
          <p:cNvSpPr/>
          <p:nvPr/>
        </p:nvSpPr>
        <p:spPr>
          <a:xfrm>
            <a:off x="702650" y="3198614"/>
            <a:ext cx="5172342" cy="1237456"/>
          </a:xfrm>
          <a:prstGeom prst="roundRect">
            <a:avLst>
              <a:gd name="adj" fmla="val 5000"/>
            </a:avLst>
          </a:prstGeom>
          <a:solidFill>
            <a:srgbClr val="5529AB"/>
          </a:solidFill>
          <a:ln/>
        </p:spPr>
        <p:txBody>
          <a:bodyPr/>
          <a:lstStyle/>
          <a:p>
            <a:endParaRPr lang="en-US"/>
          </a:p>
        </p:txBody>
      </p:sp>
      <p:sp>
        <p:nvSpPr>
          <p:cNvPr id="10" name="Text 8"/>
          <p:cNvSpPr/>
          <p:nvPr/>
        </p:nvSpPr>
        <p:spPr>
          <a:xfrm>
            <a:off x="879354" y="3345855"/>
            <a:ext cx="4818934" cy="942975"/>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8B949E"/>
                </a:solidFill>
                <a:latin typeface="Consolas" pitchFamily="34" charset="0"/>
                <a:ea typeface="Consolas" pitchFamily="34" charset="-122"/>
                <a:cs typeface="Consolas" pitchFamily="34" charset="-120"/>
              </a:rPr>
              <a:t>// Explicit Intent</a:t>
            </a:r>
            <a:endParaRPr lang="en-US" sz="1150" dirty="0"/>
          </a:p>
          <a:p>
            <a:pPr marL="0" indent="0" algn="l">
              <a:lnSpc>
                <a:spcPct val="133000"/>
              </a:lnSpc>
              <a:buNone/>
            </a:pPr>
            <a:r>
              <a:rPr lang="en-US" sz="1150" dirty="0">
                <a:solidFill>
                  <a:srgbClr val="8B949E"/>
                </a:solidFill>
                <a:latin typeface="Consolas" pitchFamily="34" charset="0"/>
                <a:ea typeface="Consolas" pitchFamily="34" charset="-122"/>
                <a:cs typeface="Consolas" pitchFamily="34" charset="-120"/>
              </a:rPr>
              <a:t>val intent = Intent(this, DetailActivity::class.java)</a:t>
            </a:r>
            <a:endParaRPr lang="en-US" sz="1150" dirty="0"/>
          </a:p>
          <a:p>
            <a:pPr marL="0" indent="0" algn="l">
              <a:lnSpc>
                <a:spcPct val="133000"/>
              </a:lnSpc>
              <a:buNone/>
            </a:pPr>
            <a:r>
              <a:rPr lang="en-US" sz="1150" dirty="0">
                <a:solidFill>
                  <a:srgbClr val="8B949E"/>
                </a:solidFill>
                <a:latin typeface="Consolas" pitchFamily="34" charset="0"/>
                <a:ea typeface="Consolas" pitchFamily="34" charset="-122"/>
                <a:cs typeface="Consolas" pitchFamily="34" charset="-120"/>
              </a:rPr>
              <a:t>intent.putExtra("id", itemId)</a:t>
            </a:r>
            <a:endParaRPr lang="en-US" sz="1150" dirty="0"/>
          </a:p>
          <a:p>
            <a:pPr marL="0" indent="0" algn="l">
              <a:lnSpc>
                <a:spcPct val="133000"/>
              </a:lnSpc>
              <a:buNone/>
            </a:pPr>
            <a:r>
              <a:rPr lang="en-US" sz="1150" dirty="0">
                <a:solidFill>
                  <a:srgbClr val="8B949E"/>
                </a:solidFill>
                <a:latin typeface="Consolas" pitchFamily="34" charset="0"/>
                <a:ea typeface="Consolas" pitchFamily="34" charset="-122"/>
                <a:cs typeface="Consolas" pitchFamily="34" charset="-120"/>
              </a:rPr>
              <a:t>startActivity(intent)</a:t>
            </a:r>
            <a:endParaRPr lang="en-US" sz="1150" dirty="0"/>
          </a:p>
        </p:txBody>
      </p:sp>
      <p:sp>
        <p:nvSpPr>
          <p:cNvPr id="11" name="Shape 9"/>
          <p:cNvSpPr/>
          <p:nvPr/>
        </p:nvSpPr>
        <p:spPr>
          <a:xfrm>
            <a:off x="6281878" y="1967805"/>
            <a:ext cx="1088601" cy="223838"/>
          </a:xfrm>
          <a:prstGeom prst="roundRect">
            <a:avLst>
              <a:gd name="adj" fmla="val 22111"/>
            </a:avLst>
          </a:prstGeom>
          <a:noFill/>
          <a:ln w="6350">
            <a:solidFill>
              <a:srgbClr val="481C9E"/>
            </a:solidFill>
            <a:prstDash val="solid"/>
          </a:ln>
        </p:spPr>
        <p:txBody>
          <a:bodyPr/>
          <a:lstStyle/>
          <a:p>
            <a:endParaRPr lang="en-US"/>
          </a:p>
        </p:txBody>
      </p:sp>
      <p:sp>
        <p:nvSpPr>
          <p:cNvPr id="12" name="Text 10"/>
          <p:cNvSpPr/>
          <p:nvPr/>
        </p:nvSpPr>
        <p:spPr>
          <a:xfrm>
            <a:off x="6370180" y="2011958"/>
            <a:ext cx="1521581" cy="135533"/>
          </a:xfrm>
          <a:prstGeom prst="rect">
            <a:avLst/>
          </a:prstGeom>
          <a:noFill/>
          <a:ln/>
        </p:spPr>
        <p:txBody>
          <a:bodyPr wrap="none" lIns="0" tIns="0" rIns="0" bIns="0" rtlCol="0" anchor="t"/>
          <a:lstStyle/>
          <a:p>
            <a:pPr marL="0" indent="0" algn="l">
              <a:lnSpc>
                <a:spcPct val="96000"/>
              </a:lnSpc>
              <a:buNone/>
            </a:pPr>
            <a:r>
              <a:rPr lang="en-US" sz="900" dirty="0">
                <a:solidFill>
                  <a:srgbClr val="481C9E"/>
                </a:solidFill>
                <a:latin typeface="Heebo Light" pitchFamily="34" charset="0"/>
                <a:ea typeface="Heebo Light" pitchFamily="34" charset="-122"/>
                <a:cs typeface="Heebo Light" pitchFamily="34" charset="-120"/>
              </a:rPr>
              <a:t>IMPLICIT INTENT</a:t>
            </a:r>
            <a:endParaRPr lang="en-US" sz="900" dirty="0"/>
          </a:p>
        </p:txBody>
      </p:sp>
      <p:sp>
        <p:nvSpPr>
          <p:cNvPr id="13" name="Text 11"/>
          <p:cNvSpPr/>
          <p:nvPr/>
        </p:nvSpPr>
        <p:spPr>
          <a:xfrm>
            <a:off x="6281878" y="2244030"/>
            <a:ext cx="5254692" cy="230187"/>
          </a:xfrm>
          <a:prstGeom prst="rect">
            <a:avLst/>
          </a:prstGeom>
          <a:noFill/>
          <a:ln/>
        </p:spPr>
        <p:txBody>
          <a:bodyPr wrap="none" lIns="0" tIns="0" rIns="0" bIns="0" rtlCol="0" anchor="t"/>
          <a:lstStyle/>
          <a:p>
            <a:pPr marL="0" indent="0" algn="l">
              <a:lnSpc>
                <a:spcPct val="104000"/>
              </a:lnSpc>
              <a:buNone/>
            </a:pPr>
            <a:r>
              <a:rPr lang="en-US" sz="1400" dirty="0">
                <a:solidFill>
                  <a:srgbClr val="F2F0F4"/>
                </a:solidFill>
                <a:latin typeface="Montserrat" pitchFamily="34" charset="0"/>
                <a:ea typeface="Montserrat" pitchFamily="34" charset="-122"/>
                <a:cs typeface="Montserrat" pitchFamily="34" charset="-120"/>
              </a:rPr>
              <a:t>Sistem Mencari Penangan</a:t>
            </a:r>
            <a:endParaRPr lang="en-US" sz="1400" dirty="0"/>
          </a:p>
        </p:txBody>
      </p:sp>
      <p:sp>
        <p:nvSpPr>
          <p:cNvPr id="14" name="Text 12"/>
          <p:cNvSpPr/>
          <p:nvPr/>
        </p:nvSpPr>
        <p:spPr>
          <a:xfrm>
            <a:off x="6281878" y="2605385"/>
            <a:ext cx="5254692" cy="445691"/>
          </a:xfrm>
          <a:prstGeom prst="rect">
            <a:avLst/>
          </a:prstGeom>
          <a:noFill/>
          <a:ln/>
        </p:spPr>
        <p:txBody>
          <a:bodyPr wrap="square" lIns="0" tIns="0" rIns="0" bIns="0" rtlCol="0" anchor="t">
            <a:normAutofit/>
          </a:bodyPr>
          <a:lstStyle/>
          <a:p>
            <a:pPr marL="0" indent="0" algn="l">
              <a:lnSpc>
                <a:spcPct val="126000"/>
              </a:lnSpc>
              <a:buNone/>
            </a:pPr>
            <a:r>
              <a:rPr lang="en-US" sz="1150" dirty="0">
                <a:solidFill>
                  <a:srgbClr val="DCD7E5"/>
                </a:solidFill>
                <a:latin typeface="Heebo Light" pitchFamily="34" charset="0"/>
                <a:ea typeface="Heebo Light" pitchFamily="34" charset="-122"/>
                <a:cs typeface="Heebo Light" pitchFamily="34" charset="-120"/>
              </a:rPr>
              <a:t>Meminta sistem mencari aplikasi mana saja yang mampu menangani tindakan tersebut — tidak menyebut komponen secara spesifik.</a:t>
            </a:r>
            <a:endParaRPr lang="en-US" sz="1150" dirty="0"/>
          </a:p>
        </p:txBody>
      </p:sp>
      <p:sp>
        <p:nvSpPr>
          <p:cNvPr id="15" name="Shape 13"/>
          <p:cNvSpPr/>
          <p:nvPr/>
        </p:nvSpPr>
        <p:spPr>
          <a:xfrm>
            <a:off x="6281878" y="3198614"/>
            <a:ext cx="5254692" cy="1237456"/>
          </a:xfrm>
          <a:prstGeom prst="roundRect">
            <a:avLst>
              <a:gd name="adj" fmla="val 5000"/>
            </a:avLst>
          </a:prstGeom>
          <a:solidFill>
            <a:srgbClr val="1A1739"/>
          </a:solidFill>
          <a:ln/>
        </p:spPr>
        <p:txBody>
          <a:bodyPr/>
          <a:lstStyle/>
          <a:p>
            <a:endParaRPr lang="en-US"/>
          </a:p>
        </p:txBody>
      </p:sp>
      <p:sp>
        <p:nvSpPr>
          <p:cNvPr id="16" name="Text 14"/>
          <p:cNvSpPr/>
          <p:nvPr/>
        </p:nvSpPr>
        <p:spPr>
          <a:xfrm>
            <a:off x="6458582" y="3345855"/>
            <a:ext cx="4901284" cy="942975"/>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8B949E"/>
                </a:solidFill>
                <a:latin typeface="Consolas" pitchFamily="34" charset="0"/>
                <a:ea typeface="Consolas" pitchFamily="34" charset="-122"/>
                <a:cs typeface="Consolas" pitchFamily="34" charset="-120"/>
              </a:rPr>
              <a:t>// Implicit Intent</a:t>
            </a:r>
            <a:endParaRPr lang="en-US" sz="1150" dirty="0"/>
          </a:p>
          <a:p>
            <a:pPr marL="0" indent="0" algn="l">
              <a:lnSpc>
                <a:spcPct val="133000"/>
              </a:lnSpc>
              <a:buNone/>
            </a:pPr>
            <a:r>
              <a:rPr lang="en-US" sz="1150" dirty="0">
                <a:solidFill>
                  <a:srgbClr val="8B949E"/>
                </a:solidFill>
                <a:latin typeface="Consolas" pitchFamily="34" charset="0"/>
                <a:ea typeface="Consolas" pitchFamily="34" charset="-122"/>
                <a:cs typeface="Consolas" pitchFamily="34" charset="-120"/>
              </a:rPr>
              <a:t>val intent = Intent(Intent.ACTION_VIEW)</a:t>
            </a:r>
            <a:endParaRPr lang="en-US" sz="1150" dirty="0"/>
          </a:p>
          <a:p>
            <a:pPr marL="0" indent="0" algn="l">
              <a:lnSpc>
                <a:spcPct val="133000"/>
              </a:lnSpc>
              <a:buNone/>
            </a:pPr>
            <a:r>
              <a:rPr lang="en-US" sz="1150" dirty="0">
                <a:solidFill>
                  <a:srgbClr val="8B949E"/>
                </a:solidFill>
                <a:latin typeface="Consolas" pitchFamily="34" charset="0"/>
                <a:ea typeface="Consolas" pitchFamily="34" charset="-122"/>
                <a:cs typeface="Consolas" pitchFamily="34" charset="-120"/>
              </a:rPr>
              <a:t>intent.data = Uri.parse("https://unsoed.ac.id")</a:t>
            </a:r>
            <a:endParaRPr lang="en-US" sz="1150" dirty="0"/>
          </a:p>
          <a:p>
            <a:pPr marL="0" indent="0" algn="l">
              <a:lnSpc>
                <a:spcPct val="133000"/>
              </a:lnSpc>
              <a:buNone/>
            </a:pPr>
            <a:r>
              <a:rPr lang="en-US" sz="1150" dirty="0">
                <a:solidFill>
                  <a:srgbClr val="8B949E"/>
                </a:solidFill>
                <a:latin typeface="Consolas" pitchFamily="34" charset="0"/>
                <a:ea typeface="Consolas" pitchFamily="34" charset="-122"/>
                <a:cs typeface="Consolas" pitchFamily="34" charset="-120"/>
              </a:rPr>
              <a:t>startActivity(intent)</a:t>
            </a:r>
            <a:endParaRPr lang="en-US" sz="1150" dirty="0"/>
          </a:p>
        </p:txBody>
      </p:sp>
      <p:sp>
        <p:nvSpPr>
          <p:cNvPr id="17" name="Shape 15"/>
          <p:cNvSpPr/>
          <p:nvPr/>
        </p:nvSpPr>
        <p:spPr>
          <a:xfrm>
            <a:off x="882330" y="5320209"/>
            <a:ext cx="3314518" cy="147241"/>
          </a:xfrm>
          <a:prstGeom prst="roundRect">
            <a:avLst>
              <a:gd name="adj" fmla="val 42017"/>
            </a:avLst>
          </a:prstGeom>
          <a:solidFill>
            <a:srgbClr val="31136C"/>
          </a:solidFill>
          <a:ln w="6350">
            <a:solidFill>
              <a:srgbClr val="4A2C85"/>
            </a:solidFill>
            <a:prstDash val="solid"/>
          </a:ln>
        </p:spPr>
        <p:txBody>
          <a:bodyPr/>
          <a:lstStyle/>
          <a:p>
            <a:endParaRPr lang="en-US"/>
          </a:p>
        </p:txBody>
      </p:sp>
      <p:sp>
        <p:nvSpPr>
          <p:cNvPr id="18" name="Text 16"/>
          <p:cNvSpPr/>
          <p:nvPr/>
        </p:nvSpPr>
        <p:spPr>
          <a:xfrm>
            <a:off x="808712" y="5745956"/>
            <a:ext cx="3240999" cy="460375"/>
          </a:xfrm>
          <a:prstGeom prst="rect">
            <a:avLst/>
          </a:prstGeom>
          <a:noFill/>
          <a:ln/>
        </p:spPr>
        <p:txBody>
          <a:bodyPr wrap="square" lIns="0" tIns="0" rIns="0" bIns="0" rtlCol="0" anchor="t">
            <a:normAutofit/>
          </a:bodyPr>
          <a:lstStyle/>
          <a:p>
            <a:pPr marL="0" indent="0" algn="l">
              <a:lnSpc>
                <a:spcPct val="104000"/>
              </a:lnSpc>
              <a:buNone/>
            </a:pPr>
            <a:r>
              <a:rPr lang="en-US" sz="1400" dirty="0">
                <a:solidFill>
                  <a:srgbClr val="DCD7E5"/>
                </a:solidFill>
                <a:latin typeface="Montserrat" pitchFamily="34" charset="0"/>
                <a:ea typeface="Montserrat" pitchFamily="34" charset="-122"/>
                <a:cs typeface="Montserrat" pitchFamily="34" charset="-120"/>
              </a:rPr>
              <a:t>Komponen Sumber membuat Intent</a:t>
            </a:r>
            <a:endParaRPr lang="en-US" sz="1400" dirty="0"/>
          </a:p>
        </p:txBody>
      </p:sp>
      <p:sp>
        <p:nvSpPr>
          <p:cNvPr id="19" name="Shape 17"/>
          <p:cNvSpPr/>
          <p:nvPr/>
        </p:nvSpPr>
        <p:spPr>
          <a:xfrm>
            <a:off x="4548967" y="5099248"/>
            <a:ext cx="3314518" cy="147241"/>
          </a:xfrm>
          <a:prstGeom prst="roundRect">
            <a:avLst>
              <a:gd name="adj" fmla="val 42017"/>
            </a:avLst>
          </a:prstGeom>
          <a:solidFill>
            <a:srgbClr val="31136C"/>
          </a:solidFill>
          <a:ln w="6350">
            <a:solidFill>
              <a:srgbClr val="4A2C85"/>
            </a:solidFill>
            <a:prstDash val="solid"/>
          </a:ln>
        </p:spPr>
        <p:txBody>
          <a:bodyPr/>
          <a:lstStyle/>
          <a:p>
            <a:endParaRPr lang="en-US"/>
          </a:p>
        </p:txBody>
      </p:sp>
      <p:sp>
        <p:nvSpPr>
          <p:cNvPr id="20" name="Text 18"/>
          <p:cNvSpPr/>
          <p:nvPr/>
        </p:nvSpPr>
        <p:spPr>
          <a:xfrm>
            <a:off x="4475348" y="5524996"/>
            <a:ext cx="3240999" cy="230187"/>
          </a:xfrm>
          <a:prstGeom prst="rect">
            <a:avLst/>
          </a:prstGeom>
          <a:noFill/>
          <a:ln/>
        </p:spPr>
        <p:txBody>
          <a:bodyPr wrap="none" lIns="0" tIns="0" rIns="0" bIns="0" rtlCol="0" anchor="t"/>
          <a:lstStyle/>
          <a:p>
            <a:pPr marL="0" indent="0" algn="l">
              <a:lnSpc>
                <a:spcPct val="104000"/>
              </a:lnSpc>
              <a:buNone/>
            </a:pPr>
            <a:r>
              <a:rPr lang="en-US" sz="1400" dirty="0">
                <a:solidFill>
                  <a:srgbClr val="DCD7E5"/>
                </a:solidFill>
                <a:latin typeface="Montserrat" pitchFamily="34" charset="0"/>
                <a:ea typeface="Montserrat" pitchFamily="34" charset="-122"/>
                <a:cs typeface="Montserrat" pitchFamily="34" charset="-120"/>
              </a:rPr>
              <a:t>Sistem Android menerima Intent</a:t>
            </a:r>
            <a:endParaRPr lang="en-US" sz="1400" dirty="0"/>
          </a:p>
        </p:txBody>
      </p:sp>
      <p:sp>
        <p:nvSpPr>
          <p:cNvPr id="21" name="Shape 19"/>
          <p:cNvSpPr/>
          <p:nvPr/>
        </p:nvSpPr>
        <p:spPr>
          <a:xfrm>
            <a:off x="8215603" y="4878387"/>
            <a:ext cx="3314518" cy="147241"/>
          </a:xfrm>
          <a:prstGeom prst="roundRect">
            <a:avLst>
              <a:gd name="adj" fmla="val 42017"/>
            </a:avLst>
          </a:prstGeom>
          <a:solidFill>
            <a:srgbClr val="31136C"/>
          </a:solidFill>
          <a:ln w="6350">
            <a:solidFill>
              <a:srgbClr val="4A2C85"/>
            </a:solidFill>
            <a:prstDash val="solid"/>
          </a:ln>
        </p:spPr>
        <p:txBody>
          <a:bodyPr/>
          <a:lstStyle/>
          <a:p>
            <a:endParaRPr lang="en-US"/>
          </a:p>
        </p:txBody>
      </p:sp>
      <p:sp>
        <p:nvSpPr>
          <p:cNvPr id="22" name="Text 20"/>
          <p:cNvSpPr/>
          <p:nvPr/>
        </p:nvSpPr>
        <p:spPr>
          <a:xfrm>
            <a:off x="8141985" y="5304135"/>
            <a:ext cx="3240999" cy="230187"/>
          </a:xfrm>
          <a:prstGeom prst="rect">
            <a:avLst/>
          </a:prstGeom>
          <a:noFill/>
          <a:ln/>
        </p:spPr>
        <p:txBody>
          <a:bodyPr wrap="none" lIns="0" tIns="0" rIns="0" bIns="0" rtlCol="0" anchor="t"/>
          <a:lstStyle/>
          <a:p>
            <a:pPr marL="0" indent="0" algn="l">
              <a:lnSpc>
                <a:spcPct val="104000"/>
              </a:lnSpc>
              <a:buNone/>
            </a:pPr>
            <a:r>
              <a:rPr lang="en-US" sz="1400" dirty="0">
                <a:solidFill>
                  <a:srgbClr val="DCD7E5"/>
                </a:solidFill>
                <a:latin typeface="Montserrat" pitchFamily="34" charset="0"/>
                <a:ea typeface="Montserrat" pitchFamily="34" charset="-122"/>
                <a:cs typeface="Montserrat" pitchFamily="34" charset="-120"/>
              </a:rPr>
              <a:t>Komponen Target diaktifkan</a:t>
            </a:r>
            <a:endParaRPr lang="en-US" sz="1400" dirty="0"/>
          </a:p>
        </p:txBody>
      </p:sp>
      <p:sp>
        <p:nvSpPr>
          <p:cNvPr id="23" name="Shape 21"/>
          <p:cNvSpPr/>
          <p:nvPr/>
        </p:nvSpPr>
        <p:spPr>
          <a:xfrm>
            <a:off x="661475" y="5172918"/>
            <a:ext cx="441810" cy="441821"/>
          </a:xfrm>
          <a:prstGeom prst="ellipse">
            <a:avLst/>
          </a:prstGeom>
          <a:solidFill>
            <a:srgbClr val="31136C"/>
          </a:solidFill>
          <a:ln w="6350">
            <a:solidFill>
              <a:srgbClr val="4A2C85"/>
            </a:solidFill>
            <a:prstDash val="solid"/>
          </a:ln>
        </p:spPr>
        <p:txBody>
          <a:bodyPr/>
          <a:lstStyle/>
          <a:p>
            <a:endParaRPr lang="en-US"/>
          </a:p>
        </p:txBody>
      </p:sp>
      <p:pic>
        <p:nvPicPr>
          <p:cNvPr id="2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1903" y="5283349"/>
            <a:ext cx="220855" cy="220861"/>
          </a:xfrm>
          <a:prstGeom prst="rect">
            <a:avLst/>
          </a:prstGeom>
        </p:spPr>
      </p:pic>
      <p:sp>
        <p:nvSpPr>
          <p:cNvPr id="25" name="Shape 22"/>
          <p:cNvSpPr/>
          <p:nvPr/>
        </p:nvSpPr>
        <p:spPr>
          <a:xfrm>
            <a:off x="4328111" y="4951958"/>
            <a:ext cx="441810" cy="441821"/>
          </a:xfrm>
          <a:prstGeom prst="ellipse">
            <a:avLst/>
          </a:prstGeom>
          <a:solidFill>
            <a:srgbClr val="31136C"/>
          </a:solidFill>
          <a:ln w="6350">
            <a:solidFill>
              <a:srgbClr val="4A2C85"/>
            </a:solidFill>
            <a:prstDash val="solid"/>
          </a:ln>
        </p:spPr>
        <p:txBody>
          <a:bodyPr/>
          <a:lstStyle/>
          <a:p>
            <a:endParaRPr lang="en-US"/>
          </a:p>
        </p:txBody>
      </p:sp>
      <p:pic>
        <p:nvPicPr>
          <p:cNvPr id="2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38539" y="5062389"/>
            <a:ext cx="220855" cy="220861"/>
          </a:xfrm>
          <a:prstGeom prst="rect">
            <a:avLst/>
          </a:prstGeom>
        </p:spPr>
      </p:pic>
      <p:sp>
        <p:nvSpPr>
          <p:cNvPr id="27" name="Shape 23"/>
          <p:cNvSpPr/>
          <p:nvPr/>
        </p:nvSpPr>
        <p:spPr>
          <a:xfrm>
            <a:off x="7994748" y="4731097"/>
            <a:ext cx="441810" cy="441821"/>
          </a:xfrm>
          <a:prstGeom prst="ellipse">
            <a:avLst/>
          </a:prstGeom>
          <a:solidFill>
            <a:srgbClr val="31136C"/>
          </a:solidFill>
          <a:ln w="6350">
            <a:solidFill>
              <a:srgbClr val="4A2C85"/>
            </a:solidFill>
            <a:prstDash val="solid"/>
          </a:ln>
        </p:spPr>
        <p:txBody>
          <a:bodyPr/>
          <a:lstStyle/>
          <a:p>
            <a:endParaRPr lang="en-US"/>
          </a:p>
        </p:txBody>
      </p:sp>
      <p:pic>
        <p:nvPicPr>
          <p:cNvPr id="2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05175" y="4841528"/>
            <a:ext cx="220855" cy="22086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06710"/>
            <a:ext cx="10868745" cy="363339"/>
          </a:xfrm>
          <a:prstGeom prst="rect">
            <a:avLst/>
          </a:prstGeom>
          <a:noFill/>
          <a:ln/>
        </p:spPr>
        <p:txBody>
          <a:bodyPr wrap="none" lIns="0" tIns="0" rIns="0" bIns="0" rtlCol="0" anchor="t"/>
          <a:lstStyle/>
          <a:p>
            <a:pPr marL="0" indent="0" algn="l">
              <a:lnSpc>
                <a:spcPct val="104000"/>
              </a:lnSpc>
              <a:buNone/>
            </a:pPr>
            <a:r>
              <a:rPr lang="en-US" sz="2250" dirty="0">
                <a:solidFill>
                  <a:srgbClr val="F2F0F4"/>
                </a:solidFill>
                <a:latin typeface="Montserrat" pitchFamily="34" charset="0"/>
                <a:ea typeface="Montserrat" pitchFamily="34" charset="-122"/>
                <a:cs typeface="Montserrat" pitchFamily="34" charset="-120"/>
              </a:rPr>
              <a:t>File Manifest: AndroidManifest.xml</a:t>
            </a:r>
            <a:endParaRPr lang="en-US" sz="2250" dirty="0"/>
          </a:p>
        </p:txBody>
      </p:sp>
      <p:sp>
        <p:nvSpPr>
          <p:cNvPr id="3" name="Text 1"/>
          <p:cNvSpPr/>
          <p:nvPr/>
        </p:nvSpPr>
        <p:spPr>
          <a:xfrm>
            <a:off x="661475" y="1033562"/>
            <a:ext cx="11478330" cy="158353"/>
          </a:xfrm>
          <a:prstGeom prst="rect">
            <a:avLst/>
          </a:prstGeom>
          <a:noFill/>
          <a:ln/>
        </p:spPr>
        <p:txBody>
          <a:bodyPr wrap="none" lIns="0" tIns="0" rIns="0" bIns="0" rtlCol="0" anchor="t"/>
          <a:lstStyle/>
          <a:p>
            <a:pPr marL="0" indent="0" algn="l">
              <a:lnSpc>
                <a:spcPct val="114000"/>
              </a:lnSpc>
              <a:buNone/>
            </a:pPr>
            <a:r>
              <a:rPr lang="en-US" sz="900" dirty="0">
                <a:solidFill>
                  <a:srgbClr val="DCD7E5"/>
                </a:solidFill>
                <a:latin typeface="Heebo Light" pitchFamily="34" charset="0"/>
                <a:ea typeface="Heebo Light" pitchFamily="34" charset="-122"/>
                <a:cs typeface="Heebo Light" pitchFamily="34" charset="-120"/>
              </a:rPr>
              <a:t>AndroidManifest.xml adalah 'buku tamu' aplikasi — sistem Android wajib membaca file ini sebelum menjalankan kode apa pun. Tanpa manifest yang benar, aplikasi tidak akan berjalan.</a:t>
            </a:r>
            <a:endParaRPr lang="en-US" sz="9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375866"/>
            <a:ext cx="5850188" cy="679748"/>
          </a:xfrm>
          <a:prstGeom prst="rect">
            <a:avLst/>
          </a:prstGeom>
        </p:spPr>
      </p:pic>
      <p:sp>
        <p:nvSpPr>
          <p:cNvPr id="5" name="Text 2"/>
          <p:cNvSpPr/>
          <p:nvPr/>
        </p:nvSpPr>
        <p:spPr>
          <a:xfrm>
            <a:off x="841255" y="1504851"/>
            <a:ext cx="5541427" cy="181670"/>
          </a:xfrm>
          <a:prstGeom prst="rect">
            <a:avLst/>
          </a:prstGeom>
          <a:noFill/>
          <a:ln/>
        </p:spPr>
        <p:txBody>
          <a:bodyPr wrap="none" lIns="0" tIns="0" rIns="0" bIns="0" rtlCol="0" anchor="t"/>
          <a:lstStyle/>
          <a:p>
            <a:pPr marL="0" indent="0" algn="l">
              <a:lnSpc>
                <a:spcPct val="104000"/>
              </a:lnSpc>
              <a:buNone/>
            </a:pPr>
            <a:r>
              <a:rPr lang="en-US" sz="1100" dirty="0">
                <a:solidFill>
                  <a:srgbClr val="DCD7E5"/>
                </a:solidFill>
                <a:latin typeface="Montserrat" pitchFamily="34" charset="0"/>
                <a:ea typeface="Montserrat" pitchFamily="34" charset="-122"/>
                <a:cs typeface="Montserrat" pitchFamily="34" charset="-120"/>
              </a:rPr>
              <a:t>Deklarasi Komponen</a:t>
            </a:r>
            <a:endParaRPr lang="en-US" sz="1100" dirty="0"/>
          </a:p>
        </p:txBody>
      </p:sp>
      <p:sp>
        <p:nvSpPr>
          <p:cNvPr id="6" name="Text 3"/>
          <p:cNvSpPr/>
          <p:nvPr/>
        </p:nvSpPr>
        <p:spPr>
          <a:xfrm>
            <a:off x="841255" y="1768277"/>
            <a:ext cx="5541427" cy="158353"/>
          </a:xfrm>
          <a:prstGeom prst="rect">
            <a:avLst/>
          </a:prstGeom>
          <a:noFill/>
          <a:ln/>
        </p:spPr>
        <p:txBody>
          <a:bodyPr wrap="none" lIns="0" tIns="0" rIns="0" bIns="0" rtlCol="0" anchor="t"/>
          <a:lstStyle/>
          <a:p>
            <a:pPr marL="0" indent="0" algn="l">
              <a:lnSpc>
                <a:spcPct val="114000"/>
              </a:lnSpc>
              <a:buNone/>
            </a:pPr>
            <a:r>
              <a:rPr lang="en-US" sz="900" dirty="0">
                <a:solidFill>
                  <a:srgbClr val="DCD7E5"/>
                </a:solidFill>
                <a:latin typeface="Heebo Light" pitchFamily="34" charset="0"/>
                <a:ea typeface="Heebo Light" pitchFamily="34" charset="-122"/>
                <a:cs typeface="Heebo Light" pitchFamily="34" charset="-120"/>
              </a:rPr>
              <a:t>Semua Activity, Service, Broadcast Receiver, dan Content Provider wajib didaftarkan di sini.</a:t>
            </a:r>
            <a:endParaRPr lang="en-US" sz="9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137370"/>
            <a:ext cx="5850188" cy="679748"/>
          </a:xfrm>
          <a:prstGeom prst="rect">
            <a:avLst/>
          </a:prstGeom>
        </p:spPr>
      </p:pic>
      <p:sp>
        <p:nvSpPr>
          <p:cNvPr id="8" name="Text 4"/>
          <p:cNvSpPr/>
          <p:nvPr/>
        </p:nvSpPr>
        <p:spPr>
          <a:xfrm>
            <a:off x="841255" y="2266355"/>
            <a:ext cx="5541427" cy="181670"/>
          </a:xfrm>
          <a:prstGeom prst="rect">
            <a:avLst/>
          </a:prstGeom>
          <a:noFill/>
          <a:ln/>
        </p:spPr>
        <p:txBody>
          <a:bodyPr wrap="none" lIns="0" tIns="0" rIns="0" bIns="0" rtlCol="0" anchor="t"/>
          <a:lstStyle/>
          <a:p>
            <a:pPr marL="0" indent="0" algn="l">
              <a:lnSpc>
                <a:spcPct val="104000"/>
              </a:lnSpc>
              <a:buNone/>
            </a:pPr>
            <a:r>
              <a:rPr lang="en-US" sz="1100" dirty="0">
                <a:solidFill>
                  <a:srgbClr val="DCD7E5"/>
                </a:solidFill>
                <a:latin typeface="Montserrat" pitchFamily="34" charset="0"/>
                <a:ea typeface="Montserrat" pitchFamily="34" charset="-122"/>
                <a:cs typeface="Montserrat" pitchFamily="34" charset="-120"/>
              </a:rPr>
              <a:t>Permissions (Izin)</a:t>
            </a:r>
            <a:endParaRPr lang="en-US" sz="1100" dirty="0"/>
          </a:p>
        </p:txBody>
      </p:sp>
      <p:sp>
        <p:nvSpPr>
          <p:cNvPr id="9" name="Text 5"/>
          <p:cNvSpPr/>
          <p:nvPr/>
        </p:nvSpPr>
        <p:spPr>
          <a:xfrm>
            <a:off x="841255" y="2529780"/>
            <a:ext cx="5541427" cy="158353"/>
          </a:xfrm>
          <a:prstGeom prst="rect">
            <a:avLst/>
          </a:prstGeom>
          <a:noFill/>
          <a:ln/>
        </p:spPr>
        <p:txBody>
          <a:bodyPr wrap="none" lIns="0" tIns="0" rIns="0" bIns="0" rtlCol="0" anchor="t"/>
          <a:lstStyle/>
          <a:p>
            <a:pPr marL="0" indent="0" algn="l">
              <a:lnSpc>
                <a:spcPct val="114000"/>
              </a:lnSpc>
              <a:buNone/>
            </a:pPr>
            <a:r>
              <a:rPr lang="en-US" sz="900" dirty="0">
                <a:solidFill>
                  <a:srgbClr val="DCD7E5"/>
                </a:solidFill>
                <a:latin typeface="Heebo Light" pitchFamily="34" charset="0"/>
                <a:ea typeface="Heebo Light" pitchFamily="34" charset="-122"/>
                <a:cs typeface="Heebo Light" pitchFamily="34" charset="-120"/>
              </a:rPr>
              <a:t>Menentukan izin akses yang dibutuhkan aplikasi: internet, kamera, lokasi, dll.</a:t>
            </a:r>
            <a:endParaRPr lang="en-US" sz="9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898874"/>
            <a:ext cx="5850188" cy="679748"/>
          </a:xfrm>
          <a:prstGeom prst="rect">
            <a:avLst/>
          </a:prstGeom>
        </p:spPr>
      </p:pic>
      <p:sp>
        <p:nvSpPr>
          <p:cNvPr id="11" name="Text 6"/>
          <p:cNvSpPr/>
          <p:nvPr/>
        </p:nvSpPr>
        <p:spPr>
          <a:xfrm>
            <a:off x="841255" y="3027859"/>
            <a:ext cx="5541427" cy="181670"/>
          </a:xfrm>
          <a:prstGeom prst="rect">
            <a:avLst/>
          </a:prstGeom>
          <a:noFill/>
          <a:ln/>
        </p:spPr>
        <p:txBody>
          <a:bodyPr wrap="none" lIns="0" tIns="0" rIns="0" bIns="0" rtlCol="0" anchor="t"/>
          <a:lstStyle/>
          <a:p>
            <a:pPr marL="0" indent="0" algn="l">
              <a:lnSpc>
                <a:spcPct val="104000"/>
              </a:lnSpc>
              <a:buNone/>
            </a:pPr>
            <a:r>
              <a:rPr lang="en-US" sz="1100" dirty="0">
                <a:solidFill>
                  <a:srgbClr val="DCD7E5"/>
                </a:solidFill>
                <a:latin typeface="Montserrat" pitchFamily="34" charset="0"/>
                <a:ea typeface="Montserrat" pitchFamily="34" charset="-122"/>
                <a:cs typeface="Montserrat" pitchFamily="34" charset="-120"/>
              </a:rPr>
              <a:t>Kebutuhan Perangkat</a:t>
            </a:r>
            <a:endParaRPr lang="en-US" sz="1100" dirty="0"/>
          </a:p>
        </p:txBody>
      </p:sp>
      <p:sp>
        <p:nvSpPr>
          <p:cNvPr id="12" name="Text 7"/>
          <p:cNvSpPr/>
          <p:nvPr/>
        </p:nvSpPr>
        <p:spPr>
          <a:xfrm>
            <a:off x="841255" y="3291284"/>
            <a:ext cx="5541427" cy="158353"/>
          </a:xfrm>
          <a:prstGeom prst="rect">
            <a:avLst/>
          </a:prstGeom>
          <a:noFill/>
          <a:ln/>
        </p:spPr>
        <p:txBody>
          <a:bodyPr wrap="none" lIns="0" tIns="0" rIns="0" bIns="0" rtlCol="0" anchor="t"/>
          <a:lstStyle/>
          <a:p>
            <a:pPr marL="0" indent="0" algn="l">
              <a:lnSpc>
                <a:spcPct val="114000"/>
              </a:lnSpc>
              <a:buNone/>
            </a:pPr>
            <a:r>
              <a:rPr lang="en-US" sz="900" dirty="0">
                <a:solidFill>
                  <a:srgbClr val="DCD7E5"/>
                </a:solidFill>
                <a:latin typeface="Heebo Light" pitchFamily="34" charset="0"/>
                <a:ea typeface="Heebo Light" pitchFamily="34" charset="-122"/>
                <a:cs typeface="Heebo Light" pitchFamily="34" charset="-120"/>
              </a:rPr>
              <a:t>Mendeklarasikan kebutuhan minimum hardware dan software (API level, fitur kamera, dll).</a:t>
            </a:r>
            <a:endParaRPr lang="en-US" sz="9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660378"/>
            <a:ext cx="5850188" cy="679748"/>
          </a:xfrm>
          <a:prstGeom prst="rect">
            <a:avLst/>
          </a:prstGeom>
        </p:spPr>
      </p:pic>
      <p:sp>
        <p:nvSpPr>
          <p:cNvPr id="14" name="Text 8"/>
          <p:cNvSpPr/>
          <p:nvPr/>
        </p:nvSpPr>
        <p:spPr>
          <a:xfrm>
            <a:off x="841255" y="3789362"/>
            <a:ext cx="5541427" cy="181670"/>
          </a:xfrm>
          <a:prstGeom prst="rect">
            <a:avLst/>
          </a:prstGeom>
          <a:noFill/>
          <a:ln/>
        </p:spPr>
        <p:txBody>
          <a:bodyPr wrap="none" lIns="0" tIns="0" rIns="0" bIns="0" rtlCol="0" anchor="t"/>
          <a:lstStyle/>
          <a:p>
            <a:pPr marL="0" indent="0" algn="l">
              <a:lnSpc>
                <a:spcPct val="104000"/>
              </a:lnSpc>
              <a:buNone/>
            </a:pPr>
            <a:r>
              <a:rPr lang="en-US" sz="1100" dirty="0">
                <a:solidFill>
                  <a:srgbClr val="DCD7E5"/>
                </a:solidFill>
                <a:latin typeface="Montserrat" pitchFamily="34" charset="0"/>
                <a:ea typeface="Montserrat" pitchFamily="34" charset="-122"/>
                <a:cs typeface="Montserrat" pitchFamily="34" charset="-120"/>
              </a:rPr>
              <a:t>Entry Point</a:t>
            </a:r>
            <a:endParaRPr lang="en-US" sz="1100" dirty="0"/>
          </a:p>
        </p:txBody>
      </p:sp>
      <p:sp>
        <p:nvSpPr>
          <p:cNvPr id="15" name="Text 9"/>
          <p:cNvSpPr/>
          <p:nvPr/>
        </p:nvSpPr>
        <p:spPr>
          <a:xfrm>
            <a:off x="841255" y="4052788"/>
            <a:ext cx="5541427" cy="158353"/>
          </a:xfrm>
          <a:prstGeom prst="rect">
            <a:avLst/>
          </a:prstGeom>
          <a:noFill/>
          <a:ln/>
        </p:spPr>
        <p:txBody>
          <a:bodyPr wrap="none" lIns="0" tIns="0" rIns="0" bIns="0" rtlCol="0" anchor="t"/>
          <a:lstStyle/>
          <a:p>
            <a:pPr marL="0" indent="0" algn="l">
              <a:lnSpc>
                <a:spcPct val="114000"/>
              </a:lnSpc>
              <a:buNone/>
            </a:pPr>
            <a:r>
              <a:rPr lang="en-US" sz="900" dirty="0">
                <a:solidFill>
                  <a:srgbClr val="DCD7E5"/>
                </a:solidFill>
                <a:latin typeface="Heebo Light" pitchFamily="34" charset="0"/>
                <a:ea typeface="Heebo Light" pitchFamily="34" charset="-122"/>
                <a:cs typeface="Heebo Light" pitchFamily="34" charset="-120"/>
              </a:rPr>
              <a:t>Menentukan Activity mana yang pertama kali dibuka saat aplikasi diluncurkan.</a:t>
            </a:r>
            <a:endParaRPr lang="en-US" sz="900" dirty="0"/>
          </a:p>
        </p:txBody>
      </p:sp>
      <p:sp>
        <p:nvSpPr>
          <p:cNvPr id="16" name="Shape 10"/>
          <p:cNvSpPr/>
          <p:nvPr/>
        </p:nvSpPr>
        <p:spPr>
          <a:xfrm>
            <a:off x="6801573" y="1375866"/>
            <a:ext cx="4734898" cy="4883448"/>
          </a:xfrm>
          <a:prstGeom prst="roundRect">
            <a:avLst>
              <a:gd name="adj" fmla="val 1032"/>
            </a:avLst>
          </a:prstGeom>
          <a:solidFill>
            <a:srgbClr val="1A1739"/>
          </a:solidFill>
          <a:ln/>
        </p:spPr>
        <p:txBody>
          <a:bodyPr/>
          <a:lstStyle/>
          <a:p>
            <a:endParaRPr lang="en-US"/>
          </a:p>
        </p:txBody>
      </p:sp>
      <p:sp>
        <p:nvSpPr>
          <p:cNvPr id="17" name="Text 11"/>
          <p:cNvSpPr/>
          <p:nvPr/>
        </p:nvSpPr>
        <p:spPr>
          <a:xfrm>
            <a:off x="6941071" y="1492151"/>
            <a:ext cx="4455902" cy="4650879"/>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&lt;?xml version="1.0" encoding="utf-8"?&gt;</a:t>
            </a: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&lt;manifest xmlns:android="http://schemas.android.com/apk/res/android"&gt;</a:t>
            </a:r>
            <a:endParaRPr lang="en-US" sz="900" dirty="0"/>
          </a:p>
          <a:p>
            <a:pPr marL="0" indent="0" algn="l">
              <a:lnSpc>
                <a:spcPct val="133000"/>
              </a:lnSpc>
              <a:buNone/>
            </a:pP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&lt;!-- Izin akses internet --&gt;</a:t>
            </a: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&lt;uses-permission</a:t>
            </a: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android:name="android.permission.INTERNET"/&gt;</a:t>
            </a:r>
            <a:endParaRPr lang="en-US" sz="900" dirty="0"/>
          </a:p>
          <a:p>
            <a:pPr marL="0" indent="0" algn="l">
              <a:lnSpc>
                <a:spcPct val="133000"/>
              </a:lnSpc>
              <a:buNone/>
            </a:pP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&lt;application</a:t>
            </a: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android:label="@string/app_name"&gt;</a:t>
            </a:r>
            <a:endParaRPr lang="en-US" sz="900" dirty="0"/>
          </a:p>
          <a:p>
            <a:pPr marL="0" indent="0" algn="l">
              <a:lnSpc>
                <a:spcPct val="133000"/>
              </a:lnSpc>
              <a:buNone/>
            </a:pP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&lt;!-- Deklarasi Activity --&gt;</a:t>
            </a: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&lt;activity</a:t>
            </a: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android:name=".MainActivity"</a:t>
            </a: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android:exported="true"&gt;</a:t>
            </a: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&lt;intent-filter&gt;</a:t>
            </a: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&lt;!-- Entry point aplikasi --&gt;</a:t>
            </a: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&lt;action android:name=</a:t>
            </a: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"android.intent.action.MAIN"/&gt;</a:t>
            </a: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&lt;category android:name=</a:t>
            </a: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"android.intent.category.LAUNCHER"/&gt;</a:t>
            </a: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&lt;/intent-filter&gt;</a:t>
            </a: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&lt;/activity&gt;</a:t>
            </a:r>
            <a:endParaRPr lang="en-US" sz="900" dirty="0"/>
          </a:p>
          <a:p>
            <a:pPr marL="0" indent="0" algn="l">
              <a:lnSpc>
                <a:spcPct val="133000"/>
              </a:lnSpc>
              <a:buNone/>
            </a:pP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    &lt;/application&gt;</a:t>
            </a:r>
            <a:endParaRPr lang="en-US" sz="900" dirty="0"/>
          </a:p>
          <a:p>
            <a:pPr marL="0" indent="0" algn="l">
              <a:lnSpc>
                <a:spcPct val="133000"/>
              </a:lnSpc>
              <a:buNone/>
            </a:pPr>
            <a:r>
              <a:rPr lang="en-US" sz="900" dirty="0">
                <a:solidFill>
                  <a:srgbClr val="79C0FF"/>
                </a:solidFill>
                <a:latin typeface="Consolas" pitchFamily="34" charset="0"/>
                <a:ea typeface="Consolas" pitchFamily="34" charset="-122"/>
                <a:cs typeface="Consolas" pitchFamily="34" charset="-120"/>
              </a:rPr>
              <a:t>&lt;/manifest&gt;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495598"/>
            <a:ext cx="10868745" cy="476448"/>
          </a:xfrm>
          <a:prstGeom prst="rect">
            <a:avLst/>
          </a:prstGeom>
          <a:noFill/>
          <a:ln/>
        </p:spPr>
        <p:txBody>
          <a:bodyPr wrap="none" lIns="0" tIns="0" rIns="0" bIns="0" rtlCol="0" anchor="t"/>
          <a:lstStyle/>
          <a:p>
            <a:pPr marL="0" indent="0" algn="l">
              <a:lnSpc>
                <a:spcPct val="104000"/>
              </a:lnSpc>
              <a:buNone/>
            </a:pPr>
            <a:r>
              <a:rPr lang="en-US" sz="3000" dirty="0">
                <a:solidFill>
                  <a:srgbClr val="F2F0F4"/>
                </a:solidFill>
                <a:latin typeface="Montserrat" pitchFamily="34" charset="0"/>
                <a:ea typeface="Montserrat" pitchFamily="34" charset="-122"/>
                <a:cs typeface="Montserrat" pitchFamily="34" charset="-120"/>
              </a:rPr>
              <a:t>App Resources (Sumber Daya Aplikasi)</a:t>
            </a:r>
            <a:endParaRPr lang="en-US" sz="3000" dirty="0"/>
          </a:p>
        </p:txBody>
      </p:sp>
      <p:sp>
        <p:nvSpPr>
          <p:cNvPr id="3" name="Text 1"/>
          <p:cNvSpPr/>
          <p:nvPr/>
        </p:nvSpPr>
        <p:spPr>
          <a:xfrm>
            <a:off x="661475" y="1253133"/>
            <a:ext cx="10868745"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DCD7E5"/>
                </a:solidFill>
                <a:latin typeface="Heebo Light" pitchFamily="34" charset="0"/>
                <a:ea typeface="Heebo Light" pitchFamily="34" charset="-122"/>
                <a:cs typeface="Heebo Light" pitchFamily="34" charset="-120"/>
              </a:rPr>
              <a:t>Praktik terbaik Android memisahkan kode aplikasi dari resource statis. Semua resource disimpan di direktori res/ dan dapat diakses melalui kelas R yang digenerate otomatis.</a:t>
            </a:r>
            <a:endParaRPr lang="en-US" sz="1200" dirty="0"/>
          </a:p>
        </p:txBody>
      </p:sp>
      <p:sp>
        <p:nvSpPr>
          <p:cNvPr id="4" name="Text 2"/>
          <p:cNvSpPr/>
          <p:nvPr/>
        </p:nvSpPr>
        <p:spPr>
          <a:xfrm>
            <a:off x="661475" y="2020590"/>
            <a:ext cx="5248441" cy="238224"/>
          </a:xfrm>
          <a:prstGeom prst="rect">
            <a:avLst/>
          </a:prstGeom>
          <a:noFill/>
          <a:ln/>
        </p:spPr>
        <p:txBody>
          <a:bodyPr wrap="none" lIns="0" tIns="0" rIns="0" bIns="0" rtlCol="0" anchor="t"/>
          <a:lstStyle/>
          <a:p>
            <a:pPr marL="0" indent="0" algn="l">
              <a:lnSpc>
                <a:spcPct val="104000"/>
              </a:lnSpc>
              <a:buNone/>
            </a:pPr>
            <a:r>
              <a:rPr lang="en-US" sz="1500" dirty="0">
                <a:solidFill>
                  <a:srgbClr val="F2F0F4"/>
                </a:solidFill>
                <a:latin typeface="Montserrat" pitchFamily="34" charset="0"/>
                <a:ea typeface="Montserrat" pitchFamily="34" charset="-122"/>
                <a:cs typeface="Montserrat" pitchFamily="34" charset="-120"/>
              </a:rPr>
              <a:t>Struktur Direktori res/</a:t>
            </a:r>
            <a:endParaRPr lang="en-US" sz="1500" dirty="0"/>
          </a:p>
        </p:txBody>
      </p:sp>
      <p:sp>
        <p:nvSpPr>
          <p:cNvPr id="5" name="Shape 3"/>
          <p:cNvSpPr/>
          <p:nvPr/>
        </p:nvSpPr>
        <p:spPr>
          <a:xfrm>
            <a:off x="661475" y="2416870"/>
            <a:ext cx="5248441" cy="2744589"/>
          </a:xfrm>
          <a:prstGeom prst="roundRect">
            <a:avLst>
              <a:gd name="adj" fmla="val 2333"/>
            </a:avLst>
          </a:prstGeom>
          <a:solidFill>
            <a:srgbClr val="1A1739"/>
          </a:solidFill>
          <a:ln/>
        </p:spPr>
        <p:txBody>
          <a:bodyPr/>
          <a:lstStyle/>
          <a:p>
            <a:endParaRPr lang="en-US"/>
          </a:p>
        </p:txBody>
      </p:sp>
      <p:sp>
        <p:nvSpPr>
          <p:cNvPr id="6" name="Text 4"/>
          <p:cNvSpPr/>
          <p:nvPr/>
        </p:nvSpPr>
        <p:spPr>
          <a:xfrm>
            <a:off x="844430" y="2569270"/>
            <a:ext cx="4882532" cy="2439789"/>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E6EDF3"/>
                </a:solidFill>
                <a:latin typeface="Consolas" pitchFamily="34" charset="0"/>
                <a:ea typeface="Consolas" pitchFamily="34" charset="-122"/>
                <a:cs typeface="Consolas" pitchFamily="34" charset="-120"/>
              </a:rPr>
              <a:t>res/
├── drawable/       # Gambar &amp; ikon
├── layout/         # File XML layout UI
├── values/
│   ├── strings.xml # Teks &amp; label
│   ├── colors.xml  # Definisi warna
│   └── dimens.xml  # Ukuran &amp; dimensi
├── mipmap/         # Ikon launcher
└── raw/            # File audio, video, dll
</a:t>
            </a:r>
            <a:endParaRPr lang="en-US" sz="1200" dirty="0"/>
          </a:p>
        </p:txBody>
      </p:sp>
      <p:sp>
        <p:nvSpPr>
          <p:cNvPr id="7" name="Text 5"/>
          <p:cNvSpPr/>
          <p:nvPr/>
        </p:nvSpPr>
        <p:spPr>
          <a:xfrm>
            <a:off x="6288129" y="2020590"/>
            <a:ext cx="5248441" cy="238224"/>
          </a:xfrm>
          <a:prstGeom prst="rect">
            <a:avLst/>
          </a:prstGeom>
          <a:noFill/>
          <a:ln/>
        </p:spPr>
        <p:txBody>
          <a:bodyPr wrap="none" lIns="0" tIns="0" rIns="0" bIns="0" rtlCol="0" anchor="t"/>
          <a:lstStyle/>
          <a:p>
            <a:pPr marL="0" indent="0" algn="l">
              <a:lnSpc>
                <a:spcPct val="104000"/>
              </a:lnSpc>
              <a:buNone/>
            </a:pPr>
            <a:r>
              <a:rPr lang="en-US" sz="1500" dirty="0">
                <a:solidFill>
                  <a:srgbClr val="F2F0F4"/>
                </a:solidFill>
                <a:latin typeface="Montserrat" pitchFamily="34" charset="0"/>
                <a:ea typeface="Montserrat" pitchFamily="34" charset="-122"/>
                <a:cs typeface="Montserrat" pitchFamily="34" charset="-120"/>
              </a:rPr>
              <a:t>Keunggulan Pemisahan Resource</a:t>
            </a:r>
            <a:endParaRPr lang="en-US" sz="1500"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5277" y="2424460"/>
            <a:ext cx="228693" cy="228699"/>
          </a:xfrm>
          <a:prstGeom prst="rect">
            <a:avLst/>
          </a:prstGeom>
        </p:spPr>
      </p:pic>
      <p:sp>
        <p:nvSpPr>
          <p:cNvPr id="9" name="Text 6"/>
          <p:cNvSpPr/>
          <p:nvPr/>
        </p:nvSpPr>
        <p:spPr>
          <a:xfrm>
            <a:off x="6783515" y="2416870"/>
            <a:ext cx="4753055" cy="829866"/>
          </a:xfrm>
          <a:prstGeom prst="rect">
            <a:avLst/>
          </a:prstGeom>
          <a:noFill/>
          <a:ln/>
        </p:spPr>
        <p:txBody>
          <a:bodyPr wrap="square" lIns="0" tIns="0" rIns="0" bIns="0" rtlCol="0" anchor="t"/>
          <a:lstStyle/>
          <a:p>
            <a:pPr marL="0" indent="0" algn="l">
              <a:lnSpc>
                <a:spcPct val="128000"/>
              </a:lnSpc>
              <a:spcAft>
                <a:spcPts val="950"/>
              </a:spcAft>
              <a:buNone/>
            </a:pPr>
            <a:r>
              <a:rPr lang="en-US" sz="1200" b="1" dirty="0">
                <a:solidFill>
                  <a:srgbClr val="DCD7E5"/>
                </a:solidFill>
                <a:latin typeface="Heebo Bold" pitchFamily="34" charset="0"/>
                <a:ea typeface="Heebo Bold" pitchFamily="34" charset="-122"/>
                <a:cs typeface="Heebo Bold" pitchFamily="34" charset="-120"/>
              </a:rPr>
              <a:t>Alternative Resources</a:t>
            </a:r>
            <a:endParaRPr lang="en-US" sz="1200" dirty="0"/>
          </a:p>
          <a:p>
            <a:pPr marL="0" indent="0" algn="l">
              <a:lnSpc>
                <a:spcPct val="128000"/>
              </a:lnSpc>
              <a:buNone/>
            </a:pPr>
            <a:r>
              <a:rPr lang="en-US" sz="1200" dirty="0">
                <a:solidFill>
                  <a:srgbClr val="DCD7E5"/>
                </a:solidFill>
                <a:latin typeface="Heebo Light" pitchFamily="34" charset="0"/>
                <a:ea typeface="Heebo Light" pitchFamily="34" charset="-122"/>
                <a:cs typeface="Heebo Light" pitchFamily="34" charset="-120"/>
              </a:rPr>
              <a:t>Sediakan layout berbeda untuk tablet vs HP, atau teks untuk berbagai bahasa tanpa mengubah kode utama.</a:t>
            </a:r>
            <a:endParaRPr lang="en-US" sz="120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5277" y="3535412"/>
            <a:ext cx="228693" cy="228699"/>
          </a:xfrm>
          <a:prstGeom prst="rect">
            <a:avLst/>
          </a:prstGeom>
        </p:spPr>
      </p:pic>
      <p:sp>
        <p:nvSpPr>
          <p:cNvPr id="11" name="Text 7"/>
          <p:cNvSpPr/>
          <p:nvPr/>
        </p:nvSpPr>
        <p:spPr>
          <a:xfrm>
            <a:off x="6783515" y="3527822"/>
            <a:ext cx="4753055" cy="829866"/>
          </a:xfrm>
          <a:prstGeom prst="rect">
            <a:avLst/>
          </a:prstGeom>
          <a:noFill/>
          <a:ln/>
        </p:spPr>
        <p:txBody>
          <a:bodyPr wrap="square" lIns="0" tIns="0" rIns="0" bIns="0" rtlCol="0" anchor="t"/>
          <a:lstStyle/>
          <a:p>
            <a:pPr marL="0" indent="0" algn="l">
              <a:lnSpc>
                <a:spcPct val="128000"/>
              </a:lnSpc>
              <a:spcAft>
                <a:spcPts val="950"/>
              </a:spcAft>
              <a:buNone/>
            </a:pPr>
            <a:r>
              <a:rPr lang="en-US" sz="1200" b="1" dirty="0">
                <a:solidFill>
                  <a:srgbClr val="DCD7E5"/>
                </a:solidFill>
                <a:latin typeface="Heebo Bold" pitchFamily="34" charset="0"/>
                <a:ea typeface="Heebo Bold" pitchFamily="34" charset="-122"/>
                <a:cs typeface="Heebo Bold" pitchFamily="34" charset="-120"/>
              </a:rPr>
              <a:t>Akses via Kelas R</a:t>
            </a:r>
            <a:endParaRPr lang="en-US" sz="1200" dirty="0"/>
          </a:p>
          <a:p>
            <a:pPr marL="0" indent="0" algn="l">
              <a:lnSpc>
                <a:spcPct val="128000"/>
              </a:lnSpc>
              <a:buNone/>
            </a:pPr>
            <a:r>
              <a:rPr lang="en-US" sz="1200" dirty="0">
                <a:solidFill>
                  <a:srgbClr val="DCD7E5"/>
                </a:solidFill>
                <a:latin typeface="Heebo Light" pitchFamily="34" charset="0"/>
                <a:ea typeface="Heebo Light" pitchFamily="34" charset="-122"/>
                <a:cs typeface="Heebo Light" pitchFamily="34" charset="-120"/>
              </a:rPr>
              <a:t>Sistem meng-generate R.java/R.kt otomatis: R.string.app_name, R.drawable.logo, R.layout.activity_main.</a:t>
            </a:r>
            <a:endParaRPr lang="en-US" sz="12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5277" y="4646364"/>
            <a:ext cx="228693" cy="228699"/>
          </a:xfrm>
          <a:prstGeom prst="rect">
            <a:avLst/>
          </a:prstGeom>
        </p:spPr>
      </p:pic>
      <p:sp>
        <p:nvSpPr>
          <p:cNvPr id="13" name="Text 8"/>
          <p:cNvSpPr/>
          <p:nvPr/>
        </p:nvSpPr>
        <p:spPr>
          <a:xfrm>
            <a:off x="6783515" y="4638774"/>
            <a:ext cx="4753055" cy="829866"/>
          </a:xfrm>
          <a:prstGeom prst="rect">
            <a:avLst/>
          </a:prstGeom>
          <a:noFill/>
          <a:ln/>
        </p:spPr>
        <p:txBody>
          <a:bodyPr wrap="square" lIns="0" tIns="0" rIns="0" bIns="0" rtlCol="0" anchor="t"/>
          <a:lstStyle/>
          <a:p>
            <a:pPr marL="0" indent="0" algn="l">
              <a:lnSpc>
                <a:spcPct val="128000"/>
              </a:lnSpc>
              <a:spcAft>
                <a:spcPts val="950"/>
              </a:spcAft>
              <a:buNone/>
            </a:pPr>
            <a:r>
              <a:rPr lang="en-US" sz="1200" b="1" dirty="0">
                <a:solidFill>
                  <a:srgbClr val="DCD7E5"/>
                </a:solidFill>
                <a:latin typeface="Heebo Bold" pitchFamily="34" charset="0"/>
                <a:ea typeface="Heebo Bold" pitchFamily="34" charset="-122"/>
                <a:cs typeface="Heebo Bold" pitchFamily="34" charset="-120"/>
              </a:rPr>
              <a:t>Lokalisasi Mudah</a:t>
            </a:r>
            <a:endParaRPr lang="en-US" sz="1200" dirty="0"/>
          </a:p>
          <a:p>
            <a:pPr marL="0" indent="0" algn="l">
              <a:lnSpc>
                <a:spcPct val="128000"/>
              </a:lnSpc>
              <a:buNone/>
            </a:pPr>
            <a:r>
              <a:rPr lang="en-US" sz="1200" dirty="0">
                <a:solidFill>
                  <a:srgbClr val="DCD7E5"/>
                </a:solidFill>
                <a:latin typeface="Heebo Light" pitchFamily="34" charset="0"/>
                <a:ea typeface="Heebo Light" pitchFamily="34" charset="-122"/>
                <a:cs typeface="Heebo Light" pitchFamily="34" charset="-120"/>
              </a:rPr>
              <a:t>Tambahkan folder values-id/, values-en/ untuk mendukung multi-bahasa secara otomatis.</a:t>
            </a:r>
            <a:endParaRPr lang="en-US" sz="1200" dirty="0"/>
          </a:p>
        </p:txBody>
      </p:sp>
      <p:sp>
        <p:nvSpPr>
          <p:cNvPr id="14" name="Shape 9"/>
          <p:cNvSpPr/>
          <p:nvPr/>
        </p:nvSpPr>
        <p:spPr>
          <a:xfrm>
            <a:off x="661475" y="5784751"/>
            <a:ext cx="10868745" cy="577652"/>
          </a:xfrm>
          <a:prstGeom prst="roundRect">
            <a:avLst>
              <a:gd name="adj" fmla="val 11086"/>
            </a:avLst>
          </a:prstGeom>
          <a:solidFill>
            <a:srgbClr val="31136C"/>
          </a:solidFill>
          <a:ln/>
        </p:spPr>
        <p:txBody>
          <a:bodyPr/>
          <a:lstStyle/>
          <a:p>
            <a:endParaRPr lang="en-US"/>
          </a:p>
        </p:txBody>
      </p:sp>
      <p:pic>
        <p:nvPicPr>
          <p:cNvPr id="15" name="Image 3" descr="preencoded.png"/>
          <p:cNvPicPr>
            <a:picLocks noChangeAspect="1"/>
          </p:cNvPicPr>
          <p:nvPr/>
        </p:nvPicPr>
        <p:blipFill>
          <a:blip r:embed="rId4"/>
          <a:stretch>
            <a:fillRect/>
          </a:stretch>
        </p:blipFill>
        <p:spPr>
          <a:xfrm>
            <a:off x="813871" y="5982395"/>
            <a:ext cx="190495" cy="152400"/>
          </a:xfrm>
          <a:prstGeom prst="rect">
            <a:avLst/>
          </a:prstGeom>
        </p:spPr>
      </p:pic>
      <p:sp>
        <p:nvSpPr>
          <p:cNvPr id="16" name="Text 10"/>
          <p:cNvSpPr/>
          <p:nvPr/>
        </p:nvSpPr>
        <p:spPr>
          <a:xfrm>
            <a:off x="1156762" y="5963345"/>
            <a:ext cx="10830646" cy="234454"/>
          </a:xfrm>
          <a:prstGeom prst="rect">
            <a:avLst/>
          </a:prstGeom>
          <a:noFill/>
          <a:ln/>
        </p:spPr>
        <p:txBody>
          <a:bodyPr wrap="none" lIns="0" tIns="0" rIns="0" bIns="0" rtlCol="0" anchor="t"/>
          <a:lstStyle/>
          <a:p>
            <a:pPr marL="0" indent="0" algn="l">
              <a:lnSpc>
                <a:spcPct val="128000"/>
              </a:lnSpc>
              <a:buNone/>
            </a:pPr>
            <a:r>
              <a:rPr lang="en-US" sz="1200" dirty="0">
                <a:solidFill>
                  <a:srgbClr val="FFFFFF"/>
                </a:solidFill>
                <a:latin typeface="Heebo Light" pitchFamily="34" charset="0"/>
                <a:ea typeface="Heebo Light" pitchFamily="34" charset="-122"/>
                <a:cs typeface="Heebo Light" pitchFamily="34" charset="-120"/>
              </a:rPr>
              <a:t>Dengan Jetpack Compose, file layout XML di res/layout/ tidak lagi diperlukan — UI didefinisikan langsung dalam kode Kotlin.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1978124"/>
            <a:ext cx="928168" cy="251420"/>
          </a:xfrm>
          <a:prstGeom prst="roundRect">
            <a:avLst>
              <a:gd name="adj" fmla="val 22103"/>
            </a:avLst>
          </a:prstGeom>
          <a:noFill/>
          <a:ln w="6350">
            <a:solidFill>
              <a:srgbClr val="481C9E"/>
            </a:solidFill>
            <a:prstDash val="solid"/>
          </a:ln>
        </p:spPr>
        <p:txBody>
          <a:bodyPr/>
          <a:lstStyle/>
          <a:p>
            <a:endParaRPr lang="en-US"/>
          </a:p>
        </p:txBody>
      </p:sp>
      <p:sp>
        <p:nvSpPr>
          <p:cNvPr id="3" name="Text 1"/>
          <p:cNvSpPr/>
          <p:nvPr/>
        </p:nvSpPr>
        <p:spPr>
          <a:xfrm>
            <a:off x="760691" y="2027734"/>
            <a:ext cx="1339320" cy="152202"/>
          </a:xfrm>
          <a:prstGeom prst="rect">
            <a:avLst/>
          </a:prstGeom>
          <a:noFill/>
          <a:ln/>
        </p:spPr>
        <p:txBody>
          <a:bodyPr wrap="none" lIns="0" tIns="0" rIns="0" bIns="0" rtlCol="0" anchor="t"/>
          <a:lstStyle/>
          <a:p>
            <a:pPr marL="0" indent="0" algn="l">
              <a:lnSpc>
                <a:spcPct val="96000"/>
              </a:lnSpc>
              <a:buNone/>
            </a:pPr>
            <a:r>
              <a:rPr lang="en-US" sz="1000" dirty="0">
                <a:solidFill>
                  <a:srgbClr val="481C9E"/>
                </a:solidFill>
                <a:latin typeface="Heebo Light" pitchFamily="34" charset="0"/>
                <a:ea typeface="Heebo Light" pitchFamily="34" charset="-122"/>
                <a:cs typeface="Heebo Light" pitchFamily="34" charset="-120"/>
              </a:rPr>
              <a:t>BAGIAN 01B</a:t>
            </a:r>
            <a:endParaRPr lang="en-US" sz="1000" dirty="0"/>
          </a:p>
        </p:txBody>
      </p:sp>
      <p:sp>
        <p:nvSpPr>
          <p:cNvPr id="4" name="Text 2"/>
          <p:cNvSpPr/>
          <p:nvPr/>
        </p:nvSpPr>
        <p:spPr>
          <a:xfrm>
            <a:off x="661475" y="2295624"/>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F2F0F4"/>
                </a:solidFill>
                <a:latin typeface="Montserrat" pitchFamily="34" charset="0"/>
                <a:ea typeface="Montserrat" pitchFamily="34" charset="-122"/>
                <a:cs typeface="Montserrat" pitchFamily="34" charset="-120"/>
              </a:rPr>
              <a:t>Activity &amp; Lifecycle</a:t>
            </a:r>
            <a:endParaRPr lang="en-US" sz="3250" dirty="0"/>
          </a:p>
        </p:txBody>
      </p:sp>
      <p:sp>
        <p:nvSpPr>
          <p:cNvPr id="5" name="Text 3"/>
          <p:cNvSpPr/>
          <p:nvPr/>
        </p:nvSpPr>
        <p:spPr>
          <a:xfrm>
            <a:off x="661475" y="3060402"/>
            <a:ext cx="11478330" cy="264616"/>
          </a:xfrm>
          <a:prstGeom prst="rect">
            <a:avLst/>
          </a:prstGeom>
          <a:noFill/>
          <a:ln/>
        </p:spPr>
        <p:txBody>
          <a:bodyPr wrap="none" lIns="0" tIns="0" rIns="0" bIns="0" rtlCol="0" anchor="t"/>
          <a:lstStyle/>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Entry point interaksi pengguna, deklarasi manifest, intent filters, dan siklus hidup Activity.</a:t>
            </a:r>
            <a:endParaRPr lang="en-US" sz="1300" dirty="0"/>
          </a:p>
        </p:txBody>
      </p:sp>
      <p:sp>
        <p:nvSpPr>
          <p:cNvPr id="6" name="Shape 4"/>
          <p:cNvSpPr/>
          <p:nvPr/>
        </p:nvSpPr>
        <p:spPr>
          <a:xfrm>
            <a:off x="661475" y="3511054"/>
            <a:ext cx="5351725" cy="601762"/>
          </a:xfrm>
          <a:prstGeom prst="roundRect">
            <a:avLst>
              <a:gd name="adj" fmla="val 11543"/>
            </a:avLst>
          </a:prstGeom>
          <a:solidFill>
            <a:srgbClr val="31136C"/>
          </a:solidFill>
          <a:ln w="6350">
            <a:solidFill>
              <a:srgbClr val="4A2C85"/>
            </a:solidFill>
            <a:prstDash val="solid"/>
          </a:ln>
        </p:spPr>
        <p:txBody>
          <a:bodyPr/>
          <a:lstStyle/>
          <a:p>
            <a:endParaRPr lang="en-US"/>
          </a:p>
        </p:txBody>
      </p:sp>
      <p:sp>
        <p:nvSpPr>
          <p:cNvPr id="7" name="Text 5"/>
          <p:cNvSpPr/>
          <p:nvPr/>
        </p:nvSpPr>
        <p:spPr>
          <a:xfrm>
            <a:off x="833119" y="3682702"/>
            <a:ext cx="5008437" cy="258465"/>
          </a:xfrm>
          <a:prstGeom prst="rect">
            <a:avLst/>
          </a:prstGeom>
          <a:noFill/>
          <a:ln/>
        </p:spPr>
        <p:txBody>
          <a:bodyPr wrap="none" lIns="0" tIns="0" rIns="0" bIns="0" rtlCol="0" anchor="t"/>
          <a:lstStyle/>
          <a:p>
            <a:pPr marL="0" indent="0" algn="l">
              <a:lnSpc>
                <a:spcPct val="104000"/>
              </a:lnSpc>
              <a:buNone/>
            </a:pPr>
            <a:r>
              <a:rPr lang="en-US" sz="1600" dirty="0">
                <a:solidFill>
                  <a:srgbClr val="DCD7E5"/>
                </a:solidFill>
                <a:latin typeface="Montserrat" pitchFamily="34" charset="0"/>
                <a:ea typeface="Montserrat" pitchFamily="34" charset="-122"/>
                <a:cs typeface="Montserrat" pitchFamily="34" charset="-120"/>
              </a:rPr>
              <a:t>Apa itu Activity</a:t>
            </a:r>
            <a:endParaRPr lang="en-US" sz="1600" dirty="0"/>
          </a:p>
        </p:txBody>
      </p:sp>
      <p:sp>
        <p:nvSpPr>
          <p:cNvPr id="8" name="Shape 6"/>
          <p:cNvSpPr/>
          <p:nvPr/>
        </p:nvSpPr>
        <p:spPr>
          <a:xfrm>
            <a:off x="6178495" y="3511054"/>
            <a:ext cx="5351725" cy="601762"/>
          </a:xfrm>
          <a:prstGeom prst="roundRect">
            <a:avLst>
              <a:gd name="adj" fmla="val 11543"/>
            </a:avLst>
          </a:prstGeom>
          <a:solidFill>
            <a:srgbClr val="31136C"/>
          </a:solidFill>
          <a:ln w="6350">
            <a:solidFill>
              <a:srgbClr val="4A2C85"/>
            </a:solidFill>
            <a:prstDash val="solid"/>
          </a:ln>
        </p:spPr>
        <p:txBody>
          <a:bodyPr/>
          <a:lstStyle/>
          <a:p>
            <a:endParaRPr lang="en-US"/>
          </a:p>
        </p:txBody>
      </p:sp>
      <p:sp>
        <p:nvSpPr>
          <p:cNvPr id="9" name="Text 7"/>
          <p:cNvSpPr/>
          <p:nvPr/>
        </p:nvSpPr>
        <p:spPr>
          <a:xfrm>
            <a:off x="6350139" y="3682702"/>
            <a:ext cx="5008437" cy="258465"/>
          </a:xfrm>
          <a:prstGeom prst="rect">
            <a:avLst/>
          </a:prstGeom>
          <a:noFill/>
          <a:ln/>
        </p:spPr>
        <p:txBody>
          <a:bodyPr wrap="none" lIns="0" tIns="0" rIns="0" bIns="0" rtlCol="0" anchor="t"/>
          <a:lstStyle/>
          <a:p>
            <a:pPr marL="0" indent="0" algn="l">
              <a:lnSpc>
                <a:spcPct val="104000"/>
              </a:lnSpc>
              <a:buNone/>
            </a:pPr>
            <a:r>
              <a:rPr lang="en-US" sz="1600" dirty="0">
                <a:solidFill>
                  <a:srgbClr val="DCD7E5"/>
                </a:solidFill>
                <a:latin typeface="Montserrat" pitchFamily="34" charset="0"/>
                <a:ea typeface="Montserrat" pitchFamily="34" charset="-122"/>
                <a:cs typeface="Montserrat" pitchFamily="34" charset="-120"/>
              </a:rPr>
              <a:t>Deklarasi Manifest</a:t>
            </a:r>
            <a:endParaRPr lang="en-US" sz="1600" dirty="0"/>
          </a:p>
        </p:txBody>
      </p:sp>
      <p:sp>
        <p:nvSpPr>
          <p:cNvPr id="10" name="Shape 8"/>
          <p:cNvSpPr/>
          <p:nvPr/>
        </p:nvSpPr>
        <p:spPr>
          <a:xfrm>
            <a:off x="661475" y="4278114"/>
            <a:ext cx="5351725" cy="601762"/>
          </a:xfrm>
          <a:prstGeom prst="roundRect">
            <a:avLst>
              <a:gd name="adj" fmla="val 11543"/>
            </a:avLst>
          </a:prstGeom>
          <a:solidFill>
            <a:srgbClr val="31136C"/>
          </a:solidFill>
          <a:ln w="6350">
            <a:solidFill>
              <a:srgbClr val="4A2C85"/>
            </a:solidFill>
            <a:prstDash val="solid"/>
          </a:ln>
        </p:spPr>
        <p:txBody>
          <a:bodyPr/>
          <a:lstStyle/>
          <a:p>
            <a:endParaRPr lang="en-US"/>
          </a:p>
        </p:txBody>
      </p:sp>
      <p:sp>
        <p:nvSpPr>
          <p:cNvPr id="11" name="Text 9"/>
          <p:cNvSpPr/>
          <p:nvPr/>
        </p:nvSpPr>
        <p:spPr>
          <a:xfrm>
            <a:off x="833119" y="4449762"/>
            <a:ext cx="5008437" cy="258465"/>
          </a:xfrm>
          <a:prstGeom prst="rect">
            <a:avLst/>
          </a:prstGeom>
          <a:noFill/>
          <a:ln/>
        </p:spPr>
        <p:txBody>
          <a:bodyPr wrap="none" lIns="0" tIns="0" rIns="0" bIns="0" rtlCol="0" anchor="t"/>
          <a:lstStyle/>
          <a:p>
            <a:pPr marL="0" indent="0" algn="l">
              <a:lnSpc>
                <a:spcPct val="104000"/>
              </a:lnSpc>
              <a:buNone/>
            </a:pPr>
            <a:r>
              <a:rPr lang="en-US" sz="1600" dirty="0">
                <a:solidFill>
                  <a:srgbClr val="DCD7E5"/>
                </a:solidFill>
                <a:latin typeface="Montserrat" pitchFamily="34" charset="0"/>
                <a:ea typeface="Montserrat" pitchFamily="34" charset="-122"/>
                <a:cs typeface="Montserrat" pitchFamily="34" charset="-120"/>
              </a:rPr>
              <a:t>Intent Filters</a:t>
            </a:r>
            <a:endParaRPr lang="en-US" sz="1600" dirty="0"/>
          </a:p>
        </p:txBody>
      </p:sp>
      <p:sp>
        <p:nvSpPr>
          <p:cNvPr id="12" name="Shape 10"/>
          <p:cNvSpPr/>
          <p:nvPr/>
        </p:nvSpPr>
        <p:spPr>
          <a:xfrm>
            <a:off x="6178495" y="4278114"/>
            <a:ext cx="5351725" cy="601762"/>
          </a:xfrm>
          <a:prstGeom prst="roundRect">
            <a:avLst>
              <a:gd name="adj" fmla="val 11543"/>
            </a:avLst>
          </a:prstGeom>
          <a:solidFill>
            <a:srgbClr val="31136C"/>
          </a:solidFill>
          <a:ln w="6350">
            <a:solidFill>
              <a:srgbClr val="4A2C85"/>
            </a:solidFill>
            <a:prstDash val="solid"/>
          </a:ln>
        </p:spPr>
        <p:txBody>
          <a:bodyPr/>
          <a:lstStyle/>
          <a:p>
            <a:endParaRPr lang="en-US"/>
          </a:p>
        </p:txBody>
      </p:sp>
      <p:sp>
        <p:nvSpPr>
          <p:cNvPr id="13" name="Text 11"/>
          <p:cNvSpPr/>
          <p:nvPr/>
        </p:nvSpPr>
        <p:spPr>
          <a:xfrm>
            <a:off x="6350139" y="4449762"/>
            <a:ext cx="5008437" cy="258465"/>
          </a:xfrm>
          <a:prstGeom prst="rect">
            <a:avLst/>
          </a:prstGeom>
          <a:noFill/>
          <a:ln/>
        </p:spPr>
        <p:txBody>
          <a:bodyPr wrap="none" lIns="0" tIns="0" rIns="0" bIns="0" rtlCol="0" anchor="t"/>
          <a:lstStyle/>
          <a:p>
            <a:pPr marL="0" indent="0" algn="l">
              <a:lnSpc>
                <a:spcPct val="104000"/>
              </a:lnSpc>
              <a:buNone/>
            </a:pPr>
            <a:r>
              <a:rPr lang="en-US" sz="1600" dirty="0">
                <a:solidFill>
                  <a:srgbClr val="DCD7E5"/>
                </a:solidFill>
                <a:latin typeface="Montserrat" pitchFamily="34" charset="0"/>
                <a:ea typeface="Montserrat" pitchFamily="34" charset="-122"/>
                <a:cs typeface="Montserrat" pitchFamily="34" charset="-120"/>
              </a:rPr>
              <a:t>Activity Lifecycle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483195"/>
            <a:ext cx="10868745" cy="468412"/>
          </a:xfrm>
          <a:prstGeom prst="rect">
            <a:avLst/>
          </a:prstGeom>
          <a:noFill/>
          <a:ln/>
        </p:spPr>
        <p:txBody>
          <a:bodyPr wrap="none" lIns="0" tIns="0" rIns="0" bIns="0" rtlCol="0" anchor="t"/>
          <a:lstStyle/>
          <a:p>
            <a:pPr marL="0" indent="0" algn="l">
              <a:lnSpc>
                <a:spcPct val="104000"/>
              </a:lnSpc>
              <a:buNone/>
            </a:pPr>
            <a:r>
              <a:rPr lang="en-US" sz="2950" dirty="0">
                <a:solidFill>
                  <a:srgbClr val="F2F0F4"/>
                </a:solidFill>
                <a:latin typeface="Montserrat" pitchFamily="34" charset="0"/>
                <a:ea typeface="Montserrat" pitchFamily="34" charset="-122"/>
                <a:cs typeface="Montserrat" pitchFamily="34" charset="-120"/>
              </a:rPr>
              <a:t>Activity: Definisi, Deklarasi &amp; Intent Filters</a:t>
            </a:r>
            <a:endParaRPr lang="en-US" sz="2950" dirty="0"/>
          </a:p>
        </p:txBody>
      </p:sp>
      <p:sp>
        <p:nvSpPr>
          <p:cNvPr id="3" name="Shape 1"/>
          <p:cNvSpPr/>
          <p:nvPr/>
        </p:nvSpPr>
        <p:spPr>
          <a:xfrm>
            <a:off x="553528" y="1155303"/>
            <a:ext cx="3557499" cy="4505226"/>
          </a:xfrm>
          <a:prstGeom prst="roundRect">
            <a:avLst>
              <a:gd name="adj" fmla="val 3034"/>
            </a:avLst>
          </a:prstGeom>
          <a:solidFill>
            <a:srgbClr val="481C9E">
              <a:alpha val="95000"/>
            </a:srgbClr>
          </a:solidFill>
          <a:ln/>
        </p:spPr>
        <p:txBody>
          <a:bodyPr/>
          <a:lstStyle/>
          <a:p>
            <a:endParaRPr lang="en-US"/>
          </a:p>
        </p:txBody>
      </p:sp>
      <p:sp>
        <p:nvSpPr>
          <p:cNvPr id="4" name="Shape 2"/>
          <p:cNvSpPr/>
          <p:nvPr/>
        </p:nvSpPr>
        <p:spPr>
          <a:xfrm>
            <a:off x="703344" y="1308100"/>
            <a:ext cx="646394" cy="227806"/>
          </a:xfrm>
          <a:prstGeom prst="roundRect">
            <a:avLst>
              <a:gd name="adj" fmla="val 22107"/>
            </a:avLst>
          </a:prstGeom>
          <a:noFill/>
          <a:ln w="6350">
            <a:solidFill>
              <a:srgbClr val="481C9E"/>
            </a:solidFill>
            <a:prstDash val="solid"/>
          </a:ln>
        </p:spPr>
        <p:txBody>
          <a:bodyPr/>
          <a:lstStyle/>
          <a:p>
            <a:endParaRPr lang="en-US"/>
          </a:p>
        </p:txBody>
      </p:sp>
      <p:sp>
        <p:nvSpPr>
          <p:cNvPr id="5" name="Text 3"/>
          <p:cNvSpPr/>
          <p:nvPr/>
        </p:nvSpPr>
        <p:spPr>
          <a:xfrm>
            <a:off x="793234" y="1353046"/>
            <a:ext cx="1076199" cy="137914"/>
          </a:xfrm>
          <a:prstGeom prst="rect">
            <a:avLst/>
          </a:prstGeom>
          <a:noFill/>
          <a:ln/>
        </p:spPr>
        <p:txBody>
          <a:bodyPr wrap="none" lIns="0" tIns="0" rIns="0" bIns="0" rtlCol="0" anchor="t"/>
          <a:lstStyle/>
          <a:p>
            <a:pPr marL="0" indent="0" algn="l">
              <a:lnSpc>
                <a:spcPct val="96000"/>
              </a:lnSpc>
              <a:buNone/>
            </a:pPr>
            <a:r>
              <a:rPr lang="en-US" sz="900" dirty="0">
                <a:solidFill>
                  <a:srgbClr val="481C9E"/>
                </a:solidFill>
                <a:latin typeface="Heebo Light" pitchFamily="34" charset="0"/>
                <a:ea typeface="Heebo Light" pitchFamily="34" charset="-122"/>
                <a:cs typeface="Heebo Light" pitchFamily="34" charset="-120"/>
              </a:rPr>
              <a:t>DEFINISI</a:t>
            </a:r>
            <a:endParaRPr lang="en-US" sz="900" dirty="0"/>
          </a:p>
        </p:txBody>
      </p:sp>
      <p:sp>
        <p:nvSpPr>
          <p:cNvPr id="6" name="Text 4"/>
          <p:cNvSpPr/>
          <p:nvPr/>
        </p:nvSpPr>
        <p:spPr>
          <a:xfrm>
            <a:off x="703344" y="1590179"/>
            <a:ext cx="3257865" cy="234156"/>
          </a:xfrm>
          <a:prstGeom prst="rect">
            <a:avLst/>
          </a:prstGeom>
          <a:noFill/>
          <a:ln/>
        </p:spPr>
        <p:txBody>
          <a:bodyPr wrap="none" lIns="0" tIns="0" rIns="0" bIns="0" rtlCol="0" anchor="t"/>
          <a:lstStyle/>
          <a:p>
            <a:pPr marL="0" indent="0" algn="l">
              <a:lnSpc>
                <a:spcPct val="104000"/>
              </a:lnSpc>
              <a:buNone/>
            </a:pPr>
            <a:r>
              <a:rPr lang="en-US" sz="1450" dirty="0">
                <a:solidFill>
                  <a:srgbClr val="F2F0F4"/>
                </a:solidFill>
                <a:latin typeface="Montserrat" pitchFamily="34" charset="0"/>
                <a:ea typeface="Montserrat" pitchFamily="34" charset="-122"/>
                <a:cs typeface="Montserrat" pitchFamily="34" charset="-120"/>
              </a:rPr>
              <a:t>Apa itu Activity?</a:t>
            </a:r>
            <a:endParaRPr lang="en-US" sz="1450" dirty="0"/>
          </a:p>
        </p:txBody>
      </p:sp>
      <p:sp>
        <p:nvSpPr>
          <p:cNvPr id="7" name="Text 5"/>
          <p:cNvSpPr/>
          <p:nvPr/>
        </p:nvSpPr>
        <p:spPr>
          <a:xfrm>
            <a:off x="703344" y="1960166"/>
            <a:ext cx="3257865" cy="1466652"/>
          </a:xfrm>
          <a:prstGeom prst="rect">
            <a:avLst/>
          </a:prstGeom>
          <a:noFill/>
          <a:ln/>
        </p:spPr>
        <p:txBody>
          <a:bodyPr wrap="square" lIns="0" tIns="59954" rIns="0" bIns="0" rtlCol="0" anchor="t">
            <a:normAutofit/>
          </a:bodyPr>
          <a:lstStyle/>
          <a:p>
            <a:pPr marL="233680" indent="-233680" algn="l">
              <a:lnSpc>
                <a:spcPct val="127000"/>
              </a:lnSpc>
              <a:buSzPct val="100000"/>
              <a:buChar char="•"/>
            </a:pPr>
            <a:r>
              <a:rPr lang="en-US" sz="1150" dirty="0">
                <a:solidFill>
                  <a:srgbClr val="DCD7E5"/>
                </a:solidFill>
                <a:latin typeface="Heebo Light" pitchFamily="34" charset="0"/>
                <a:ea typeface="Heebo Light" pitchFamily="34" charset="-122"/>
                <a:cs typeface="Heebo Light" pitchFamily="34" charset="-120"/>
              </a:rPr>
              <a:t>Komponen inti yang menampilkan satu layar antarmuka pengguna (UI)</a:t>
            </a:r>
            <a:endParaRPr lang="en-US" sz="1150" dirty="0"/>
          </a:p>
          <a:p>
            <a:pPr marL="233680" indent="-233680" algn="l">
              <a:lnSpc>
                <a:spcPct val="127000"/>
              </a:lnSpc>
              <a:buSzPct val="100000"/>
              <a:buChar char="•"/>
            </a:pPr>
            <a:r>
              <a:rPr lang="en-US" sz="1150" dirty="0">
                <a:solidFill>
                  <a:srgbClr val="DCD7E5"/>
                </a:solidFill>
                <a:latin typeface="Heebo Light" pitchFamily="34" charset="0"/>
                <a:ea typeface="Heebo Light" pitchFamily="34" charset="-122"/>
                <a:cs typeface="Heebo Light" pitchFamily="34" charset="-120"/>
              </a:rPr>
              <a:t>Berfungsi sebagai entry point bagi interaksi pengguna dengan aplikasi</a:t>
            </a:r>
            <a:endParaRPr lang="en-US" sz="1150" dirty="0"/>
          </a:p>
          <a:p>
            <a:pPr marL="233680" indent="-233680" algn="l">
              <a:lnSpc>
                <a:spcPct val="127000"/>
              </a:lnSpc>
              <a:buSzPct val="100000"/>
              <a:buChar char="•"/>
            </a:pPr>
            <a:r>
              <a:rPr lang="en-US" sz="1150" dirty="0">
                <a:solidFill>
                  <a:srgbClr val="DCD7E5"/>
                </a:solidFill>
                <a:latin typeface="Heebo Light" pitchFamily="34" charset="0"/>
                <a:ea typeface="Heebo Light" pitchFamily="34" charset="-122"/>
                <a:cs typeface="Heebo Light" pitchFamily="34" charset="-120"/>
              </a:rPr>
              <a:t>Sebuah aplikasi biasanya terdiri dari banyak Activity yang terikat secara longgar</a:t>
            </a:r>
            <a:endParaRPr lang="en-US" sz="1150" dirty="0"/>
          </a:p>
        </p:txBody>
      </p:sp>
      <p:sp>
        <p:nvSpPr>
          <p:cNvPr id="8" name="Shape 6"/>
          <p:cNvSpPr/>
          <p:nvPr/>
        </p:nvSpPr>
        <p:spPr>
          <a:xfrm>
            <a:off x="4375140" y="1308100"/>
            <a:ext cx="797103" cy="227806"/>
          </a:xfrm>
          <a:prstGeom prst="roundRect">
            <a:avLst>
              <a:gd name="adj" fmla="val 22107"/>
            </a:avLst>
          </a:prstGeom>
          <a:noFill/>
          <a:ln w="6350">
            <a:solidFill>
              <a:srgbClr val="481C9E"/>
            </a:solidFill>
            <a:prstDash val="solid"/>
          </a:ln>
        </p:spPr>
        <p:txBody>
          <a:bodyPr/>
          <a:lstStyle/>
          <a:p>
            <a:endParaRPr lang="en-US"/>
          </a:p>
        </p:txBody>
      </p:sp>
      <p:sp>
        <p:nvSpPr>
          <p:cNvPr id="9" name="Text 7"/>
          <p:cNvSpPr/>
          <p:nvPr/>
        </p:nvSpPr>
        <p:spPr>
          <a:xfrm>
            <a:off x="4465030" y="1353046"/>
            <a:ext cx="1226908" cy="137914"/>
          </a:xfrm>
          <a:prstGeom prst="rect">
            <a:avLst/>
          </a:prstGeom>
          <a:noFill/>
          <a:ln/>
        </p:spPr>
        <p:txBody>
          <a:bodyPr wrap="none" lIns="0" tIns="0" rIns="0" bIns="0" rtlCol="0" anchor="t"/>
          <a:lstStyle/>
          <a:p>
            <a:pPr marL="0" indent="0" algn="l">
              <a:lnSpc>
                <a:spcPct val="96000"/>
              </a:lnSpc>
              <a:buNone/>
            </a:pPr>
            <a:r>
              <a:rPr lang="en-US" sz="900" dirty="0">
                <a:solidFill>
                  <a:srgbClr val="481C9E"/>
                </a:solidFill>
                <a:latin typeface="Heebo Light" pitchFamily="34" charset="0"/>
                <a:ea typeface="Heebo Light" pitchFamily="34" charset="-122"/>
                <a:cs typeface="Heebo Light" pitchFamily="34" charset="-120"/>
              </a:rPr>
              <a:t>DEKLARASI</a:t>
            </a:r>
            <a:endParaRPr lang="en-US" sz="900" dirty="0"/>
          </a:p>
        </p:txBody>
      </p:sp>
      <p:sp>
        <p:nvSpPr>
          <p:cNvPr id="10" name="Text 8"/>
          <p:cNvSpPr/>
          <p:nvPr/>
        </p:nvSpPr>
        <p:spPr>
          <a:xfrm>
            <a:off x="4375140" y="1590179"/>
            <a:ext cx="3341604" cy="234156"/>
          </a:xfrm>
          <a:prstGeom prst="rect">
            <a:avLst/>
          </a:prstGeom>
          <a:noFill/>
          <a:ln/>
        </p:spPr>
        <p:txBody>
          <a:bodyPr wrap="none" lIns="0" tIns="0" rIns="0" bIns="0" rtlCol="0" anchor="t"/>
          <a:lstStyle/>
          <a:p>
            <a:pPr marL="0" indent="0" algn="l">
              <a:lnSpc>
                <a:spcPct val="104000"/>
              </a:lnSpc>
              <a:buNone/>
            </a:pPr>
            <a:r>
              <a:rPr lang="en-US" sz="1450" dirty="0">
                <a:solidFill>
                  <a:srgbClr val="F2F0F4"/>
                </a:solidFill>
                <a:latin typeface="Montserrat" pitchFamily="34" charset="0"/>
                <a:ea typeface="Montserrat" pitchFamily="34" charset="-122"/>
                <a:cs typeface="Montserrat" pitchFamily="34" charset="-120"/>
              </a:rPr>
              <a:t>AndroidManifest.xml</a:t>
            </a:r>
            <a:endParaRPr lang="en-US" sz="1450" dirty="0"/>
          </a:p>
        </p:txBody>
      </p:sp>
      <p:sp>
        <p:nvSpPr>
          <p:cNvPr id="11" name="Text 9"/>
          <p:cNvSpPr/>
          <p:nvPr/>
        </p:nvSpPr>
        <p:spPr>
          <a:xfrm>
            <a:off x="4375140" y="1960166"/>
            <a:ext cx="3341604" cy="9144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DCD7E5"/>
                </a:solidFill>
                <a:latin typeface="Heebo Light" pitchFamily="34" charset="0"/>
                <a:ea typeface="Heebo Light" pitchFamily="34" charset="-122"/>
                <a:cs typeface="Heebo Light" pitchFamily="34" charset="-120"/>
              </a:rPr>
              <a:t>Setiap Activity wajib didaftarkan di dalam AndroidManifest.xml menggunakan tag &lt;activity&gt;. Tanpa deklarasi, Activity tidak dikenali sistem dan aplikasi akan crash.</a:t>
            </a:r>
            <a:endParaRPr lang="en-US" sz="1150" dirty="0"/>
          </a:p>
        </p:txBody>
      </p:sp>
      <p:sp>
        <p:nvSpPr>
          <p:cNvPr id="12" name="Shape 10"/>
          <p:cNvSpPr/>
          <p:nvPr/>
        </p:nvSpPr>
        <p:spPr>
          <a:xfrm>
            <a:off x="4375140" y="3027363"/>
            <a:ext cx="3341604" cy="1498699"/>
          </a:xfrm>
          <a:prstGeom prst="roundRect">
            <a:avLst>
              <a:gd name="adj" fmla="val 4200"/>
            </a:avLst>
          </a:prstGeom>
          <a:solidFill>
            <a:srgbClr val="1A1739"/>
          </a:solidFill>
          <a:ln/>
        </p:spPr>
        <p:txBody>
          <a:bodyPr/>
          <a:lstStyle/>
          <a:p>
            <a:endParaRPr lang="en-US"/>
          </a:p>
        </p:txBody>
      </p:sp>
      <p:sp>
        <p:nvSpPr>
          <p:cNvPr id="13" name="Text 11"/>
          <p:cNvSpPr/>
          <p:nvPr/>
        </p:nvSpPr>
        <p:spPr>
          <a:xfrm>
            <a:off x="4554920" y="3177183"/>
            <a:ext cx="2982044" cy="1199059"/>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&lt;activity</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android:name=".MainActivity"</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android:exported="true"&gt;</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&lt;/activity&gt;</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p:txBody>
      </p:sp>
      <p:sp>
        <p:nvSpPr>
          <p:cNvPr id="14" name="Shape 12"/>
          <p:cNvSpPr/>
          <p:nvPr/>
        </p:nvSpPr>
        <p:spPr>
          <a:xfrm>
            <a:off x="8088805" y="1308100"/>
            <a:ext cx="1055562" cy="227806"/>
          </a:xfrm>
          <a:prstGeom prst="roundRect">
            <a:avLst>
              <a:gd name="adj" fmla="val 22107"/>
            </a:avLst>
          </a:prstGeom>
          <a:noFill/>
          <a:ln w="6350">
            <a:solidFill>
              <a:srgbClr val="481C9E"/>
            </a:solidFill>
            <a:prstDash val="solid"/>
          </a:ln>
        </p:spPr>
        <p:txBody>
          <a:bodyPr/>
          <a:lstStyle/>
          <a:p>
            <a:endParaRPr lang="en-US"/>
          </a:p>
        </p:txBody>
      </p:sp>
      <p:sp>
        <p:nvSpPr>
          <p:cNvPr id="15" name="Text 13"/>
          <p:cNvSpPr/>
          <p:nvPr/>
        </p:nvSpPr>
        <p:spPr>
          <a:xfrm>
            <a:off x="8178695" y="1353046"/>
            <a:ext cx="1485367" cy="137914"/>
          </a:xfrm>
          <a:prstGeom prst="rect">
            <a:avLst/>
          </a:prstGeom>
          <a:noFill/>
          <a:ln/>
        </p:spPr>
        <p:txBody>
          <a:bodyPr wrap="none" lIns="0" tIns="0" rIns="0" bIns="0" rtlCol="0" anchor="t"/>
          <a:lstStyle/>
          <a:p>
            <a:pPr marL="0" indent="0" algn="l">
              <a:lnSpc>
                <a:spcPct val="96000"/>
              </a:lnSpc>
              <a:buNone/>
            </a:pPr>
            <a:r>
              <a:rPr lang="en-US" sz="900" dirty="0">
                <a:solidFill>
                  <a:srgbClr val="481C9E"/>
                </a:solidFill>
                <a:latin typeface="Heebo Light" pitchFamily="34" charset="0"/>
                <a:ea typeface="Heebo Light" pitchFamily="34" charset="-122"/>
                <a:cs typeface="Heebo Light" pitchFamily="34" charset="-120"/>
              </a:rPr>
              <a:t>INTENT FILTERS</a:t>
            </a:r>
            <a:endParaRPr lang="en-US" sz="900" dirty="0"/>
          </a:p>
        </p:txBody>
      </p:sp>
      <p:sp>
        <p:nvSpPr>
          <p:cNvPr id="16" name="Text 14"/>
          <p:cNvSpPr/>
          <p:nvPr/>
        </p:nvSpPr>
        <p:spPr>
          <a:xfrm>
            <a:off x="8088805" y="1590179"/>
            <a:ext cx="3453917" cy="234156"/>
          </a:xfrm>
          <a:prstGeom prst="rect">
            <a:avLst/>
          </a:prstGeom>
          <a:noFill/>
          <a:ln/>
        </p:spPr>
        <p:txBody>
          <a:bodyPr wrap="none" lIns="0" tIns="0" rIns="0" bIns="0" rtlCol="0" anchor="t"/>
          <a:lstStyle/>
          <a:p>
            <a:pPr marL="0" indent="0" algn="l">
              <a:lnSpc>
                <a:spcPct val="104000"/>
              </a:lnSpc>
              <a:buNone/>
            </a:pPr>
            <a:r>
              <a:rPr lang="en-US" sz="1450" dirty="0">
                <a:solidFill>
                  <a:srgbClr val="F2F0F4"/>
                </a:solidFill>
                <a:latin typeface="Montserrat" pitchFamily="34" charset="0"/>
                <a:ea typeface="Montserrat" pitchFamily="34" charset="-122"/>
                <a:cs typeface="Montserrat" pitchFamily="34" charset="-120"/>
              </a:rPr>
              <a:t>Kemampuan Activity</a:t>
            </a:r>
            <a:endParaRPr lang="en-US" sz="1450" dirty="0"/>
          </a:p>
        </p:txBody>
      </p:sp>
      <p:sp>
        <p:nvSpPr>
          <p:cNvPr id="17" name="Text 15"/>
          <p:cNvSpPr/>
          <p:nvPr/>
        </p:nvSpPr>
        <p:spPr>
          <a:xfrm>
            <a:off x="8088805" y="1960166"/>
            <a:ext cx="3453917"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DCD7E5"/>
                </a:solidFill>
                <a:latin typeface="Heebo Light" pitchFamily="34" charset="0"/>
                <a:ea typeface="Heebo Light" pitchFamily="34" charset="-122"/>
                <a:cs typeface="Heebo Light" pitchFamily="34" charset="-120"/>
              </a:rPr>
              <a:t>Mendeklarasikan kemampuan Activity agar bisa dipanggil secara implisit oleh aplikasi lain.</a:t>
            </a:r>
            <a:endParaRPr lang="en-US" sz="1150" dirty="0"/>
          </a:p>
        </p:txBody>
      </p:sp>
      <p:sp>
        <p:nvSpPr>
          <p:cNvPr id="18" name="Shape 16"/>
          <p:cNvSpPr/>
          <p:nvPr/>
        </p:nvSpPr>
        <p:spPr>
          <a:xfrm>
            <a:off x="8088805" y="2570163"/>
            <a:ext cx="3453917" cy="2937570"/>
          </a:xfrm>
          <a:prstGeom prst="roundRect">
            <a:avLst>
              <a:gd name="adj" fmla="val 2143"/>
            </a:avLst>
          </a:prstGeom>
          <a:solidFill>
            <a:srgbClr val="1A1739"/>
          </a:solidFill>
          <a:ln/>
        </p:spPr>
        <p:txBody>
          <a:bodyPr/>
          <a:lstStyle/>
          <a:p>
            <a:endParaRPr lang="en-US"/>
          </a:p>
        </p:txBody>
      </p:sp>
      <p:sp>
        <p:nvSpPr>
          <p:cNvPr id="19" name="Text 17"/>
          <p:cNvSpPr/>
          <p:nvPr/>
        </p:nvSpPr>
        <p:spPr>
          <a:xfrm>
            <a:off x="8268585" y="2719983"/>
            <a:ext cx="3094357" cy="2637929"/>
          </a:xfrm>
          <a:prstGeom prst="rect">
            <a:avLst/>
          </a:prstGeom>
          <a:noFill/>
          <a:ln/>
        </p:spPr>
        <p:txBody>
          <a:bodyPr wrap="square" lIns="0" tIns="0" rIns="0" bIns="0" rtlCol="0" anchor="t">
            <a:normAutofit fontScale="85000" lnSpcReduction="10000"/>
          </a:bodyPr>
          <a:lstStyle/>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&lt;activity android:name=".ShareActivity"&gt;</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&lt;intent-filter&gt;</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&lt;action android:name=</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"android.intent.action.SEND"/&gt;</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&lt;category android:name=</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"android.intent.category.DEFAULT"/&gt;</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&lt;data android:mimeType="image/*"/&gt;</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&lt;/intent-filter&gt;</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&lt;/activity&gt;</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p:txBody>
      </p:sp>
      <p:sp>
        <p:nvSpPr>
          <p:cNvPr id="20" name="Shape 18"/>
          <p:cNvSpPr/>
          <p:nvPr/>
        </p:nvSpPr>
        <p:spPr>
          <a:xfrm>
            <a:off x="661475" y="5813326"/>
            <a:ext cx="10868745" cy="561479"/>
          </a:xfrm>
          <a:prstGeom prst="roundRect">
            <a:avLst>
              <a:gd name="adj" fmla="val 11212"/>
            </a:avLst>
          </a:prstGeom>
          <a:solidFill>
            <a:srgbClr val="31136C"/>
          </a:solidFill>
          <a:ln/>
        </p:spPr>
        <p:txBody>
          <a:bodyPr/>
          <a:lstStyle/>
          <a:p>
            <a:endParaRPr lang="en-US"/>
          </a:p>
        </p:txBody>
      </p:sp>
      <p:pic>
        <p:nvPicPr>
          <p:cNvPr id="21" name="Image 0" descr="preencoded.png"/>
          <p:cNvPicPr>
            <a:picLocks noChangeAspect="1"/>
          </p:cNvPicPr>
          <p:nvPr/>
        </p:nvPicPr>
        <p:blipFill>
          <a:blip r:embed="rId3"/>
          <a:stretch>
            <a:fillRect/>
          </a:stretch>
        </p:blipFill>
        <p:spPr>
          <a:xfrm>
            <a:off x="811291" y="6007795"/>
            <a:ext cx="187320" cy="149820"/>
          </a:xfrm>
          <a:prstGeom prst="rect">
            <a:avLst/>
          </a:prstGeom>
        </p:spPr>
      </p:pic>
      <p:sp>
        <p:nvSpPr>
          <p:cNvPr id="22" name="Text 19"/>
          <p:cNvSpPr/>
          <p:nvPr/>
        </p:nvSpPr>
        <p:spPr>
          <a:xfrm>
            <a:off x="1148428" y="5986562"/>
            <a:ext cx="10841560" cy="228600"/>
          </a:xfrm>
          <a:prstGeom prst="rect">
            <a:avLst/>
          </a:prstGeom>
          <a:noFill/>
          <a:ln/>
        </p:spPr>
        <p:txBody>
          <a:bodyPr wrap="none" lIns="0" tIns="0" rIns="0" bIns="0" rtlCol="0" anchor="t"/>
          <a:lstStyle/>
          <a:p>
            <a:pPr marL="0" indent="0" algn="l">
              <a:lnSpc>
                <a:spcPct val="127000"/>
              </a:lnSpc>
              <a:buNone/>
            </a:pPr>
            <a:r>
              <a:rPr lang="en-US" sz="1150" dirty="0">
                <a:solidFill>
                  <a:srgbClr val="FFFFFF"/>
                </a:solidFill>
                <a:latin typeface="Heebo Light" pitchFamily="34" charset="0"/>
                <a:ea typeface="Heebo Light" pitchFamily="34" charset="-122"/>
                <a:cs typeface="Heebo Light" pitchFamily="34" charset="-120"/>
              </a:rPr>
              <a:t>Activity yang tidak memiliki intent-filter hanya bisa dipanggil secara explicit dari dalam aplikasi yang sama.</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475357"/>
            <a:ext cx="10868745" cy="339130"/>
          </a:xfrm>
          <a:prstGeom prst="rect">
            <a:avLst/>
          </a:prstGeom>
          <a:noFill/>
          <a:ln/>
        </p:spPr>
        <p:txBody>
          <a:bodyPr wrap="none" lIns="0" tIns="0" rIns="0" bIns="0" rtlCol="0" anchor="t"/>
          <a:lstStyle/>
          <a:p>
            <a:pPr marL="0" indent="0" algn="l">
              <a:lnSpc>
                <a:spcPct val="104000"/>
              </a:lnSpc>
              <a:buNone/>
            </a:pPr>
            <a:r>
              <a:rPr lang="en-US" sz="2100" dirty="0">
                <a:solidFill>
                  <a:srgbClr val="F2F0F4"/>
                </a:solidFill>
                <a:latin typeface="Montserrat" pitchFamily="34" charset="0"/>
                <a:ea typeface="Montserrat" pitchFamily="34" charset="-122"/>
                <a:cs typeface="Montserrat" pitchFamily="34" charset="-120"/>
              </a:rPr>
              <a:t>Activity Lifecycle: Siklus Hidup Activity</a:t>
            </a:r>
            <a:endParaRPr lang="en-US" sz="2100" dirty="0"/>
          </a:p>
        </p:txBody>
      </p:sp>
      <p:sp>
        <p:nvSpPr>
          <p:cNvPr id="3" name="Text 1"/>
          <p:cNvSpPr/>
          <p:nvPr/>
        </p:nvSpPr>
        <p:spPr>
          <a:xfrm>
            <a:off x="661475" y="956866"/>
            <a:ext cx="10868745" cy="287536"/>
          </a:xfrm>
          <a:prstGeom prst="rect">
            <a:avLst/>
          </a:prstGeom>
          <a:noFill/>
          <a:ln/>
        </p:spPr>
        <p:txBody>
          <a:bodyPr wrap="square" lIns="0" tIns="0" rIns="0" bIns="0" rtlCol="0" anchor="t">
            <a:normAutofit/>
          </a:bodyPr>
          <a:lstStyle/>
          <a:p>
            <a:pPr marL="0" indent="0" algn="l">
              <a:lnSpc>
                <a:spcPct val="110000"/>
              </a:lnSpc>
              <a:buNone/>
            </a:pPr>
            <a:r>
              <a:rPr lang="en-US" sz="850" dirty="0">
                <a:solidFill>
                  <a:srgbClr val="DCD7E5"/>
                </a:solidFill>
                <a:latin typeface="Heebo Light" pitchFamily="34" charset="0"/>
                <a:ea typeface="Heebo Light" pitchFamily="34" charset="-122"/>
                <a:cs typeface="Heebo Light" pitchFamily="34" charset="-120"/>
              </a:rPr>
              <a:t>Android tidak menjalankan aplikasi dari fungsi main() tunggal. Sistem mengeksekusi kode melalui metode callback lifecycle yang sesuai dengan status Activity saat itu. Memahami lifecycle sangat penting untuk mencegah memory leak, crash, atau kehilangan progress pengguna.</a:t>
            </a:r>
            <a:endParaRPr lang="en-US" sz="850" dirty="0"/>
          </a:p>
        </p:txBody>
      </p:sp>
      <p:sp>
        <p:nvSpPr>
          <p:cNvPr id="4" name="Text 2"/>
          <p:cNvSpPr/>
          <p:nvPr/>
        </p:nvSpPr>
        <p:spPr>
          <a:xfrm>
            <a:off x="661475" y="1395611"/>
            <a:ext cx="4745316" cy="169466"/>
          </a:xfrm>
          <a:prstGeom prst="rect">
            <a:avLst/>
          </a:prstGeom>
          <a:noFill/>
          <a:ln/>
        </p:spPr>
        <p:txBody>
          <a:bodyPr wrap="none" lIns="0" tIns="0" rIns="0" bIns="0" rtlCol="0" anchor="t"/>
          <a:lstStyle/>
          <a:p>
            <a:pPr marL="0" indent="0" algn="l">
              <a:lnSpc>
                <a:spcPct val="104000"/>
              </a:lnSpc>
              <a:buNone/>
            </a:pPr>
            <a:r>
              <a:rPr lang="en-US" sz="1050" dirty="0">
                <a:solidFill>
                  <a:srgbClr val="F2F0F4"/>
                </a:solidFill>
                <a:latin typeface="Montserrat" pitchFamily="34" charset="0"/>
                <a:ea typeface="Montserrat" pitchFamily="34" charset="-122"/>
                <a:cs typeface="Montserrat" pitchFamily="34" charset="-120"/>
              </a:rPr>
              <a:t>Mengapa Lifecycle Penting?</a:t>
            </a:r>
            <a:endParaRPr lang="en-US" sz="1050" dirty="0"/>
          </a:p>
        </p:txBody>
      </p:sp>
      <p:sp>
        <p:nvSpPr>
          <p:cNvPr id="5" name="Shape 3"/>
          <p:cNvSpPr/>
          <p:nvPr/>
        </p:nvSpPr>
        <p:spPr>
          <a:xfrm>
            <a:off x="661475" y="1645146"/>
            <a:ext cx="4745316" cy="613966"/>
          </a:xfrm>
          <a:prstGeom prst="roundRect">
            <a:avLst>
              <a:gd name="adj" fmla="val 7425"/>
            </a:avLst>
          </a:prstGeom>
          <a:solidFill>
            <a:srgbClr val="31136C"/>
          </a:solidFill>
          <a:ln w="6350">
            <a:solidFill>
              <a:srgbClr val="4A2C85"/>
            </a:solidFill>
            <a:prstDash val="solid"/>
          </a:ln>
        </p:spPr>
        <p:txBody>
          <a:bodyPr/>
          <a:lstStyle/>
          <a:p>
            <a:endParaRPr lang="en-US"/>
          </a:p>
        </p:txBody>
      </p:sp>
      <p:sp>
        <p:nvSpPr>
          <p:cNvPr id="6" name="Text 4"/>
          <p:cNvSpPr/>
          <p:nvPr/>
        </p:nvSpPr>
        <p:spPr>
          <a:xfrm>
            <a:off x="776268" y="1759942"/>
            <a:ext cx="4515729" cy="169466"/>
          </a:xfrm>
          <a:prstGeom prst="rect">
            <a:avLst/>
          </a:prstGeom>
          <a:noFill/>
          <a:ln/>
        </p:spPr>
        <p:txBody>
          <a:bodyPr wrap="none" lIns="0" tIns="0" rIns="0" bIns="0" rtlCol="0" anchor="t"/>
          <a:lstStyle/>
          <a:p>
            <a:pPr marL="0" indent="0" algn="l">
              <a:lnSpc>
                <a:spcPct val="104000"/>
              </a:lnSpc>
              <a:buNone/>
            </a:pPr>
            <a:r>
              <a:rPr lang="en-US" sz="1050" dirty="0">
                <a:solidFill>
                  <a:srgbClr val="DCD7E5"/>
                </a:solidFill>
                <a:latin typeface="Montserrat" pitchFamily="34" charset="0"/>
                <a:ea typeface="Montserrat" pitchFamily="34" charset="-122"/>
                <a:cs typeface="Montserrat" pitchFamily="34" charset="-120"/>
              </a:rPr>
              <a:t>Memory Leak</a:t>
            </a:r>
            <a:endParaRPr lang="en-US" sz="1050" dirty="0"/>
          </a:p>
        </p:txBody>
      </p:sp>
      <p:sp>
        <p:nvSpPr>
          <p:cNvPr id="7" name="Text 5"/>
          <p:cNvSpPr/>
          <p:nvPr/>
        </p:nvSpPr>
        <p:spPr>
          <a:xfrm>
            <a:off x="776268" y="2000548"/>
            <a:ext cx="4515729" cy="143768"/>
          </a:xfrm>
          <a:prstGeom prst="rect">
            <a:avLst/>
          </a:prstGeom>
          <a:noFill/>
          <a:ln/>
        </p:spPr>
        <p:txBody>
          <a:bodyPr wrap="none" lIns="0" tIns="0" rIns="0" bIns="0" rtlCol="0" anchor="t"/>
          <a:lstStyle/>
          <a:p>
            <a:pPr marL="0" indent="0" algn="l">
              <a:lnSpc>
                <a:spcPct val="110000"/>
              </a:lnSpc>
              <a:buNone/>
            </a:pPr>
            <a:r>
              <a:rPr lang="en-US" sz="850" dirty="0">
                <a:solidFill>
                  <a:srgbClr val="DCD7E5"/>
                </a:solidFill>
                <a:latin typeface="Heebo Light" pitchFamily="34" charset="0"/>
                <a:ea typeface="Heebo Light" pitchFamily="34" charset="-122"/>
                <a:cs typeface="Heebo Light" pitchFamily="34" charset="-120"/>
              </a:rPr>
              <a:t>Tidak melepas resource di onStop()/onDestroy() menyebabkan kebocoran memori.</a:t>
            </a:r>
            <a:endParaRPr lang="en-US" sz="850" dirty="0"/>
          </a:p>
        </p:txBody>
      </p:sp>
      <p:sp>
        <p:nvSpPr>
          <p:cNvPr id="8" name="Shape 6"/>
          <p:cNvSpPr/>
          <p:nvPr/>
        </p:nvSpPr>
        <p:spPr>
          <a:xfrm>
            <a:off x="661475" y="2330252"/>
            <a:ext cx="4745316" cy="613966"/>
          </a:xfrm>
          <a:prstGeom prst="roundRect">
            <a:avLst>
              <a:gd name="adj" fmla="val 7425"/>
            </a:avLst>
          </a:prstGeom>
          <a:solidFill>
            <a:srgbClr val="31136C"/>
          </a:solidFill>
          <a:ln w="6350">
            <a:solidFill>
              <a:srgbClr val="4A2C85"/>
            </a:solidFill>
            <a:prstDash val="solid"/>
          </a:ln>
        </p:spPr>
        <p:txBody>
          <a:bodyPr/>
          <a:lstStyle/>
          <a:p>
            <a:endParaRPr lang="en-US"/>
          </a:p>
        </p:txBody>
      </p:sp>
      <p:sp>
        <p:nvSpPr>
          <p:cNvPr id="9" name="Text 7"/>
          <p:cNvSpPr/>
          <p:nvPr/>
        </p:nvSpPr>
        <p:spPr>
          <a:xfrm>
            <a:off x="776268" y="2445048"/>
            <a:ext cx="4515729" cy="169466"/>
          </a:xfrm>
          <a:prstGeom prst="rect">
            <a:avLst/>
          </a:prstGeom>
          <a:noFill/>
          <a:ln/>
        </p:spPr>
        <p:txBody>
          <a:bodyPr wrap="none" lIns="0" tIns="0" rIns="0" bIns="0" rtlCol="0" anchor="t"/>
          <a:lstStyle/>
          <a:p>
            <a:pPr marL="0" indent="0" algn="l">
              <a:lnSpc>
                <a:spcPct val="104000"/>
              </a:lnSpc>
              <a:buNone/>
            </a:pPr>
            <a:r>
              <a:rPr lang="en-US" sz="1050" dirty="0">
                <a:solidFill>
                  <a:srgbClr val="DCD7E5"/>
                </a:solidFill>
                <a:latin typeface="Montserrat" pitchFamily="34" charset="0"/>
                <a:ea typeface="Montserrat" pitchFamily="34" charset="-122"/>
                <a:cs typeface="Montserrat" pitchFamily="34" charset="-120"/>
              </a:rPr>
              <a:t>Data Loss</a:t>
            </a:r>
            <a:endParaRPr lang="en-US" sz="1050" dirty="0"/>
          </a:p>
        </p:txBody>
      </p:sp>
      <p:sp>
        <p:nvSpPr>
          <p:cNvPr id="10" name="Text 8"/>
          <p:cNvSpPr/>
          <p:nvPr/>
        </p:nvSpPr>
        <p:spPr>
          <a:xfrm>
            <a:off x="776268" y="2685653"/>
            <a:ext cx="4515729" cy="143768"/>
          </a:xfrm>
          <a:prstGeom prst="rect">
            <a:avLst/>
          </a:prstGeom>
          <a:noFill/>
          <a:ln/>
        </p:spPr>
        <p:txBody>
          <a:bodyPr wrap="none" lIns="0" tIns="0" rIns="0" bIns="0" rtlCol="0" anchor="t"/>
          <a:lstStyle/>
          <a:p>
            <a:pPr marL="0" indent="0" algn="l">
              <a:lnSpc>
                <a:spcPct val="110000"/>
              </a:lnSpc>
              <a:buNone/>
            </a:pPr>
            <a:r>
              <a:rPr lang="en-US" sz="850" dirty="0">
                <a:solidFill>
                  <a:srgbClr val="DCD7E5"/>
                </a:solidFill>
                <a:latin typeface="Heebo Light" pitchFamily="34" charset="0"/>
                <a:ea typeface="Heebo Light" pitchFamily="34" charset="-122"/>
                <a:cs typeface="Heebo Light" pitchFamily="34" charset="-120"/>
              </a:rPr>
              <a:t>Tidak menyimpan state di onPause() menyebabkan data pengguna hilang.</a:t>
            </a:r>
            <a:endParaRPr lang="en-US" sz="850" dirty="0"/>
          </a:p>
        </p:txBody>
      </p:sp>
      <p:sp>
        <p:nvSpPr>
          <p:cNvPr id="11" name="Shape 9"/>
          <p:cNvSpPr/>
          <p:nvPr/>
        </p:nvSpPr>
        <p:spPr>
          <a:xfrm>
            <a:off x="661475" y="3015357"/>
            <a:ext cx="4745316" cy="613966"/>
          </a:xfrm>
          <a:prstGeom prst="roundRect">
            <a:avLst>
              <a:gd name="adj" fmla="val 7425"/>
            </a:avLst>
          </a:prstGeom>
          <a:solidFill>
            <a:srgbClr val="31136C"/>
          </a:solidFill>
          <a:ln w="6350">
            <a:solidFill>
              <a:srgbClr val="4A2C85"/>
            </a:solidFill>
            <a:prstDash val="solid"/>
          </a:ln>
        </p:spPr>
        <p:txBody>
          <a:bodyPr/>
          <a:lstStyle/>
          <a:p>
            <a:endParaRPr lang="en-US"/>
          </a:p>
        </p:txBody>
      </p:sp>
      <p:sp>
        <p:nvSpPr>
          <p:cNvPr id="12" name="Text 10"/>
          <p:cNvSpPr/>
          <p:nvPr/>
        </p:nvSpPr>
        <p:spPr>
          <a:xfrm>
            <a:off x="776268" y="3130153"/>
            <a:ext cx="4515729" cy="169466"/>
          </a:xfrm>
          <a:prstGeom prst="rect">
            <a:avLst/>
          </a:prstGeom>
          <a:noFill/>
          <a:ln/>
        </p:spPr>
        <p:txBody>
          <a:bodyPr wrap="none" lIns="0" tIns="0" rIns="0" bIns="0" rtlCol="0" anchor="t"/>
          <a:lstStyle/>
          <a:p>
            <a:pPr marL="0" indent="0" algn="l">
              <a:lnSpc>
                <a:spcPct val="104000"/>
              </a:lnSpc>
              <a:buNone/>
            </a:pPr>
            <a:r>
              <a:rPr lang="en-US" sz="1050" dirty="0">
                <a:solidFill>
                  <a:srgbClr val="DCD7E5"/>
                </a:solidFill>
                <a:latin typeface="Montserrat" pitchFamily="34" charset="0"/>
                <a:ea typeface="Montserrat" pitchFamily="34" charset="-122"/>
                <a:cs typeface="Montserrat" pitchFamily="34" charset="-120"/>
              </a:rPr>
              <a:t>Crash</a:t>
            </a:r>
            <a:endParaRPr lang="en-US" sz="1050" dirty="0"/>
          </a:p>
        </p:txBody>
      </p:sp>
      <p:sp>
        <p:nvSpPr>
          <p:cNvPr id="13" name="Text 11"/>
          <p:cNvSpPr/>
          <p:nvPr/>
        </p:nvSpPr>
        <p:spPr>
          <a:xfrm>
            <a:off x="776268" y="3370759"/>
            <a:ext cx="4515729" cy="143768"/>
          </a:xfrm>
          <a:prstGeom prst="rect">
            <a:avLst/>
          </a:prstGeom>
          <a:noFill/>
          <a:ln/>
        </p:spPr>
        <p:txBody>
          <a:bodyPr wrap="none" lIns="0" tIns="0" rIns="0" bIns="0" rtlCol="0" anchor="t"/>
          <a:lstStyle/>
          <a:p>
            <a:pPr marL="0" indent="0" algn="l">
              <a:lnSpc>
                <a:spcPct val="110000"/>
              </a:lnSpc>
              <a:buNone/>
            </a:pPr>
            <a:r>
              <a:rPr lang="en-US" sz="850" dirty="0">
                <a:solidFill>
                  <a:srgbClr val="DCD7E5"/>
                </a:solidFill>
                <a:latin typeface="Heebo Light" pitchFamily="34" charset="0"/>
                <a:ea typeface="Heebo Light" pitchFamily="34" charset="-122"/>
                <a:cs typeface="Heebo Light" pitchFamily="34" charset="-120"/>
              </a:rPr>
              <a:t>Mengakses resource yang sudah dilepas menyebabkan aplikasi crash.</a:t>
            </a:r>
            <a:endParaRPr lang="en-US" sz="850" dirty="0"/>
          </a:p>
        </p:txBody>
      </p:sp>
      <p:sp>
        <p:nvSpPr>
          <p:cNvPr id="14" name="Text 12"/>
          <p:cNvSpPr/>
          <p:nvPr/>
        </p:nvSpPr>
        <p:spPr>
          <a:xfrm>
            <a:off x="5677849" y="1395611"/>
            <a:ext cx="5858621" cy="169466"/>
          </a:xfrm>
          <a:prstGeom prst="rect">
            <a:avLst/>
          </a:prstGeom>
          <a:noFill/>
          <a:ln/>
        </p:spPr>
        <p:txBody>
          <a:bodyPr wrap="none" lIns="0" tIns="0" rIns="0" bIns="0" rtlCol="0" anchor="t"/>
          <a:lstStyle/>
          <a:p>
            <a:pPr marL="0" indent="0" algn="l">
              <a:lnSpc>
                <a:spcPct val="104000"/>
              </a:lnSpc>
              <a:buNone/>
            </a:pPr>
            <a:r>
              <a:rPr lang="en-US" sz="1050" dirty="0">
                <a:solidFill>
                  <a:srgbClr val="F2F0F4"/>
                </a:solidFill>
                <a:latin typeface="Montserrat" pitchFamily="34" charset="0"/>
                <a:ea typeface="Montserrat" pitchFamily="34" charset="-122"/>
                <a:cs typeface="Montserrat" pitchFamily="34" charset="-120"/>
              </a:rPr>
              <a:t>6 Callback Utama</a:t>
            </a:r>
            <a:endParaRPr lang="en-US" sz="1050" dirty="0"/>
          </a:p>
        </p:txBody>
      </p:sp>
      <p:sp>
        <p:nvSpPr>
          <p:cNvPr id="15" name="Text 13"/>
          <p:cNvSpPr/>
          <p:nvPr/>
        </p:nvSpPr>
        <p:spPr>
          <a:xfrm>
            <a:off x="5677849" y="1645146"/>
            <a:ext cx="216986" cy="135632"/>
          </a:xfrm>
          <a:prstGeom prst="rect">
            <a:avLst/>
          </a:prstGeom>
          <a:noFill/>
          <a:ln/>
        </p:spPr>
        <p:txBody>
          <a:bodyPr wrap="none" lIns="0" tIns="0" rIns="0" bIns="0" rtlCol="0" anchor="ctr"/>
          <a:lstStyle/>
          <a:p>
            <a:pPr marL="0" indent="0" algn="l">
              <a:lnSpc>
                <a:spcPct val="100000"/>
              </a:lnSpc>
              <a:buNone/>
            </a:pPr>
            <a:r>
              <a:rPr lang="en-US" sz="850" dirty="0">
                <a:solidFill>
                  <a:srgbClr val="DCD7E5"/>
                </a:solidFill>
                <a:latin typeface="Montserrat Light" pitchFamily="34" charset="0"/>
                <a:ea typeface="Montserrat Light" pitchFamily="34" charset="-122"/>
                <a:cs typeface="Montserrat Light" pitchFamily="34" charset="-120"/>
              </a:rPr>
              <a:t>01</a:t>
            </a:r>
            <a:endParaRPr lang="en-US" sz="850" dirty="0"/>
          </a:p>
        </p:txBody>
      </p:sp>
      <p:sp>
        <p:nvSpPr>
          <p:cNvPr id="16" name="Shape 14"/>
          <p:cNvSpPr/>
          <p:nvPr/>
        </p:nvSpPr>
        <p:spPr>
          <a:xfrm>
            <a:off x="5677849" y="1816795"/>
            <a:ext cx="5858621" cy="12700"/>
          </a:xfrm>
          <a:prstGeom prst="rect">
            <a:avLst/>
          </a:prstGeom>
          <a:solidFill>
            <a:srgbClr val="581CA0"/>
          </a:solidFill>
          <a:ln/>
        </p:spPr>
        <p:txBody>
          <a:bodyPr/>
          <a:lstStyle/>
          <a:p>
            <a:endParaRPr lang="en-US"/>
          </a:p>
        </p:txBody>
      </p:sp>
      <p:sp>
        <p:nvSpPr>
          <p:cNvPr id="17" name="Text 15"/>
          <p:cNvSpPr/>
          <p:nvPr/>
        </p:nvSpPr>
        <p:spPr>
          <a:xfrm>
            <a:off x="5677849" y="1896368"/>
            <a:ext cx="5858621" cy="169466"/>
          </a:xfrm>
          <a:prstGeom prst="rect">
            <a:avLst/>
          </a:prstGeom>
          <a:noFill/>
          <a:ln/>
        </p:spPr>
        <p:txBody>
          <a:bodyPr wrap="none" lIns="0" tIns="0" rIns="0" bIns="0" rtlCol="0" anchor="t"/>
          <a:lstStyle/>
          <a:p>
            <a:pPr marL="0" indent="0" algn="l">
              <a:lnSpc>
                <a:spcPct val="104000"/>
              </a:lnSpc>
              <a:buNone/>
            </a:pPr>
            <a:r>
              <a:rPr lang="en-US" sz="1050" dirty="0">
                <a:solidFill>
                  <a:srgbClr val="DCD7E5"/>
                </a:solidFill>
                <a:latin typeface="Montserrat" pitchFamily="34" charset="0"/>
                <a:ea typeface="Montserrat" pitchFamily="34" charset="-122"/>
                <a:cs typeface="Montserrat" pitchFamily="34" charset="-120"/>
              </a:rPr>
              <a:t>onCreate()</a:t>
            </a:r>
            <a:endParaRPr lang="en-US" sz="1050" dirty="0"/>
          </a:p>
        </p:txBody>
      </p:sp>
      <p:sp>
        <p:nvSpPr>
          <p:cNvPr id="18" name="Text 16"/>
          <p:cNvSpPr/>
          <p:nvPr/>
        </p:nvSpPr>
        <p:spPr>
          <a:xfrm>
            <a:off x="5677849" y="2136973"/>
            <a:ext cx="5858621" cy="143768"/>
          </a:xfrm>
          <a:prstGeom prst="rect">
            <a:avLst/>
          </a:prstGeom>
          <a:noFill/>
          <a:ln/>
        </p:spPr>
        <p:txBody>
          <a:bodyPr wrap="none" lIns="0" tIns="0" rIns="0" bIns="0" rtlCol="0" anchor="t"/>
          <a:lstStyle/>
          <a:p>
            <a:pPr marL="0" indent="0" algn="l">
              <a:lnSpc>
                <a:spcPct val="110000"/>
              </a:lnSpc>
              <a:buNone/>
            </a:pPr>
            <a:r>
              <a:rPr lang="en-US" sz="850" dirty="0">
                <a:solidFill>
                  <a:srgbClr val="DCD7E5"/>
                </a:solidFill>
                <a:latin typeface="Heebo Light" pitchFamily="34" charset="0"/>
                <a:ea typeface="Heebo Light" pitchFamily="34" charset="-122"/>
                <a:cs typeface="Heebo Light" pitchFamily="34" charset="-120"/>
              </a:rPr>
              <a:t>Inisialisasi awal, mengatur layout UI. Hanya dipanggil sekali selama Activity hidup.</a:t>
            </a:r>
            <a:endParaRPr lang="en-US" sz="850" dirty="0"/>
          </a:p>
        </p:txBody>
      </p:sp>
      <p:sp>
        <p:nvSpPr>
          <p:cNvPr id="19" name="Text 17"/>
          <p:cNvSpPr/>
          <p:nvPr/>
        </p:nvSpPr>
        <p:spPr>
          <a:xfrm>
            <a:off x="5677849" y="2433241"/>
            <a:ext cx="216986" cy="135632"/>
          </a:xfrm>
          <a:prstGeom prst="rect">
            <a:avLst/>
          </a:prstGeom>
          <a:noFill/>
          <a:ln/>
        </p:spPr>
        <p:txBody>
          <a:bodyPr wrap="none" lIns="0" tIns="0" rIns="0" bIns="0" rtlCol="0" anchor="ctr"/>
          <a:lstStyle/>
          <a:p>
            <a:pPr marL="0" indent="0" algn="l">
              <a:lnSpc>
                <a:spcPct val="100000"/>
              </a:lnSpc>
              <a:buNone/>
            </a:pPr>
            <a:r>
              <a:rPr lang="en-US" sz="850" dirty="0">
                <a:solidFill>
                  <a:srgbClr val="DCD7E5"/>
                </a:solidFill>
                <a:latin typeface="Montserrat Light" pitchFamily="34" charset="0"/>
                <a:ea typeface="Montserrat Light" pitchFamily="34" charset="-122"/>
                <a:cs typeface="Montserrat Light" pitchFamily="34" charset="-120"/>
              </a:rPr>
              <a:t>02</a:t>
            </a:r>
            <a:endParaRPr lang="en-US" sz="850" dirty="0"/>
          </a:p>
        </p:txBody>
      </p:sp>
      <p:sp>
        <p:nvSpPr>
          <p:cNvPr id="20" name="Shape 18"/>
          <p:cNvSpPr/>
          <p:nvPr/>
        </p:nvSpPr>
        <p:spPr>
          <a:xfrm>
            <a:off x="5677849" y="2594074"/>
            <a:ext cx="5858621" cy="12700"/>
          </a:xfrm>
          <a:prstGeom prst="rect">
            <a:avLst/>
          </a:prstGeom>
          <a:solidFill>
            <a:srgbClr val="581CA0"/>
          </a:solidFill>
          <a:ln/>
        </p:spPr>
        <p:txBody>
          <a:bodyPr/>
          <a:lstStyle/>
          <a:p>
            <a:endParaRPr lang="en-US"/>
          </a:p>
        </p:txBody>
      </p:sp>
      <p:sp>
        <p:nvSpPr>
          <p:cNvPr id="21" name="Text 19"/>
          <p:cNvSpPr/>
          <p:nvPr/>
        </p:nvSpPr>
        <p:spPr>
          <a:xfrm>
            <a:off x="5677849" y="2684463"/>
            <a:ext cx="5858621" cy="169466"/>
          </a:xfrm>
          <a:prstGeom prst="rect">
            <a:avLst/>
          </a:prstGeom>
          <a:noFill/>
          <a:ln/>
        </p:spPr>
        <p:txBody>
          <a:bodyPr wrap="none" lIns="0" tIns="0" rIns="0" bIns="0" rtlCol="0" anchor="t"/>
          <a:lstStyle/>
          <a:p>
            <a:pPr marL="0" indent="0" algn="l">
              <a:lnSpc>
                <a:spcPct val="104000"/>
              </a:lnSpc>
              <a:buNone/>
            </a:pPr>
            <a:r>
              <a:rPr lang="en-US" sz="1050" dirty="0">
                <a:solidFill>
                  <a:srgbClr val="DCD7E5"/>
                </a:solidFill>
                <a:latin typeface="Montserrat" pitchFamily="34" charset="0"/>
                <a:ea typeface="Montserrat" pitchFamily="34" charset="-122"/>
                <a:cs typeface="Montserrat" pitchFamily="34" charset="-120"/>
              </a:rPr>
              <a:t>onStart()</a:t>
            </a:r>
            <a:endParaRPr lang="en-US" sz="1050" dirty="0"/>
          </a:p>
        </p:txBody>
      </p:sp>
      <p:sp>
        <p:nvSpPr>
          <p:cNvPr id="22" name="Text 20"/>
          <p:cNvSpPr/>
          <p:nvPr/>
        </p:nvSpPr>
        <p:spPr>
          <a:xfrm>
            <a:off x="5677849" y="2925068"/>
            <a:ext cx="5858621" cy="143768"/>
          </a:xfrm>
          <a:prstGeom prst="rect">
            <a:avLst/>
          </a:prstGeom>
          <a:noFill/>
          <a:ln/>
        </p:spPr>
        <p:txBody>
          <a:bodyPr wrap="none" lIns="0" tIns="0" rIns="0" bIns="0" rtlCol="0" anchor="t"/>
          <a:lstStyle/>
          <a:p>
            <a:pPr marL="0" indent="0" algn="l">
              <a:lnSpc>
                <a:spcPct val="110000"/>
              </a:lnSpc>
              <a:buNone/>
            </a:pPr>
            <a:r>
              <a:rPr lang="en-US" sz="850" dirty="0">
                <a:solidFill>
                  <a:srgbClr val="DCD7E5"/>
                </a:solidFill>
                <a:latin typeface="Heebo Light" pitchFamily="34" charset="0"/>
                <a:ea typeface="Heebo Light" pitchFamily="34" charset="-122"/>
                <a:cs typeface="Heebo Light" pitchFamily="34" charset="-120"/>
              </a:rPr>
              <a:t>Activity mulai terlihat oleh pengguna di layar.</a:t>
            </a:r>
            <a:endParaRPr lang="en-US" sz="850" dirty="0"/>
          </a:p>
        </p:txBody>
      </p:sp>
      <p:sp>
        <p:nvSpPr>
          <p:cNvPr id="23" name="Text 21"/>
          <p:cNvSpPr/>
          <p:nvPr/>
        </p:nvSpPr>
        <p:spPr>
          <a:xfrm>
            <a:off x="5677849" y="3221335"/>
            <a:ext cx="216986" cy="135632"/>
          </a:xfrm>
          <a:prstGeom prst="rect">
            <a:avLst/>
          </a:prstGeom>
          <a:noFill/>
          <a:ln/>
        </p:spPr>
        <p:txBody>
          <a:bodyPr wrap="none" lIns="0" tIns="0" rIns="0" bIns="0" rtlCol="0" anchor="ctr"/>
          <a:lstStyle/>
          <a:p>
            <a:pPr marL="0" indent="0" algn="l">
              <a:lnSpc>
                <a:spcPct val="100000"/>
              </a:lnSpc>
              <a:buNone/>
            </a:pPr>
            <a:r>
              <a:rPr lang="en-US" sz="850" dirty="0">
                <a:solidFill>
                  <a:srgbClr val="DCD7E5"/>
                </a:solidFill>
                <a:latin typeface="Montserrat Light" pitchFamily="34" charset="0"/>
                <a:ea typeface="Montserrat Light" pitchFamily="34" charset="-122"/>
                <a:cs typeface="Montserrat Light" pitchFamily="34" charset="-120"/>
              </a:rPr>
              <a:t>03</a:t>
            </a:r>
            <a:endParaRPr lang="en-US" sz="850" dirty="0"/>
          </a:p>
        </p:txBody>
      </p:sp>
      <p:sp>
        <p:nvSpPr>
          <p:cNvPr id="24" name="Shape 22"/>
          <p:cNvSpPr/>
          <p:nvPr/>
        </p:nvSpPr>
        <p:spPr>
          <a:xfrm>
            <a:off x="5677849" y="3371354"/>
            <a:ext cx="5858621" cy="12700"/>
          </a:xfrm>
          <a:prstGeom prst="rect">
            <a:avLst/>
          </a:prstGeom>
          <a:solidFill>
            <a:srgbClr val="581CA0"/>
          </a:solidFill>
          <a:ln/>
        </p:spPr>
        <p:txBody>
          <a:bodyPr/>
          <a:lstStyle/>
          <a:p>
            <a:endParaRPr lang="en-US"/>
          </a:p>
        </p:txBody>
      </p:sp>
      <p:sp>
        <p:nvSpPr>
          <p:cNvPr id="25" name="Text 23"/>
          <p:cNvSpPr/>
          <p:nvPr/>
        </p:nvSpPr>
        <p:spPr>
          <a:xfrm>
            <a:off x="5677849" y="3472557"/>
            <a:ext cx="5858621" cy="169466"/>
          </a:xfrm>
          <a:prstGeom prst="rect">
            <a:avLst/>
          </a:prstGeom>
          <a:noFill/>
          <a:ln/>
        </p:spPr>
        <p:txBody>
          <a:bodyPr wrap="none" lIns="0" tIns="0" rIns="0" bIns="0" rtlCol="0" anchor="t"/>
          <a:lstStyle/>
          <a:p>
            <a:pPr marL="0" indent="0" algn="l">
              <a:lnSpc>
                <a:spcPct val="104000"/>
              </a:lnSpc>
              <a:buNone/>
            </a:pPr>
            <a:r>
              <a:rPr lang="en-US" sz="1050" dirty="0">
                <a:solidFill>
                  <a:srgbClr val="DCD7E5"/>
                </a:solidFill>
                <a:latin typeface="Montserrat" pitchFamily="34" charset="0"/>
                <a:ea typeface="Montserrat" pitchFamily="34" charset="-122"/>
                <a:cs typeface="Montserrat" pitchFamily="34" charset="-120"/>
              </a:rPr>
              <a:t>onResume()</a:t>
            </a:r>
            <a:endParaRPr lang="en-US" sz="1050" dirty="0"/>
          </a:p>
        </p:txBody>
      </p:sp>
      <p:sp>
        <p:nvSpPr>
          <p:cNvPr id="26" name="Text 24"/>
          <p:cNvSpPr/>
          <p:nvPr/>
        </p:nvSpPr>
        <p:spPr>
          <a:xfrm>
            <a:off x="5677849" y="3713163"/>
            <a:ext cx="5858621" cy="143768"/>
          </a:xfrm>
          <a:prstGeom prst="rect">
            <a:avLst/>
          </a:prstGeom>
          <a:noFill/>
          <a:ln/>
        </p:spPr>
        <p:txBody>
          <a:bodyPr wrap="none" lIns="0" tIns="0" rIns="0" bIns="0" rtlCol="0" anchor="t"/>
          <a:lstStyle/>
          <a:p>
            <a:pPr marL="0" indent="0" algn="l">
              <a:lnSpc>
                <a:spcPct val="110000"/>
              </a:lnSpc>
              <a:buNone/>
            </a:pPr>
            <a:r>
              <a:rPr lang="en-US" sz="850" dirty="0">
                <a:solidFill>
                  <a:srgbClr val="DCD7E5"/>
                </a:solidFill>
                <a:latin typeface="Heebo Light" pitchFamily="34" charset="0"/>
                <a:ea typeface="Heebo Light" pitchFamily="34" charset="-122"/>
                <a:cs typeface="Heebo Light" pitchFamily="34" charset="-120"/>
              </a:rPr>
              <a:t>Activity di posisi paling depan, siap berinteraksi dengan pengguna.</a:t>
            </a:r>
            <a:endParaRPr lang="en-US" sz="850" dirty="0"/>
          </a:p>
        </p:txBody>
      </p:sp>
      <p:sp>
        <p:nvSpPr>
          <p:cNvPr id="27" name="Text 25"/>
          <p:cNvSpPr/>
          <p:nvPr/>
        </p:nvSpPr>
        <p:spPr>
          <a:xfrm>
            <a:off x="5677849" y="4009430"/>
            <a:ext cx="216986" cy="135632"/>
          </a:xfrm>
          <a:prstGeom prst="rect">
            <a:avLst/>
          </a:prstGeom>
          <a:noFill/>
          <a:ln/>
        </p:spPr>
        <p:txBody>
          <a:bodyPr wrap="none" lIns="0" tIns="0" rIns="0" bIns="0" rtlCol="0" anchor="ctr"/>
          <a:lstStyle/>
          <a:p>
            <a:pPr marL="0" indent="0" algn="l">
              <a:lnSpc>
                <a:spcPct val="100000"/>
              </a:lnSpc>
              <a:buNone/>
            </a:pPr>
            <a:r>
              <a:rPr lang="en-US" sz="850" dirty="0">
                <a:solidFill>
                  <a:srgbClr val="DCD7E5"/>
                </a:solidFill>
                <a:latin typeface="Montserrat Light" pitchFamily="34" charset="0"/>
                <a:ea typeface="Montserrat Light" pitchFamily="34" charset="-122"/>
                <a:cs typeface="Montserrat Light" pitchFamily="34" charset="-120"/>
              </a:rPr>
              <a:t>04</a:t>
            </a:r>
            <a:endParaRPr lang="en-US" sz="850" dirty="0"/>
          </a:p>
        </p:txBody>
      </p:sp>
      <p:sp>
        <p:nvSpPr>
          <p:cNvPr id="28" name="Shape 26"/>
          <p:cNvSpPr/>
          <p:nvPr/>
        </p:nvSpPr>
        <p:spPr>
          <a:xfrm>
            <a:off x="5677849" y="4148634"/>
            <a:ext cx="5858621" cy="12700"/>
          </a:xfrm>
          <a:prstGeom prst="rect">
            <a:avLst/>
          </a:prstGeom>
          <a:solidFill>
            <a:srgbClr val="581CA0"/>
          </a:solidFill>
          <a:ln/>
        </p:spPr>
        <p:txBody>
          <a:bodyPr/>
          <a:lstStyle/>
          <a:p>
            <a:endParaRPr lang="en-US"/>
          </a:p>
        </p:txBody>
      </p:sp>
      <p:sp>
        <p:nvSpPr>
          <p:cNvPr id="29" name="Text 27"/>
          <p:cNvSpPr/>
          <p:nvPr/>
        </p:nvSpPr>
        <p:spPr>
          <a:xfrm>
            <a:off x="5677849" y="4260652"/>
            <a:ext cx="5858621" cy="169466"/>
          </a:xfrm>
          <a:prstGeom prst="rect">
            <a:avLst/>
          </a:prstGeom>
          <a:noFill/>
          <a:ln/>
        </p:spPr>
        <p:txBody>
          <a:bodyPr wrap="none" lIns="0" tIns="0" rIns="0" bIns="0" rtlCol="0" anchor="t"/>
          <a:lstStyle/>
          <a:p>
            <a:pPr marL="0" indent="0" algn="l">
              <a:lnSpc>
                <a:spcPct val="104000"/>
              </a:lnSpc>
              <a:buNone/>
            </a:pPr>
            <a:r>
              <a:rPr lang="en-US" sz="1050" dirty="0">
                <a:solidFill>
                  <a:srgbClr val="DCD7E5"/>
                </a:solidFill>
                <a:latin typeface="Montserrat" pitchFamily="34" charset="0"/>
                <a:ea typeface="Montserrat" pitchFamily="34" charset="-122"/>
                <a:cs typeface="Montserrat" pitchFamily="34" charset="-120"/>
              </a:rPr>
              <a:t>onPause()</a:t>
            </a:r>
            <a:endParaRPr lang="en-US" sz="1050" dirty="0"/>
          </a:p>
        </p:txBody>
      </p:sp>
      <p:sp>
        <p:nvSpPr>
          <p:cNvPr id="30" name="Text 28"/>
          <p:cNvSpPr/>
          <p:nvPr/>
        </p:nvSpPr>
        <p:spPr>
          <a:xfrm>
            <a:off x="5677849" y="4501257"/>
            <a:ext cx="5858621" cy="143768"/>
          </a:xfrm>
          <a:prstGeom prst="rect">
            <a:avLst/>
          </a:prstGeom>
          <a:noFill/>
          <a:ln/>
        </p:spPr>
        <p:txBody>
          <a:bodyPr wrap="none" lIns="0" tIns="0" rIns="0" bIns="0" rtlCol="0" anchor="t"/>
          <a:lstStyle/>
          <a:p>
            <a:pPr marL="0" indent="0" algn="l">
              <a:lnSpc>
                <a:spcPct val="110000"/>
              </a:lnSpc>
              <a:buNone/>
            </a:pPr>
            <a:r>
              <a:rPr lang="en-US" sz="850" dirty="0">
                <a:solidFill>
                  <a:srgbClr val="DCD7E5"/>
                </a:solidFill>
                <a:latin typeface="Heebo Light" pitchFamily="34" charset="0"/>
                <a:ea typeface="Heebo Light" pitchFamily="34" charset="-122"/>
                <a:cs typeface="Heebo Light" pitchFamily="34" charset="-120"/>
              </a:rPr>
              <a:t>Activity kehilangan fokus — misalnya ada dialog pop-up muncul di atasnya.</a:t>
            </a:r>
            <a:endParaRPr lang="en-US" sz="850" dirty="0"/>
          </a:p>
        </p:txBody>
      </p:sp>
      <p:sp>
        <p:nvSpPr>
          <p:cNvPr id="31" name="Text 29"/>
          <p:cNvSpPr/>
          <p:nvPr/>
        </p:nvSpPr>
        <p:spPr>
          <a:xfrm>
            <a:off x="5677849" y="4797524"/>
            <a:ext cx="216986" cy="135632"/>
          </a:xfrm>
          <a:prstGeom prst="rect">
            <a:avLst/>
          </a:prstGeom>
          <a:noFill/>
          <a:ln/>
        </p:spPr>
        <p:txBody>
          <a:bodyPr wrap="none" lIns="0" tIns="0" rIns="0" bIns="0" rtlCol="0" anchor="ctr"/>
          <a:lstStyle/>
          <a:p>
            <a:pPr marL="0" indent="0" algn="l">
              <a:lnSpc>
                <a:spcPct val="100000"/>
              </a:lnSpc>
              <a:buNone/>
            </a:pPr>
            <a:r>
              <a:rPr lang="en-US" sz="850" dirty="0">
                <a:solidFill>
                  <a:srgbClr val="DCD7E5"/>
                </a:solidFill>
                <a:latin typeface="Montserrat Light" pitchFamily="34" charset="0"/>
                <a:ea typeface="Montserrat Light" pitchFamily="34" charset="-122"/>
                <a:cs typeface="Montserrat Light" pitchFamily="34" charset="-120"/>
              </a:rPr>
              <a:t>05</a:t>
            </a:r>
            <a:endParaRPr lang="en-US" sz="850" dirty="0"/>
          </a:p>
        </p:txBody>
      </p:sp>
      <p:sp>
        <p:nvSpPr>
          <p:cNvPr id="32" name="Shape 30"/>
          <p:cNvSpPr/>
          <p:nvPr/>
        </p:nvSpPr>
        <p:spPr>
          <a:xfrm>
            <a:off x="5677849" y="4925913"/>
            <a:ext cx="5858621" cy="12700"/>
          </a:xfrm>
          <a:prstGeom prst="rect">
            <a:avLst/>
          </a:prstGeom>
          <a:solidFill>
            <a:srgbClr val="581CA0"/>
          </a:solidFill>
          <a:ln/>
        </p:spPr>
        <p:txBody>
          <a:bodyPr/>
          <a:lstStyle/>
          <a:p>
            <a:endParaRPr lang="en-US"/>
          </a:p>
        </p:txBody>
      </p:sp>
      <p:sp>
        <p:nvSpPr>
          <p:cNvPr id="33" name="Text 31"/>
          <p:cNvSpPr/>
          <p:nvPr/>
        </p:nvSpPr>
        <p:spPr>
          <a:xfrm>
            <a:off x="5677849" y="5048746"/>
            <a:ext cx="5858621" cy="169466"/>
          </a:xfrm>
          <a:prstGeom prst="rect">
            <a:avLst/>
          </a:prstGeom>
          <a:noFill/>
          <a:ln/>
        </p:spPr>
        <p:txBody>
          <a:bodyPr wrap="none" lIns="0" tIns="0" rIns="0" bIns="0" rtlCol="0" anchor="t"/>
          <a:lstStyle/>
          <a:p>
            <a:pPr marL="0" indent="0" algn="l">
              <a:lnSpc>
                <a:spcPct val="104000"/>
              </a:lnSpc>
              <a:buNone/>
            </a:pPr>
            <a:r>
              <a:rPr lang="en-US" sz="1050" dirty="0">
                <a:solidFill>
                  <a:srgbClr val="DCD7E5"/>
                </a:solidFill>
                <a:latin typeface="Montserrat" pitchFamily="34" charset="0"/>
                <a:ea typeface="Montserrat" pitchFamily="34" charset="-122"/>
                <a:cs typeface="Montserrat" pitchFamily="34" charset="-120"/>
              </a:rPr>
              <a:t>onStop()</a:t>
            </a:r>
            <a:endParaRPr lang="en-US" sz="1050" dirty="0"/>
          </a:p>
        </p:txBody>
      </p:sp>
      <p:sp>
        <p:nvSpPr>
          <p:cNvPr id="34" name="Text 32"/>
          <p:cNvSpPr/>
          <p:nvPr/>
        </p:nvSpPr>
        <p:spPr>
          <a:xfrm>
            <a:off x="5677849" y="5289352"/>
            <a:ext cx="5858621" cy="143768"/>
          </a:xfrm>
          <a:prstGeom prst="rect">
            <a:avLst/>
          </a:prstGeom>
          <a:noFill/>
          <a:ln/>
        </p:spPr>
        <p:txBody>
          <a:bodyPr wrap="none" lIns="0" tIns="0" rIns="0" bIns="0" rtlCol="0" anchor="t"/>
          <a:lstStyle/>
          <a:p>
            <a:pPr marL="0" indent="0" algn="l">
              <a:lnSpc>
                <a:spcPct val="110000"/>
              </a:lnSpc>
              <a:buNone/>
            </a:pPr>
            <a:r>
              <a:rPr lang="en-US" sz="850" dirty="0">
                <a:solidFill>
                  <a:srgbClr val="DCD7E5"/>
                </a:solidFill>
                <a:latin typeface="Heebo Light" pitchFamily="34" charset="0"/>
                <a:ea typeface="Heebo Light" pitchFamily="34" charset="-122"/>
                <a:cs typeface="Heebo Light" pitchFamily="34" charset="-120"/>
              </a:rPr>
              <a:t>Activity sudah tidak terlihat lagi di layar.</a:t>
            </a:r>
            <a:endParaRPr lang="en-US" sz="850" dirty="0"/>
          </a:p>
        </p:txBody>
      </p:sp>
      <p:sp>
        <p:nvSpPr>
          <p:cNvPr id="35" name="Text 33"/>
          <p:cNvSpPr/>
          <p:nvPr/>
        </p:nvSpPr>
        <p:spPr>
          <a:xfrm>
            <a:off x="5677849" y="5585619"/>
            <a:ext cx="216986" cy="135632"/>
          </a:xfrm>
          <a:prstGeom prst="rect">
            <a:avLst/>
          </a:prstGeom>
          <a:noFill/>
          <a:ln/>
        </p:spPr>
        <p:txBody>
          <a:bodyPr wrap="none" lIns="0" tIns="0" rIns="0" bIns="0" rtlCol="0" anchor="ctr"/>
          <a:lstStyle/>
          <a:p>
            <a:pPr marL="0" indent="0" algn="l">
              <a:lnSpc>
                <a:spcPct val="100000"/>
              </a:lnSpc>
              <a:buNone/>
            </a:pPr>
            <a:r>
              <a:rPr lang="en-US" sz="850" dirty="0">
                <a:solidFill>
                  <a:srgbClr val="DCD7E5"/>
                </a:solidFill>
                <a:latin typeface="Montserrat Light" pitchFamily="34" charset="0"/>
                <a:ea typeface="Montserrat Light" pitchFamily="34" charset="-122"/>
                <a:cs typeface="Montserrat Light" pitchFamily="34" charset="-120"/>
              </a:rPr>
              <a:t>06</a:t>
            </a:r>
            <a:endParaRPr lang="en-US" sz="850" dirty="0"/>
          </a:p>
        </p:txBody>
      </p:sp>
      <p:sp>
        <p:nvSpPr>
          <p:cNvPr id="36" name="Shape 34"/>
          <p:cNvSpPr/>
          <p:nvPr/>
        </p:nvSpPr>
        <p:spPr>
          <a:xfrm>
            <a:off x="5677849" y="5703193"/>
            <a:ext cx="5858621" cy="12700"/>
          </a:xfrm>
          <a:prstGeom prst="rect">
            <a:avLst/>
          </a:prstGeom>
          <a:solidFill>
            <a:srgbClr val="581CA0"/>
          </a:solidFill>
          <a:ln/>
        </p:spPr>
        <p:txBody>
          <a:bodyPr/>
          <a:lstStyle/>
          <a:p>
            <a:endParaRPr lang="en-US"/>
          </a:p>
        </p:txBody>
      </p:sp>
      <p:sp>
        <p:nvSpPr>
          <p:cNvPr id="37" name="Text 35"/>
          <p:cNvSpPr/>
          <p:nvPr/>
        </p:nvSpPr>
        <p:spPr>
          <a:xfrm>
            <a:off x="5677849" y="5836841"/>
            <a:ext cx="5858621" cy="169466"/>
          </a:xfrm>
          <a:prstGeom prst="rect">
            <a:avLst/>
          </a:prstGeom>
          <a:noFill/>
          <a:ln/>
        </p:spPr>
        <p:txBody>
          <a:bodyPr wrap="none" lIns="0" tIns="0" rIns="0" bIns="0" rtlCol="0" anchor="t"/>
          <a:lstStyle/>
          <a:p>
            <a:pPr marL="0" indent="0" algn="l">
              <a:lnSpc>
                <a:spcPct val="104000"/>
              </a:lnSpc>
              <a:buNone/>
            </a:pPr>
            <a:r>
              <a:rPr lang="en-US" sz="1050" dirty="0">
                <a:solidFill>
                  <a:srgbClr val="DCD7E5"/>
                </a:solidFill>
                <a:latin typeface="Montserrat" pitchFamily="34" charset="0"/>
                <a:ea typeface="Montserrat" pitchFamily="34" charset="-122"/>
                <a:cs typeface="Montserrat" pitchFamily="34" charset="-120"/>
              </a:rPr>
              <a:t>onDestroy()</a:t>
            </a:r>
            <a:endParaRPr lang="en-US" sz="1050" dirty="0"/>
          </a:p>
        </p:txBody>
      </p:sp>
      <p:sp>
        <p:nvSpPr>
          <p:cNvPr id="38" name="Text 36"/>
          <p:cNvSpPr/>
          <p:nvPr/>
        </p:nvSpPr>
        <p:spPr>
          <a:xfrm>
            <a:off x="5677849" y="6077446"/>
            <a:ext cx="5858621" cy="143768"/>
          </a:xfrm>
          <a:prstGeom prst="rect">
            <a:avLst/>
          </a:prstGeom>
          <a:noFill/>
          <a:ln/>
        </p:spPr>
        <p:txBody>
          <a:bodyPr wrap="none" lIns="0" tIns="0" rIns="0" bIns="0" rtlCol="0" anchor="t"/>
          <a:lstStyle/>
          <a:p>
            <a:pPr marL="0" indent="0" algn="l">
              <a:lnSpc>
                <a:spcPct val="110000"/>
              </a:lnSpc>
              <a:buNone/>
            </a:pPr>
            <a:r>
              <a:rPr lang="en-US" sz="850" dirty="0">
                <a:solidFill>
                  <a:srgbClr val="DCD7E5"/>
                </a:solidFill>
                <a:latin typeface="Heebo Light" pitchFamily="34" charset="0"/>
                <a:ea typeface="Heebo Light" pitchFamily="34" charset="-122"/>
                <a:cs typeface="Heebo Light" pitchFamily="34" charset="-120"/>
              </a:rPr>
              <a:t>Activity dihancurkan dan dihapus dari memori sistem.</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24EFF25-E6D2-693F-DDEE-430917456D27}"/>
              </a:ext>
            </a:extLst>
          </p:cNvPr>
          <p:cNvSpPr/>
          <p:nvPr/>
        </p:nvSpPr>
        <p:spPr>
          <a:xfrm>
            <a:off x="661475" y="475357"/>
            <a:ext cx="10868745" cy="339130"/>
          </a:xfrm>
          <a:prstGeom prst="rect">
            <a:avLst/>
          </a:prstGeom>
          <a:noFill/>
          <a:ln/>
        </p:spPr>
        <p:txBody>
          <a:bodyPr wrap="none" lIns="0" tIns="0" rIns="0" bIns="0" rtlCol="0" anchor="t"/>
          <a:lstStyle/>
          <a:p>
            <a:pPr marL="0" indent="0" algn="l">
              <a:lnSpc>
                <a:spcPct val="104000"/>
              </a:lnSpc>
              <a:buNone/>
            </a:pPr>
            <a:r>
              <a:rPr lang="en-US" sz="2100" dirty="0">
                <a:solidFill>
                  <a:srgbClr val="F2F0F4"/>
                </a:solidFill>
                <a:latin typeface="Montserrat" pitchFamily="34" charset="0"/>
                <a:ea typeface="Montserrat" pitchFamily="34" charset="-122"/>
                <a:cs typeface="Montserrat" pitchFamily="34" charset="-120"/>
              </a:rPr>
              <a:t>Activity Lifecycle: </a:t>
            </a:r>
          </a:p>
          <a:p>
            <a:pPr marL="0" indent="0" algn="l">
              <a:lnSpc>
                <a:spcPct val="104000"/>
              </a:lnSpc>
              <a:buNone/>
            </a:pPr>
            <a:r>
              <a:rPr lang="en-US" sz="2100" dirty="0" err="1">
                <a:solidFill>
                  <a:srgbClr val="F2F0F4"/>
                </a:solidFill>
                <a:latin typeface="Montserrat" pitchFamily="34" charset="0"/>
                <a:ea typeface="Montserrat" pitchFamily="34" charset="-122"/>
                <a:cs typeface="Montserrat" pitchFamily="34" charset="-120"/>
              </a:rPr>
              <a:t>Siklus</a:t>
            </a:r>
            <a:r>
              <a:rPr lang="en-US" sz="2100" dirty="0">
                <a:solidFill>
                  <a:srgbClr val="F2F0F4"/>
                </a:solidFill>
                <a:latin typeface="Montserrat" pitchFamily="34" charset="0"/>
                <a:ea typeface="Montserrat" pitchFamily="34" charset="-122"/>
                <a:cs typeface="Montserrat" pitchFamily="34" charset="-120"/>
              </a:rPr>
              <a:t> Hidup Activity</a:t>
            </a:r>
            <a:endParaRPr lang="en-US" sz="2100" dirty="0"/>
          </a:p>
        </p:txBody>
      </p:sp>
      <p:pic>
        <p:nvPicPr>
          <p:cNvPr id="3" name="Picture 2">
            <a:extLst>
              <a:ext uri="{FF2B5EF4-FFF2-40B4-BE49-F238E27FC236}">
                <a16:creationId xmlns:a16="http://schemas.microsoft.com/office/drawing/2014/main" id="{3FE3309F-8532-C5CC-7161-D902FB86387F}"/>
              </a:ext>
            </a:extLst>
          </p:cNvPr>
          <p:cNvPicPr>
            <a:picLocks noChangeAspect="1"/>
          </p:cNvPicPr>
          <p:nvPr/>
        </p:nvPicPr>
        <p:blipFill>
          <a:blip r:embed="rId2"/>
          <a:stretch>
            <a:fillRect/>
          </a:stretch>
        </p:blipFill>
        <p:spPr>
          <a:xfrm>
            <a:off x="5121622" y="337362"/>
            <a:ext cx="4782231" cy="6183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97047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525859"/>
            <a:ext cx="10868745" cy="258465"/>
          </a:xfrm>
          <a:prstGeom prst="rect">
            <a:avLst/>
          </a:prstGeom>
          <a:noFill/>
          <a:ln/>
        </p:spPr>
        <p:txBody>
          <a:bodyPr wrap="none" lIns="0" tIns="0" rIns="0" bIns="0" rtlCol="0" anchor="t"/>
          <a:lstStyle/>
          <a:p>
            <a:pPr marL="0" indent="0" algn="l">
              <a:lnSpc>
                <a:spcPct val="104000"/>
              </a:lnSpc>
              <a:buNone/>
            </a:pPr>
            <a:r>
              <a:rPr lang="en-US" sz="1600" dirty="0">
                <a:solidFill>
                  <a:srgbClr val="F2F0F4"/>
                </a:solidFill>
                <a:latin typeface="Montserrat" pitchFamily="34" charset="0"/>
                <a:ea typeface="Montserrat" pitchFamily="34" charset="-122"/>
                <a:cs typeface="Montserrat" pitchFamily="34" charset="-120"/>
              </a:rPr>
              <a:t>Implementasi Activity Lifecycle dalam Kode</a:t>
            </a:r>
            <a:endParaRPr lang="en-US" sz="1600" dirty="0"/>
          </a:p>
        </p:txBody>
      </p:sp>
      <p:sp>
        <p:nvSpPr>
          <p:cNvPr id="3" name="Text 1"/>
          <p:cNvSpPr/>
          <p:nvPr/>
        </p:nvSpPr>
        <p:spPr>
          <a:xfrm>
            <a:off x="661475" y="866973"/>
            <a:ext cx="11478330" cy="99120"/>
          </a:xfrm>
          <a:prstGeom prst="rect">
            <a:avLst/>
          </a:prstGeom>
          <a:noFill/>
          <a:ln/>
        </p:spPr>
        <p:txBody>
          <a:bodyPr wrap="none" lIns="0" tIns="0" rIns="0" bIns="0" rtlCol="0" anchor="t"/>
          <a:lstStyle/>
          <a:p>
            <a:pPr marL="0" indent="0" algn="l">
              <a:lnSpc>
                <a:spcPct val="100000"/>
              </a:lnSpc>
              <a:buNone/>
            </a:pPr>
            <a:r>
              <a:rPr lang="en-US" sz="650" dirty="0">
                <a:solidFill>
                  <a:srgbClr val="DCD7E5"/>
                </a:solidFill>
                <a:latin typeface="Heebo Light" pitchFamily="34" charset="0"/>
                <a:ea typeface="Heebo Light" pitchFamily="34" charset="-122"/>
                <a:cs typeface="Heebo Light" pitchFamily="34" charset="-120"/>
              </a:rPr>
              <a:t>Setiap callback lifecycle di-override di dalam kelas Activity. Berikut adalah contoh implementasi lengkap dengan penjelasan kapan masing-masing dipanggil.</a:t>
            </a:r>
            <a:endParaRPr lang="en-US" sz="650" dirty="0"/>
          </a:p>
        </p:txBody>
      </p:sp>
      <p:sp>
        <p:nvSpPr>
          <p:cNvPr id="4" name="Text 2"/>
          <p:cNvSpPr/>
          <p:nvPr/>
        </p:nvSpPr>
        <p:spPr>
          <a:xfrm>
            <a:off x="661475" y="1053802"/>
            <a:ext cx="5886997" cy="129183"/>
          </a:xfrm>
          <a:prstGeom prst="rect">
            <a:avLst/>
          </a:prstGeom>
          <a:noFill/>
          <a:ln/>
        </p:spPr>
        <p:txBody>
          <a:bodyPr wrap="none" lIns="0" tIns="0" rIns="0" bIns="0" rtlCol="0" anchor="t"/>
          <a:lstStyle/>
          <a:p>
            <a:pPr marL="0" indent="0" algn="l">
              <a:lnSpc>
                <a:spcPct val="104000"/>
              </a:lnSpc>
              <a:buNone/>
            </a:pPr>
            <a:r>
              <a:rPr lang="en-US" sz="800" dirty="0">
                <a:solidFill>
                  <a:srgbClr val="F2F0F4"/>
                </a:solidFill>
                <a:latin typeface="Montserrat" pitchFamily="34" charset="0"/>
                <a:ea typeface="Montserrat" pitchFamily="34" charset="-122"/>
                <a:cs typeface="Montserrat" pitchFamily="34" charset="-120"/>
              </a:rPr>
              <a:t>Contoh Implementasi Kotlin</a:t>
            </a:r>
            <a:endParaRPr lang="en-US" sz="800" dirty="0"/>
          </a:p>
        </p:txBody>
      </p:sp>
      <p:sp>
        <p:nvSpPr>
          <p:cNvPr id="5" name="Shape 3"/>
          <p:cNvSpPr/>
          <p:nvPr/>
        </p:nvSpPr>
        <p:spPr>
          <a:xfrm>
            <a:off x="661475" y="1229420"/>
            <a:ext cx="5886997" cy="4790877"/>
          </a:xfrm>
          <a:prstGeom prst="roundRect">
            <a:avLst>
              <a:gd name="adj" fmla="val 725"/>
            </a:avLst>
          </a:prstGeom>
          <a:solidFill>
            <a:srgbClr val="1A1739"/>
          </a:solidFill>
          <a:ln/>
        </p:spPr>
        <p:txBody>
          <a:bodyPr/>
          <a:lstStyle/>
          <a:p>
            <a:endParaRPr lang="en-US"/>
          </a:p>
        </p:txBody>
      </p:sp>
      <p:sp>
        <p:nvSpPr>
          <p:cNvPr id="6" name="Text 4"/>
          <p:cNvSpPr/>
          <p:nvPr/>
        </p:nvSpPr>
        <p:spPr>
          <a:xfrm>
            <a:off x="760691" y="1312069"/>
            <a:ext cx="5688565" cy="4625578"/>
          </a:xfrm>
          <a:prstGeom prst="rect">
            <a:avLst/>
          </a:prstGeom>
          <a:noFill/>
          <a:ln/>
        </p:spPr>
        <p:txBody>
          <a:bodyPr wrap="square" lIns="0" tIns="0" rIns="0" bIns="0" rtlCol="0" anchor="t">
            <a:normAutofit/>
          </a:bodyPr>
          <a:lstStyle/>
          <a:p>
            <a:pPr marL="0" indent="0" algn="l">
              <a:lnSpc>
                <a:spcPct val="133000"/>
              </a:lnSpc>
              <a:buNone/>
            </a:pP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class MainActivity : AppCompatActivity() {</a:t>
            </a:r>
            <a:endParaRPr lang="en-US" sz="650" dirty="0"/>
          </a:p>
          <a:p>
            <a:pPr marL="0" indent="0" algn="l">
              <a:lnSpc>
                <a:spcPct val="133000"/>
              </a:lnSpc>
              <a:buNone/>
            </a:pP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override fun onCreate(savedInstanceState: Bundle?) {</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super.onCreate(savedInstanceState)</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setContent { MyApp() } // Jetpack Compose</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 Inisialisasi ViewModel, data, dll.</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a:t>
            </a:r>
            <a:endParaRPr lang="en-US" sz="650" dirty="0"/>
          </a:p>
          <a:p>
            <a:pPr marL="0" indent="0" algn="l">
              <a:lnSpc>
                <a:spcPct val="133000"/>
              </a:lnSpc>
              <a:buNone/>
            </a:pP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override fun onStart() {</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super.onStart()</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 Activity mulai terlihat</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a:t>
            </a:r>
            <a:endParaRPr lang="en-US" sz="650" dirty="0"/>
          </a:p>
          <a:p>
            <a:pPr marL="0" indent="0" algn="l">
              <a:lnSpc>
                <a:spcPct val="133000"/>
              </a:lnSpc>
              <a:buNone/>
            </a:pP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override fun onResume() {</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super.onResume()</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 Mulai animasi, sensor, kamera</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a:t>
            </a:r>
            <a:endParaRPr lang="en-US" sz="650" dirty="0"/>
          </a:p>
          <a:p>
            <a:pPr marL="0" indent="0" algn="l">
              <a:lnSpc>
                <a:spcPct val="133000"/>
              </a:lnSpc>
              <a:buNone/>
            </a:pP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override fun onPause() {</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super.onPause()</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 Hentikan animasi, simpan draft</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a:t>
            </a:r>
            <a:endParaRPr lang="en-US" sz="650" dirty="0"/>
          </a:p>
          <a:p>
            <a:pPr marL="0" indent="0" algn="l">
              <a:lnSpc>
                <a:spcPct val="133000"/>
              </a:lnSpc>
              <a:buNone/>
            </a:pP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override fun onStop() {</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super.onStop()</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 Lepas resource berat</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a:t>
            </a:r>
            <a:endParaRPr lang="en-US" sz="650" dirty="0"/>
          </a:p>
          <a:p>
            <a:pPr marL="0" indent="0" algn="l">
              <a:lnSpc>
                <a:spcPct val="133000"/>
              </a:lnSpc>
              <a:buNone/>
            </a:pP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override fun onDestroy() {</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super.onDestroy()</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 Bersihkan semua resource</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a:t>
            </a:r>
            <a:endParaRPr lang="en-US" sz="650" dirty="0"/>
          </a:p>
          <a:p>
            <a:pPr marL="0" indent="0" algn="l">
              <a:lnSpc>
                <a:spcPct val="133000"/>
              </a:lnSpc>
              <a:buNone/>
            </a:pPr>
            <a:r>
              <a:rPr lang="en-US" sz="650" dirty="0">
                <a:solidFill>
                  <a:srgbClr val="E6EDF3"/>
                </a:solidFill>
                <a:latin typeface="Consolas" pitchFamily="34" charset="0"/>
                <a:ea typeface="Consolas" pitchFamily="34" charset="-122"/>
                <a:cs typeface="Consolas" pitchFamily="34" charset="-120"/>
              </a:rPr>
              <a:t>        </a:t>
            </a:r>
            <a:endParaRPr lang="en-US" sz="650" dirty="0"/>
          </a:p>
        </p:txBody>
      </p:sp>
      <p:sp>
        <p:nvSpPr>
          <p:cNvPr id="7" name="Text 5"/>
          <p:cNvSpPr/>
          <p:nvPr/>
        </p:nvSpPr>
        <p:spPr>
          <a:xfrm>
            <a:off x="6756429" y="1053802"/>
            <a:ext cx="4780041" cy="129183"/>
          </a:xfrm>
          <a:prstGeom prst="rect">
            <a:avLst/>
          </a:prstGeom>
          <a:noFill/>
          <a:ln/>
        </p:spPr>
        <p:txBody>
          <a:bodyPr wrap="none" lIns="0" tIns="0" rIns="0" bIns="0" rtlCol="0" anchor="t"/>
          <a:lstStyle/>
          <a:p>
            <a:pPr marL="0" indent="0" algn="l">
              <a:lnSpc>
                <a:spcPct val="104000"/>
              </a:lnSpc>
              <a:buNone/>
            </a:pPr>
            <a:r>
              <a:rPr lang="en-US" sz="800" dirty="0">
                <a:solidFill>
                  <a:srgbClr val="F2F0F4"/>
                </a:solidFill>
                <a:latin typeface="Montserrat" pitchFamily="34" charset="0"/>
                <a:ea typeface="Montserrat" pitchFamily="34" charset="-122"/>
                <a:cs typeface="Montserrat" pitchFamily="34" charset="-120"/>
              </a:rPr>
              <a:t>Panduan Praktis</a:t>
            </a:r>
            <a:endParaRPr lang="en-US" sz="800"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56429" y="1229420"/>
            <a:ext cx="4780041" cy="460276"/>
          </a:xfrm>
          <a:prstGeom prst="rect">
            <a:avLst/>
          </a:prstGeom>
        </p:spPr>
      </p:pic>
      <p:sp>
        <p:nvSpPr>
          <p:cNvPr id="9" name="Text 6"/>
          <p:cNvSpPr/>
          <p:nvPr/>
        </p:nvSpPr>
        <p:spPr>
          <a:xfrm>
            <a:off x="6902575" y="1324769"/>
            <a:ext cx="4538549" cy="129183"/>
          </a:xfrm>
          <a:prstGeom prst="rect">
            <a:avLst/>
          </a:prstGeom>
          <a:noFill/>
          <a:ln/>
        </p:spPr>
        <p:txBody>
          <a:bodyPr wrap="none" lIns="0" tIns="0" rIns="0" bIns="0" rtlCol="0" anchor="t"/>
          <a:lstStyle/>
          <a:p>
            <a:pPr marL="0" indent="0" algn="l">
              <a:lnSpc>
                <a:spcPct val="104000"/>
              </a:lnSpc>
              <a:buNone/>
            </a:pPr>
            <a:r>
              <a:rPr lang="en-US" sz="800" dirty="0">
                <a:solidFill>
                  <a:srgbClr val="DCD7E5"/>
                </a:solidFill>
                <a:latin typeface="Montserrat" pitchFamily="34" charset="0"/>
                <a:ea typeface="Montserrat" pitchFamily="34" charset="-122"/>
                <a:cs typeface="Montserrat" pitchFamily="34" charset="-120"/>
              </a:rPr>
              <a:t>onCreate() — Wajib</a:t>
            </a:r>
            <a:endParaRPr lang="en-US" sz="800" dirty="0"/>
          </a:p>
        </p:txBody>
      </p:sp>
      <p:sp>
        <p:nvSpPr>
          <p:cNvPr id="10" name="Text 7"/>
          <p:cNvSpPr/>
          <p:nvPr/>
        </p:nvSpPr>
        <p:spPr>
          <a:xfrm>
            <a:off x="6902575" y="1495227"/>
            <a:ext cx="4538549" cy="99120"/>
          </a:xfrm>
          <a:prstGeom prst="rect">
            <a:avLst/>
          </a:prstGeom>
          <a:noFill/>
          <a:ln/>
        </p:spPr>
        <p:txBody>
          <a:bodyPr wrap="none" lIns="0" tIns="0" rIns="0" bIns="0" rtlCol="0" anchor="t"/>
          <a:lstStyle/>
          <a:p>
            <a:pPr marL="0" indent="0" algn="l">
              <a:lnSpc>
                <a:spcPct val="100000"/>
              </a:lnSpc>
              <a:buNone/>
            </a:pPr>
            <a:r>
              <a:rPr lang="en-US" sz="650" dirty="0">
                <a:solidFill>
                  <a:srgbClr val="DCD7E5"/>
                </a:solidFill>
                <a:latin typeface="Heebo Light" pitchFamily="34" charset="0"/>
                <a:ea typeface="Heebo Light" pitchFamily="34" charset="-122"/>
                <a:cs typeface="Heebo Light" pitchFamily="34" charset="-120"/>
              </a:rPr>
              <a:t>Selalu panggil super.onCreate(). Gunakan setContent{} untuk Compose atau setContentView() untuk XML.</a:t>
            </a:r>
            <a:endParaRPr lang="en-US" sz="65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56429" y="1730970"/>
            <a:ext cx="4780041" cy="460276"/>
          </a:xfrm>
          <a:prstGeom prst="rect">
            <a:avLst/>
          </a:prstGeom>
        </p:spPr>
      </p:pic>
      <p:sp>
        <p:nvSpPr>
          <p:cNvPr id="12" name="Text 8"/>
          <p:cNvSpPr/>
          <p:nvPr/>
        </p:nvSpPr>
        <p:spPr>
          <a:xfrm>
            <a:off x="6902575" y="1826320"/>
            <a:ext cx="4538549" cy="129183"/>
          </a:xfrm>
          <a:prstGeom prst="rect">
            <a:avLst/>
          </a:prstGeom>
          <a:noFill/>
          <a:ln/>
        </p:spPr>
        <p:txBody>
          <a:bodyPr wrap="none" lIns="0" tIns="0" rIns="0" bIns="0" rtlCol="0" anchor="t"/>
          <a:lstStyle/>
          <a:p>
            <a:pPr marL="0" indent="0" algn="l">
              <a:lnSpc>
                <a:spcPct val="104000"/>
              </a:lnSpc>
              <a:buNone/>
            </a:pPr>
            <a:r>
              <a:rPr lang="en-US" sz="800" dirty="0">
                <a:solidFill>
                  <a:srgbClr val="DCD7E5"/>
                </a:solidFill>
                <a:latin typeface="Montserrat" pitchFamily="34" charset="0"/>
                <a:ea typeface="Montserrat" pitchFamily="34" charset="-122"/>
                <a:cs typeface="Montserrat" pitchFamily="34" charset="-120"/>
              </a:rPr>
              <a:t>onPause() &amp; onStop()</a:t>
            </a:r>
            <a:endParaRPr lang="en-US" sz="800" dirty="0"/>
          </a:p>
        </p:txBody>
      </p:sp>
      <p:sp>
        <p:nvSpPr>
          <p:cNvPr id="13" name="Text 9"/>
          <p:cNvSpPr/>
          <p:nvPr/>
        </p:nvSpPr>
        <p:spPr>
          <a:xfrm>
            <a:off x="6902575" y="1996777"/>
            <a:ext cx="4538549" cy="99120"/>
          </a:xfrm>
          <a:prstGeom prst="rect">
            <a:avLst/>
          </a:prstGeom>
          <a:noFill/>
          <a:ln/>
        </p:spPr>
        <p:txBody>
          <a:bodyPr wrap="none" lIns="0" tIns="0" rIns="0" bIns="0" rtlCol="0" anchor="t"/>
          <a:lstStyle/>
          <a:p>
            <a:pPr marL="0" indent="0" algn="l">
              <a:lnSpc>
                <a:spcPct val="100000"/>
              </a:lnSpc>
              <a:buNone/>
            </a:pPr>
            <a:r>
              <a:rPr lang="en-US" sz="650" dirty="0">
                <a:solidFill>
                  <a:srgbClr val="DCD7E5"/>
                </a:solidFill>
                <a:latin typeface="Heebo Light" pitchFamily="34" charset="0"/>
                <a:ea typeface="Heebo Light" pitchFamily="34" charset="-122"/>
                <a:cs typeface="Heebo Light" pitchFamily="34" charset="-120"/>
              </a:rPr>
              <a:t>Simpan data penting dan hentikan operasi yang mengonsumsi baterai (GPS, kamera, animasi).</a:t>
            </a:r>
            <a:endParaRPr lang="en-US" sz="65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56429" y="2232521"/>
            <a:ext cx="4780041" cy="460276"/>
          </a:xfrm>
          <a:prstGeom prst="rect">
            <a:avLst/>
          </a:prstGeom>
        </p:spPr>
      </p:pic>
      <p:sp>
        <p:nvSpPr>
          <p:cNvPr id="15" name="Text 10"/>
          <p:cNvSpPr/>
          <p:nvPr/>
        </p:nvSpPr>
        <p:spPr>
          <a:xfrm>
            <a:off x="6902575" y="2327870"/>
            <a:ext cx="4538549" cy="129183"/>
          </a:xfrm>
          <a:prstGeom prst="rect">
            <a:avLst/>
          </a:prstGeom>
          <a:noFill/>
          <a:ln/>
        </p:spPr>
        <p:txBody>
          <a:bodyPr wrap="none" lIns="0" tIns="0" rIns="0" bIns="0" rtlCol="0" anchor="t"/>
          <a:lstStyle/>
          <a:p>
            <a:pPr marL="0" indent="0" algn="l">
              <a:lnSpc>
                <a:spcPct val="104000"/>
              </a:lnSpc>
              <a:buNone/>
            </a:pPr>
            <a:r>
              <a:rPr lang="en-US" sz="800" dirty="0">
                <a:solidFill>
                  <a:srgbClr val="DCD7E5"/>
                </a:solidFill>
                <a:latin typeface="Montserrat" pitchFamily="34" charset="0"/>
                <a:ea typeface="Montserrat" pitchFamily="34" charset="-122"/>
                <a:cs typeface="Montserrat" pitchFamily="34" charset="-120"/>
              </a:rPr>
              <a:t>onDestroy()</a:t>
            </a:r>
            <a:endParaRPr lang="en-US" sz="800" dirty="0"/>
          </a:p>
        </p:txBody>
      </p:sp>
      <p:sp>
        <p:nvSpPr>
          <p:cNvPr id="16" name="Text 11"/>
          <p:cNvSpPr/>
          <p:nvPr/>
        </p:nvSpPr>
        <p:spPr>
          <a:xfrm>
            <a:off x="6902575" y="2498328"/>
            <a:ext cx="4538549" cy="99120"/>
          </a:xfrm>
          <a:prstGeom prst="rect">
            <a:avLst/>
          </a:prstGeom>
          <a:noFill/>
          <a:ln/>
        </p:spPr>
        <p:txBody>
          <a:bodyPr wrap="none" lIns="0" tIns="0" rIns="0" bIns="0" rtlCol="0" anchor="t"/>
          <a:lstStyle/>
          <a:p>
            <a:pPr marL="0" indent="0" algn="l">
              <a:lnSpc>
                <a:spcPct val="100000"/>
              </a:lnSpc>
              <a:buNone/>
            </a:pPr>
            <a:r>
              <a:rPr lang="en-US" sz="650" dirty="0">
                <a:solidFill>
                  <a:srgbClr val="DCD7E5"/>
                </a:solidFill>
                <a:latin typeface="Heebo Light" pitchFamily="34" charset="0"/>
                <a:ea typeface="Heebo Light" pitchFamily="34" charset="-122"/>
                <a:cs typeface="Heebo Light" pitchFamily="34" charset="-120"/>
              </a:rPr>
              <a:t>Lepas semua referensi untuk mencegah memory leak. Jangan pandalkan onDestroy() untuk menyimpan data.</a:t>
            </a:r>
            <a:endParaRPr lang="en-US" sz="650" dirty="0"/>
          </a:p>
        </p:txBody>
      </p:sp>
      <p:sp>
        <p:nvSpPr>
          <p:cNvPr id="17" name="Shape 12"/>
          <p:cNvSpPr/>
          <p:nvPr/>
        </p:nvSpPr>
        <p:spPr>
          <a:xfrm>
            <a:off x="661475" y="6113165"/>
            <a:ext cx="10868745" cy="218877"/>
          </a:xfrm>
          <a:prstGeom prst="roundRect">
            <a:avLst>
              <a:gd name="adj" fmla="val 15868"/>
            </a:avLst>
          </a:prstGeom>
          <a:solidFill>
            <a:srgbClr val="31136C"/>
          </a:solidFill>
          <a:ln/>
        </p:spPr>
        <p:txBody>
          <a:bodyPr/>
          <a:lstStyle/>
          <a:p>
            <a:endParaRPr lang="en-US"/>
          </a:p>
        </p:txBody>
      </p:sp>
      <p:pic>
        <p:nvPicPr>
          <p:cNvPr id="18" name="Image 3" descr="preencoded.png"/>
          <p:cNvPicPr>
            <a:picLocks noChangeAspect="1"/>
          </p:cNvPicPr>
          <p:nvPr/>
        </p:nvPicPr>
        <p:blipFill>
          <a:blip r:embed="rId4"/>
          <a:stretch>
            <a:fillRect/>
          </a:stretch>
        </p:blipFill>
        <p:spPr>
          <a:xfrm>
            <a:off x="744122" y="6175077"/>
            <a:ext cx="103284" cy="82649"/>
          </a:xfrm>
          <a:prstGeom prst="rect">
            <a:avLst/>
          </a:prstGeom>
        </p:spPr>
      </p:pic>
      <p:sp>
        <p:nvSpPr>
          <p:cNvPr id="19" name="Text 13"/>
          <p:cNvSpPr/>
          <p:nvPr/>
        </p:nvSpPr>
        <p:spPr>
          <a:xfrm>
            <a:off x="930053" y="6175077"/>
            <a:ext cx="11127104" cy="99120"/>
          </a:xfrm>
          <a:prstGeom prst="rect">
            <a:avLst/>
          </a:prstGeom>
          <a:noFill/>
          <a:ln/>
        </p:spPr>
        <p:txBody>
          <a:bodyPr wrap="none" lIns="0" tIns="0" rIns="0" bIns="0" rtlCol="0" anchor="t"/>
          <a:lstStyle/>
          <a:p>
            <a:pPr marL="0" indent="0" algn="l">
              <a:lnSpc>
                <a:spcPct val="100000"/>
              </a:lnSpc>
              <a:buNone/>
            </a:pPr>
            <a:r>
              <a:rPr lang="en-US" sz="650" dirty="0">
                <a:solidFill>
                  <a:srgbClr val="FFFFFF"/>
                </a:solidFill>
                <a:latin typeface="Heebo Light" pitchFamily="34" charset="0"/>
                <a:ea typeface="Heebo Light" pitchFamily="34" charset="-122"/>
                <a:cs typeface="Heebo Light" pitchFamily="34" charset="-120"/>
              </a:rPr>
              <a:t>Dengan Jetpack Compose, setContentView() digantikan oleh setContent { } — namun siklus hidup Activity tetap berlaku.</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457498"/>
            <a:ext cx="10868745" cy="492621"/>
          </a:xfrm>
          <a:prstGeom prst="rect">
            <a:avLst/>
          </a:prstGeom>
          <a:noFill/>
          <a:ln/>
        </p:spPr>
        <p:txBody>
          <a:bodyPr wrap="none" lIns="0" tIns="0" rIns="0" bIns="0" rtlCol="0" anchor="t"/>
          <a:lstStyle/>
          <a:p>
            <a:pPr marL="0" indent="0" algn="l">
              <a:lnSpc>
                <a:spcPct val="104000"/>
              </a:lnSpc>
              <a:buNone/>
            </a:pPr>
            <a:r>
              <a:rPr lang="en-US" sz="3100" dirty="0">
                <a:solidFill>
                  <a:srgbClr val="F2F0F4"/>
                </a:solidFill>
                <a:latin typeface="Montserrat" pitchFamily="34" charset="0"/>
                <a:ea typeface="Montserrat" pitchFamily="34" charset="-122"/>
                <a:cs typeface="Montserrat" pitchFamily="34" charset="-120"/>
              </a:rPr>
              <a:t>Perbandingan UI Imperatif vs Deklaratif</a:t>
            </a:r>
            <a:endParaRPr lang="en-US" sz="3100" dirty="0"/>
          </a:p>
        </p:txBody>
      </p:sp>
      <p:sp>
        <p:nvSpPr>
          <p:cNvPr id="3" name="Shape 1"/>
          <p:cNvSpPr/>
          <p:nvPr/>
        </p:nvSpPr>
        <p:spPr>
          <a:xfrm>
            <a:off x="661475" y="1344414"/>
            <a:ext cx="1907730" cy="239415"/>
          </a:xfrm>
          <a:prstGeom prst="roundRect">
            <a:avLst>
              <a:gd name="adj" fmla="val 22123"/>
            </a:avLst>
          </a:prstGeom>
          <a:solidFill>
            <a:srgbClr val="1E0C41"/>
          </a:solidFill>
          <a:ln/>
        </p:spPr>
        <p:txBody>
          <a:bodyPr/>
          <a:lstStyle/>
          <a:p>
            <a:endParaRPr lang="en-US"/>
          </a:p>
        </p:txBody>
      </p:sp>
      <p:sp>
        <p:nvSpPr>
          <p:cNvPr id="4" name="Text 2"/>
          <p:cNvSpPr/>
          <p:nvPr/>
        </p:nvSpPr>
        <p:spPr>
          <a:xfrm>
            <a:off x="756028" y="1391642"/>
            <a:ext cx="2328209" cy="144959"/>
          </a:xfrm>
          <a:prstGeom prst="rect">
            <a:avLst/>
          </a:prstGeom>
          <a:noFill/>
          <a:ln/>
        </p:spPr>
        <p:txBody>
          <a:bodyPr wrap="none" lIns="0" tIns="0" rIns="0" bIns="0" rtlCol="0" anchor="t"/>
          <a:lstStyle/>
          <a:p>
            <a:pPr marL="0" indent="0" algn="l">
              <a:lnSpc>
                <a:spcPct val="96000"/>
              </a:lnSpc>
              <a:buNone/>
            </a:pPr>
            <a:r>
              <a:rPr lang="en-US" sz="950" dirty="0">
                <a:solidFill>
                  <a:srgbClr val="000000"/>
                </a:solidFill>
                <a:latin typeface="Twemoji Mozilla" pitchFamily="34" charset="0"/>
                <a:ea typeface="Twemoji Mozilla" pitchFamily="34" charset="-122"/>
                <a:cs typeface="Twemoji Mozilla" pitchFamily="34" charset="-120"/>
              </a:rPr>
              <a:t>⚠️</a:t>
            </a:r>
            <a:r>
              <a:rPr lang="en-US" sz="950" dirty="0">
                <a:solidFill>
                  <a:srgbClr val="DCD7E5"/>
                </a:solidFill>
                <a:latin typeface="Heebo Light" pitchFamily="34" charset="0"/>
                <a:ea typeface="Heebo Light" pitchFamily="34" charset="-122"/>
                <a:cs typeface="Heebo Light" pitchFamily="34" charset="-120"/>
              </a:rPr>
              <a:t> LEGACY — XML IMPERATIF</a:t>
            </a:r>
            <a:endParaRPr lang="en-US" sz="950" dirty="0"/>
          </a:p>
        </p:txBody>
      </p:sp>
      <p:sp>
        <p:nvSpPr>
          <p:cNvPr id="5" name="Text 3"/>
          <p:cNvSpPr/>
          <p:nvPr/>
        </p:nvSpPr>
        <p:spPr>
          <a:xfrm>
            <a:off x="661475" y="1643856"/>
            <a:ext cx="5242092" cy="246261"/>
          </a:xfrm>
          <a:prstGeom prst="rect">
            <a:avLst/>
          </a:prstGeom>
          <a:noFill/>
          <a:ln/>
        </p:spPr>
        <p:txBody>
          <a:bodyPr wrap="none" lIns="0" tIns="0" rIns="0" bIns="0" rtlCol="0" anchor="t"/>
          <a:lstStyle/>
          <a:p>
            <a:pPr marL="0" indent="0" algn="l">
              <a:lnSpc>
                <a:spcPct val="104000"/>
              </a:lnSpc>
              <a:buNone/>
            </a:pPr>
            <a:r>
              <a:rPr lang="en-US" sz="1550" dirty="0">
                <a:solidFill>
                  <a:srgbClr val="F2F0F4"/>
                </a:solidFill>
                <a:latin typeface="Montserrat" pitchFamily="34" charset="0"/>
                <a:ea typeface="Montserrat" pitchFamily="34" charset="-122"/>
                <a:cs typeface="Montserrat" pitchFamily="34" charset="-120"/>
              </a:rPr>
              <a:t>Karakteristik Pendekatan Imperatif</a:t>
            </a:r>
            <a:endParaRPr lang="en-US" sz="1550" dirty="0"/>
          </a:p>
        </p:txBody>
      </p:sp>
      <p:sp>
        <p:nvSpPr>
          <p:cNvPr id="6" name="Text 4"/>
          <p:cNvSpPr/>
          <p:nvPr/>
        </p:nvSpPr>
        <p:spPr>
          <a:xfrm>
            <a:off x="661475" y="2040334"/>
            <a:ext cx="5242092" cy="1168202"/>
          </a:xfrm>
          <a:prstGeom prst="rect">
            <a:avLst/>
          </a:prstGeom>
          <a:noFill/>
          <a:ln/>
        </p:spPr>
        <p:txBody>
          <a:bodyPr wrap="square" lIns="0" tIns="63055" rIns="0" bIns="0" rtlCol="0" anchor="t">
            <a:normAutofit/>
          </a:bodyPr>
          <a:lstStyle/>
          <a:p>
            <a:pPr marL="243840" indent="-243840" algn="l">
              <a:lnSpc>
                <a:spcPct val="130000"/>
              </a:lnSpc>
              <a:buSzPct val="100000"/>
              <a:buChar char="•"/>
            </a:pPr>
            <a:r>
              <a:rPr lang="en-US" sz="1200" dirty="0">
                <a:solidFill>
                  <a:srgbClr val="DCD7E5"/>
                </a:solidFill>
                <a:latin typeface="Heebo Light" pitchFamily="34" charset="0"/>
                <a:ea typeface="Heebo Light" pitchFamily="34" charset="-122"/>
                <a:cs typeface="Heebo Light" pitchFamily="34" charset="-120"/>
              </a:rPr>
              <a:t>Definisi tampilan di file </a:t>
            </a:r>
            <a:r>
              <a:rPr lang="en-US" sz="1200" dirty="0">
                <a:solidFill>
                  <a:srgbClr val="DCD7E5"/>
                </a:solidFill>
                <a:highlight>
                  <a:srgbClr val="1A1739"/>
                </a:highlight>
                <a:latin typeface="Consolas" pitchFamily="34" charset="0"/>
                <a:ea typeface="Consolas" pitchFamily="34" charset="-122"/>
                <a:cs typeface="Consolas" pitchFamily="34" charset="-120"/>
              </a:rPr>
              <a:t>.xml</a:t>
            </a:r>
            <a:r>
              <a:rPr lang="en-US" sz="1200" dirty="0">
                <a:solidFill>
                  <a:srgbClr val="DCD7E5"/>
                </a:solidFill>
                <a:latin typeface="Heebo Light" pitchFamily="34" charset="0"/>
                <a:ea typeface="Heebo Light" pitchFamily="34" charset="-122"/>
                <a:cs typeface="Heebo Light" pitchFamily="34" charset="-120"/>
              </a:rPr>
              <a:t>, logika di </a:t>
            </a:r>
            <a:r>
              <a:rPr lang="en-US" sz="1200" dirty="0">
                <a:solidFill>
                  <a:srgbClr val="DCD7E5"/>
                </a:solidFill>
                <a:highlight>
                  <a:srgbClr val="1A1739"/>
                </a:highlight>
                <a:latin typeface="Consolas" pitchFamily="34" charset="0"/>
                <a:ea typeface="Consolas" pitchFamily="34" charset="-122"/>
                <a:cs typeface="Consolas" pitchFamily="34" charset="-120"/>
              </a:rPr>
              <a:t>.kt</a:t>
            </a:r>
            <a:r>
              <a:rPr lang="en-US" sz="1200" dirty="0">
                <a:solidFill>
                  <a:srgbClr val="DCD7E5"/>
                </a:solidFill>
                <a:latin typeface="Heebo Light" pitchFamily="34" charset="0"/>
                <a:ea typeface="Heebo Light" pitchFamily="34" charset="-122"/>
                <a:cs typeface="Heebo Light" pitchFamily="34" charset="-120"/>
              </a:rPr>
              <a:t> / </a:t>
            </a:r>
            <a:r>
              <a:rPr lang="en-US" sz="1200" dirty="0">
                <a:solidFill>
                  <a:srgbClr val="DCD7E5"/>
                </a:solidFill>
                <a:highlight>
                  <a:srgbClr val="1A1739"/>
                </a:highlight>
                <a:latin typeface="Consolas" pitchFamily="34" charset="0"/>
                <a:ea typeface="Consolas" pitchFamily="34" charset="-122"/>
                <a:cs typeface="Consolas" pitchFamily="34" charset="-120"/>
              </a:rPr>
              <a:t>.java</a:t>
            </a:r>
            <a:endParaRPr lang="en-US" sz="1200" dirty="0"/>
          </a:p>
          <a:p>
            <a:pPr marL="243840" indent="-243840" algn="l">
              <a:lnSpc>
                <a:spcPct val="130000"/>
              </a:lnSpc>
              <a:buSzPct val="100000"/>
              <a:buChar char="•"/>
            </a:pPr>
            <a:r>
              <a:rPr lang="en-US" sz="1200" dirty="0">
                <a:solidFill>
                  <a:srgbClr val="DCD7E5"/>
                </a:solidFill>
                <a:latin typeface="Heebo Light" pitchFamily="34" charset="0"/>
                <a:ea typeface="Heebo Light" pitchFamily="34" charset="-122"/>
                <a:cs typeface="Heebo Light" pitchFamily="34" charset="-120"/>
              </a:rPr>
              <a:t>Akses view via </a:t>
            </a:r>
            <a:r>
              <a:rPr lang="en-US" sz="1200" dirty="0">
                <a:solidFill>
                  <a:srgbClr val="DCD7E5"/>
                </a:solidFill>
                <a:highlight>
                  <a:srgbClr val="1A1739"/>
                </a:highlight>
                <a:latin typeface="Consolas" pitchFamily="34" charset="0"/>
                <a:ea typeface="Consolas" pitchFamily="34" charset="-122"/>
                <a:cs typeface="Consolas" pitchFamily="34" charset="-120"/>
              </a:rPr>
              <a:t>findViewById()</a:t>
            </a:r>
            <a:r>
              <a:rPr lang="en-US" sz="1200" dirty="0">
                <a:solidFill>
                  <a:srgbClr val="DCD7E5"/>
                </a:solidFill>
                <a:latin typeface="Heebo Light" pitchFamily="34" charset="0"/>
                <a:ea typeface="Heebo Light" pitchFamily="34" charset="-122"/>
                <a:cs typeface="Heebo Light" pitchFamily="34" charset="-120"/>
              </a:rPr>
              <a:t> atau View Binding</a:t>
            </a:r>
            <a:endParaRPr lang="en-US" sz="1200" dirty="0"/>
          </a:p>
          <a:p>
            <a:pPr marL="243840" indent="-243840" algn="l">
              <a:lnSpc>
                <a:spcPct val="130000"/>
              </a:lnSpc>
              <a:buSzPct val="100000"/>
              <a:buChar char="•"/>
            </a:pPr>
            <a:r>
              <a:rPr lang="en-US" sz="1200" dirty="0">
                <a:solidFill>
                  <a:srgbClr val="DCD7E5"/>
                </a:solidFill>
                <a:latin typeface="Heebo Light" pitchFamily="34" charset="0"/>
                <a:ea typeface="Heebo Light" pitchFamily="34" charset="-122"/>
                <a:cs typeface="Heebo Light" pitchFamily="34" charset="-120"/>
              </a:rPr>
              <a:t>Manipulasi pohon view secara manual</a:t>
            </a:r>
            <a:endParaRPr lang="en-US" sz="1200" dirty="0"/>
          </a:p>
          <a:p>
            <a:pPr marL="243840" indent="-243840" algn="l">
              <a:lnSpc>
                <a:spcPct val="130000"/>
              </a:lnSpc>
              <a:buSzPct val="100000"/>
              <a:buChar char="•"/>
            </a:pPr>
            <a:r>
              <a:rPr lang="en-US" sz="1200" dirty="0">
                <a:solidFill>
                  <a:srgbClr val="DCD7E5"/>
                </a:solidFill>
                <a:latin typeface="Heebo Light" pitchFamily="34" charset="0"/>
                <a:ea typeface="Heebo Light" pitchFamily="34" charset="-122"/>
                <a:cs typeface="Heebo Light" pitchFamily="34" charset="-120"/>
              </a:rPr>
              <a:t>Risiko </a:t>
            </a:r>
            <a:r>
              <a:rPr lang="en-US" sz="1200" i="1" dirty="0">
                <a:solidFill>
                  <a:srgbClr val="DCD7E5"/>
                </a:solidFill>
                <a:latin typeface="Heebo Light" pitchFamily="34" charset="0"/>
                <a:ea typeface="Heebo Light" pitchFamily="34" charset="-122"/>
                <a:cs typeface="Heebo Light" pitchFamily="34" charset="-120"/>
              </a:rPr>
              <a:t>out-of-sync</a:t>
            </a:r>
            <a:r>
              <a:rPr lang="en-US" sz="1200" dirty="0">
                <a:solidFill>
                  <a:srgbClr val="DCD7E5"/>
                </a:solidFill>
                <a:latin typeface="Heebo Light" pitchFamily="34" charset="0"/>
                <a:ea typeface="Heebo Light" pitchFamily="34" charset="-122"/>
                <a:cs typeface="Heebo Light" pitchFamily="34" charset="-120"/>
              </a:rPr>
              <a:t> antara state dan tampilan</a:t>
            </a:r>
            <a:endParaRPr lang="en-US" sz="1200" dirty="0"/>
          </a:p>
        </p:txBody>
      </p:sp>
      <p:sp>
        <p:nvSpPr>
          <p:cNvPr id="7" name="Shape 5"/>
          <p:cNvSpPr/>
          <p:nvPr/>
        </p:nvSpPr>
        <p:spPr>
          <a:xfrm>
            <a:off x="661475" y="3377505"/>
            <a:ext cx="5242092" cy="1828403"/>
          </a:xfrm>
          <a:prstGeom prst="roundRect">
            <a:avLst>
              <a:gd name="adj" fmla="val 3621"/>
            </a:avLst>
          </a:prstGeom>
          <a:solidFill>
            <a:srgbClr val="1A1739"/>
          </a:solidFill>
          <a:ln/>
        </p:spPr>
        <p:txBody>
          <a:bodyPr/>
          <a:lstStyle/>
          <a:p>
            <a:endParaRPr lang="en-US"/>
          </a:p>
        </p:txBody>
      </p:sp>
      <p:sp>
        <p:nvSpPr>
          <p:cNvPr id="8" name="Text 6"/>
          <p:cNvSpPr/>
          <p:nvPr/>
        </p:nvSpPr>
        <p:spPr>
          <a:xfrm>
            <a:off x="850581" y="3535065"/>
            <a:ext cx="4863879" cy="1513284"/>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8B949E"/>
                </a:solidFill>
                <a:latin typeface="Consolas" pitchFamily="34" charset="0"/>
                <a:ea typeface="Consolas" pitchFamily="34" charset="-122"/>
                <a:cs typeface="Consolas" pitchFamily="34" charset="-120"/>
              </a:rPr>
              <a:t>// Imperatif (XML + Kotlin)</a:t>
            </a:r>
            <a:endParaRPr lang="en-US" sz="1200" dirty="0"/>
          </a:p>
          <a:p>
            <a:pPr marL="0" indent="0" algn="l">
              <a:lnSpc>
                <a:spcPct val="133000"/>
              </a:lnSpc>
              <a:buNone/>
            </a:pPr>
            <a:r>
              <a:rPr lang="en-US" sz="1200" dirty="0">
                <a:solidFill>
                  <a:srgbClr val="8B949E"/>
                </a:solidFill>
                <a:latin typeface="Consolas" pitchFamily="34" charset="0"/>
                <a:ea typeface="Consolas" pitchFamily="34" charset="-122"/>
                <a:cs typeface="Consolas" pitchFamily="34" charset="-120"/>
              </a:rPr>
              <a:t>val tvName = findViewById&lt;TextView&gt;(</a:t>
            </a:r>
            <a:endParaRPr lang="en-US" sz="1200" dirty="0"/>
          </a:p>
          <a:p>
            <a:pPr marL="0" indent="0" algn="l">
              <a:lnSpc>
                <a:spcPct val="133000"/>
              </a:lnSpc>
              <a:buNone/>
            </a:pPr>
            <a:r>
              <a:rPr lang="en-US" sz="1200" dirty="0">
                <a:solidFill>
                  <a:srgbClr val="8B949E"/>
                </a:solidFill>
                <a:latin typeface="Consolas" pitchFamily="34" charset="0"/>
                <a:ea typeface="Consolas" pitchFamily="34" charset="-122"/>
                <a:cs typeface="Consolas" pitchFamily="34" charset="-120"/>
              </a:rPr>
              <a:t>    R.id.tvName</a:t>
            </a:r>
            <a:endParaRPr lang="en-US" sz="1200" dirty="0"/>
          </a:p>
          <a:p>
            <a:pPr marL="0" indent="0" algn="l">
              <a:lnSpc>
                <a:spcPct val="133000"/>
              </a:lnSpc>
              <a:buNone/>
            </a:pPr>
            <a:r>
              <a:rPr lang="en-US" sz="1200" dirty="0">
                <a:solidFill>
                  <a:srgbClr val="8B949E"/>
                </a:solidFill>
                <a:latin typeface="Consolas" pitchFamily="34" charset="0"/>
                <a:ea typeface="Consolas" pitchFamily="34" charset="-122"/>
                <a:cs typeface="Consolas" pitchFamily="34" charset="-120"/>
              </a:rPr>
              <a:t>)</a:t>
            </a:r>
            <a:endParaRPr lang="en-US" sz="1200" dirty="0"/>
          </a:p>
          <a:p>
            <a:pPr marL="0" indent="0" algn="l">
              <a:lnSpc>
                <a:spcPct val="133000"/>
              </a:lnSpc>
              <a:buNone/>
            </a:pPr>
            <a:r>
              <a:rPr lang="en-US" sz="1200" dirty="0">
                <a:solidFill>
                  <a:srgbClr val="8B949E"/>
                </a:solidFill>
                <a:latin typeface="Consolas" pitchFamily="34" charset="0"/>
                <a:ea typeface="Consolas" pitchFamily="34" charset="-122"/>
                <a:cs typeface="Consolas" pitchFamily="34" charset="-120"/>
              </a:rPr>
              <a:t>tvName.text = "Halo, Mahasiswa!"</a:t>
            </a:r>
            <a:endParaRPr lang="en-US" sz="1200" dirty="0"/>
          </a:p>
          <a:p>
            <a:pPr marL="0" indent="0" algn="l">
              <a:lnSpc>
                <a:spcPct val="133000"/>
              </a:lnSpc>
              <a:buNone/>
            </a:pPr>
            <a:r>
              <a:rPr lang="en-US" sz="1200" dirty="0">
                <a:solidFill>
                  <a:srgbClr val="8B949E"/>
                </a:solidFill>
                <a:latin typeface="Consolas" pitchFamily="34" charset="0"/>
                <a:ea typeface="Consolas" pitchFamily="34" charset="-122"/>
                <a:cs typeface="Consolas" pitchFamily="34" charset="-120"/>
              </a:rPr>
              <a:t>tvName.visibility = View.VISIBLE</a:t>
            </a:r>
            <a:endParaRPr lang="en-US" sz="1200" dirty="0"/>
          </a:p>
        </p:txBody>
      </p:sp>
      <p:sp>
        <p:nvSpPr>
          <p:cNvPr id="9" name="Shape 7"/>
          <p:cNvSpPr/>
          <p:nvPr/>
        </p:nvSpPr>
        <p:spPr>
          <a:xfrm>
            <a:off x="6180975" y="1175445"/>
            <a:ext cx="5469098" cy="4199434"/>
          </a:xfrm>
          <a:prstGeom prst="roundRect">
            <a:avLst>
              <a:gd name="adj" fmla="val 2703"/>
            </a:avLst>
          </a:prstGeom>
          <a:solidFill>
            <a:srgbClr val="481C9E">
              <a:alpha val="95000"/>
            </a:srgbClr>
          </a:solidFill>
          <a:ln/>
        </p:spPr>
        <p:txBody>
          <a:bodyPr/>
          <a:lstStyle/>
          <a:p>
            <a:endParaRPr lang="en-US"/>
          </a:p>
        </p:txBody>
      </p:sp>
      <p:sp>
        <p:nvSpPr>
          <p:cNvPr id="10" name="Shape 8"/>
          <p:cNvSpPr/>
          <p:nvPr/>
        </p:nvSpPr>
        <p:spPr>
          <a:xfrm>
            <a:off x="6338530" y="1344414"/>
            <a:ext cx="2200815" cy="239415"/>
          </a:xfrm>
          <a:prstGeom prst="roundRect">
            <a:avLst>
              <a:gd name="adj" fmla="val 22123"/>
            </a:avLst>
          </a:prstGeom>
          <a:solidFill>
            <a:srgbClr val="1E0C41"/>
          </a:solidFill>
          <a:ln/>
        </p:spPr>
        <p:txBody>
          <a:bodyPr/>
          <a:lstStyle/>
          <a:p>
            <a:endParaRPr lang="en-US"/>
          </a:p>
        </p:txBody>
      </p:sp>
      <p:sp>
        <p:nvSpPr>
          <p:cNvPr id="11" name="Text 9"/>
          <p:cNvSpPr/>
          <p:nvPr/>
        </p:nvSpPr>
        <p:spPr>
          <a:xfrm>
            <a:off x="6433084" y="1391642"/>
            <a:ext cx="2621294" cy="144959"/>
          </a:xfrm>
          <a:prstGeom prst="rect">
            <a:avLst/>
          </a:prstGeom>
          <a:noFill/>
          <a:ln/>
        </p:spPr>
        <p:txBody>
          <a:bodyPr wrap="none" lIns="0" tIns="0" rIns="0" bIns="0" rtlCol="0" anchor="t"/>
          <a:lstStyle/>
          <a:p>
            <a:pPr marL="0" indent="0" algn="l">
              <a:lnSpc>
                <a:spcPct val="96000"/>
              </a:lnSpc>
              <a:buNone/>
            </a:pPr>
            <a:r>
              <a:rPr lang="en-US" sz="950" dirty="0">
                <a:solidFill>
                  <a:srgbClr val="000000"/>
                </a:solidFill>
                <a:latin typeface="Twemoji Mozilla" pitchFamily="34" charset="0"/>
                <a:ea typeface="Twemoji Mozilla" pitchFamily="34" charset="-122"/>
                <a:cs typeface="Twemoji Mozilla" pitchFamily="34" charset="-120"/>
              </a:rPr>
              <a:t>✅</a:t>
            </a:r>
            <a:r>
              <a:rPr lang="en-US" sz="950" dirty="0">
                <a:solidFill>
                  <a:srgbClr val="DCD7E5"/>
                </a:solidFill>
                <a:latin typeface="Heebo Light" pitchFamily="34" charset="0"/>
                <a:ea typeface="Heebo Light" pitchFamily="34" charset="-122"/>
                <a:cs typeface="Heebo Light" pitchFamily="34" charset="-120"/>
              </a:rPr>
              <a:t> MODERN — JETPACK COMPOSE</a:t>
            </a:r>
            <a:endParaRPr lang="en-US" sz="950" dirty="0"/>
          </a:p>
        </p:txBody>
      </p:sp>
      <p:sp>
        <p:nvSpPr>
          <p:cNvPr id="12" name="Text 10"/>
          <p:cNvSpPr/>
          <p:nvPr/>
        </p:nvSpPr>
        <p:spPr>
          <a:xfrm>
            <a:off x="6338530" y="1643856"/>
            <a:ext cx="5153987" cy="246261"/>
          </a:xfrm>
          <a:prstGeom prst="rect">
            <a:avLst/>
          </a:prstGeom>
          <a:noFill/>
          <a:ln/>
        </p:spPr>
        <p:txBody>
          <a:bodyPr wrap="none" lIns="0" tIns="0" rIns="0" bIns="0" rtlCol="0" anchor="t"/>
          <a:lstStyle/>
          <a:p>
            <a:pPr marL="0" indent="0" algn="l">
              <a:lnSpc>
                <a:spcPct val="104000"/>
              </a:lnSpc>
              <a:buNone/>
            </a:pPr>
            <a:r>
              <a:rPr lang="en-US" sz="1550" dirty="0">
                <a:solidFill>
                  <a:srgbClr val="F2F0F4"/>
                </a:solidFill>
                <a:latin typeface="Montserrat" pitchFamily="34" charset="0"/>
                <a:ea typeface="Montserrat" pitchFamily="34" charset="-122"/>
                <a:cs typeface="Montserrat" pitchFamily="34" charset="-120"/>
              </a:rPr>
              <a:t>Karakteristik Pendekatan Deklaratif</a:t>
            </a:r>
            <a:endParaRPr lang="en-US" sz="1550" dirty="0"/>
          </a:p>
        </p:txBody>
      </p:sp>
      <p:sp>
        <p:nvSpPr>
          <p:cNvPr id="13" name="Text 11"/>
          <p:cNvSpPr/>
          <p:nvPr/>
        </p:nvSpPr>
        <p:spPr>
          <a:xfrm>
            <a:off x="6338530" y="2040334"/>
            <a:ext cx="5153987" cy="1142802"/>
          </a:xfrm>
          <a:prstGeom prst="rect">
            <a:avLst/>
          </a:prstGeom>
          <a:noFill/>
          <a:ln/>
        </p:spPr>
        <p:txBody>
          <a:bodyPr wrap="square" lIns="0" tIns="63055" rIns="0" bIns="0" rtlCol="0" anchor="t">
            <a:normAutofit/>
          </a:bodyPr>
          <a:lstStyle/>
          <a:p>
            <a:pPr marL="243840" indent="-243840" algn="l">
              <a:lnSpc>
                <a:spcPct val="130000"/>
              </a:lnSpc>
              <a:buSzPct val="100000"/>
              <a:buChar char="•"/>
            </a:pPr>
            <a:r>
              <a:rPr lang="en-US" sz="1200" dirty="0">
                <a:solidFill>
                  <a:srgbClr val="DCD7E5"/>
                </a:solidFill>
                <a:latin typeface="Heebo Light" pitchFamily="34" charset="0"/>
                <a:ea typeface="Heebo Light" pitchFamily="34" charset="-122"/>
                <a:cs typeface="Heebo Light" pitchFamily="34" charset="-120"/>
              </a:rPr>
              <a:t>UI dideskripsikan langsung dalam kode Kotlin</a:t>
            </a:r>
            <a:endParaRPr lang="en-US" sz="1200" dirty="0"/>
          </a:p>
          <a:p>
            <a:pPr marL="243840" indent="-243840" algn="l">
              <a:lnSpc>
                <a:spcPct val="130000"/>
              </a:lnSpc>
              <a:buSzPct val="100000"/>
              <a:buChar char="•"/>
            </a:pPr>
            <a:r>
              <a:rPr lang="en-US" sz="1200" dirty="0">
                <a:solidFill>
                  <a:srgbClr val="DCD7E5"/>
                </a:solidFill>
                <a:latin typeface="Heebo Light" pitchFamily="34" charset="0"/>
                <a:ea typeface="Heebo Light" pitchFamily="34" charset="-122"/>
                <a:cs typeface="Heebo Light" pitchFamily="34" charset="-120"/>
              </a:rPr>
              <a:t>State berubah → UI otomatis </a:t>
            </a:r>
            <a:r>
              <a:rPr lang="en-US" sz="1200" i="1" dirty="0">
                <a:solidFill>
                  <a:srgbClr val="DCD7E5"/>
                </a:solidFill>
                <a:latin typeface="Heebo Light" pitchFamily="34" charset="0"/>
                <a:ea typeface="Heebo Light" pitchFamily="34" charset="-122"/>
                <a:cs typeface="Heebo Light" pitchFamily="34" charset="-120"/>
              </a:rPr>
              <a:t>recompose</a:t>
            </a:r>
            <a:endParaRPr lang="en-US" sz="1200" dirty="0"/>
          </a:p>
          <a:p>
            <a:pPr marL="243840" indent="-243840" algn="l">
              <a:lnSpc>
                <a:spcPct val="130000"/>
              </a:lnSpc>
              <a:buSzPct val="100000"/>
              <a:buChar char="•"/>
            </a:pPr>
            <a:r>
              <a:rPr lang="en-US" sz="1200" dirty="0">
                <a:solidFill>
                  <a:srgbClr val="DCD7E5"/>
                </a:solidFill>
                <a:latin typeface="Heebo Light" pitchFamily="34" charset="0"/>
                <a:ea typeface="Heebo Light" pitchFamily="34" charset="-122"/>
                <a:cs typeface="Heebo Light" pitchFamily="34" charset="-120"/>
              </a:rPr>
              <a:t>Tidak ada manipulasi view manual</a:t>
            </a:r>
            <a:endParaRPr lang="en-US" sz="1200" dirty="0"/>
          </a:p>
          <a:p>
            <a:pPr marL="243840" indent="-243840" algn="l">
              <a:lnSpc>
                <a:spcPct val="130000"/>
              </a:lnSpc>
              <a:buSzPct val="100000"/>
              <a:buChar char="•"/>
            </a:pPr>
            <a:r>
              <a:rPr lang="en-US" sz="1200" dirty="0">
                <a:solidFill>
                  <a:srgbClr val="DCD7E5"/>
                </a:solidFill>
                <a:latin typeface="Heebo Light" pitchFamily="34" charset="0"/>
                <a:ea typeface="Heebo Light" pitchFamily="34" charset="-122"/>
                <a:cs typeface="Heebo Light" pitchFamily="34" charset="-120"/>
              </a:rPr>
              <a:t>Satu sumber kebenaran: </a:t>
            </a:r>
            <a:r>
              <a:rPr lang="en-US" sz="1200" b="1" dirty="0">
                <a:solidFill>
                  <a:srgbClr val="DCD7E5"/>
                </a:solidFill>
                <a:latin typeface="Heebo Bold" pitchFamily="34" charset="0"/>
                <a:ea typeface="Heebo Bold" pitchFamily="34" charset="-122"/>
                <a:cs typeface="Heebo Bold" pitchFamily="34" charset="-120"/>
              </a:rPr>
              <a:t>UI = f(State)</a:t>
            </a:r>
            <a:endParaRPr lang="en-US" sz="1200" dirty="0"/>
          </a:p>
        </p:txBody>
      </p:sp>
      <p:sp>
        <p:nvSpPr>
          <p:cNvPr id="14" name="Shape 12"/>
          <p:cNvSpPr/>
          <p:nvPr/>
        </p:nvSpPr>
        <p:spPr>
          <a:xfrm>
            <a:off x="6338530" y="3352105"/>
            <a:ext cx="5153987" cy="1576189"/>
          </a:xfrm>
          <a:prstGeom prst="roundRect">
            <a:avLst>
              <a:gd name="adj" fmla="val 4201"/>
            </a:avLst>
          </a:prstGeom>
          <a:solidFill>
            <a:srgbClr val="5529AB"/>
          </a:solidFill>
          <a:ln/>
        </p:spPr>
        <p:txBody>
          <a:bodyPr/>
          <a:lstStyle/>
          <a:p>
            <a:endParaRPr lang="en-US"/>
          </a:p>
        </p:txBody>
      </p:sp>
      <p:sp>
        <p:nvSpPr>
          <p:cNvPr id="15" name="Text 13"/>
          <p:cNvSpPr/>
          <p:nvPr/>
        </p:nvSpPr>
        <p:spPr>
          <a:xfrm>
            <a:off x="6527637" y="3509665"/>
            <a:ext cx="4775775" cy="126107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8B949E"/>
                </a:solidFill>
                <a:latin typeface="Consolas" pitchFamily="34" charset="0"/>
                <a:ea typeface="Consolas" pitchFamily="34" charset="-122"/>
                <a:cs typeface="Consolas" pitchFamily="34" charset="-120"/>
              </a:rPr>
              <a:t>// Deklaratif (Jetpack Compose)</a:t>
            </a:r>
            <a:endParaRPr lang="en-US" sz="1200" dirty="0"/>
          </a:p>
          <a:p>
            <a:pPr marL="0" indent="0" algn="l">
              <a:lnSpc>
                <a:spcPct val="133000"/>
              </a:lnSpc>
              <a:buNone/>
            </a:pPr>
            <a:r>
              <a:rPr lang="en-US" sz="1200" dirty="0">
                <a:solidFill>
                  <a:srgbClr val="8B949E"/>
                </a:solidFill>
                <a:latin typeface="Consolas" pitchFamily="34" charset="0"/>
                <a:ea typeface="Consolas" pitchFamily="34" charset="-122"/>
                <a:cs typeface="Consolas" pitchFamily="34" charset="-120"/>
              </a:rPr>
              <a:t>@Composable</a:t>
            </a:r>
            <a:endParaRPr lang="en-US" sz="1200" dirty="0"/>
          </a:p>
          <a:p>
            <a:pPr marL="0" indent="0" algn="l">
              <a:lnSpc>
                <a:spcPct val="133000"/>
              </a:lnSpc>
              <a:buNone/>
            </a:pPr>
            <a:r>
              <a:rPr lang="en-US" sz="1200" dirty="0">
                <a:solidFill>
                  <a:srgbClr val="8B949E"/>
                </a:solidFill>
                <a:latin typeface="Consolas" pitchFamily="34" charset="0"/>
                <a:ea typeface="Consolas" pitchFamily="34" charset="-122"/>
                <a:cs typeface="Consolas" pitchFamily="34" charset="-120"/>
              </a:rPr>
              <a:t>fun Greeting(name: String) {</a:t>
            </a:r>
            <a:endParaRPr lang="en-US" sz="1200" dirty="0"/>
          </a:p>
          <a:p>
            <a:pPr marL="0" indent="0" algn="l">
              <a:lnSpc>
                <a:spcPct val="133000"/>
              </a:lnSpc>
              <a:buNone/>
            </a:pPr>
            <a:r>
              <a:rPr lang="en-US" sz="1200" dirty="0">
                <a:solidFill>
                  <a:srgbClr val="8B949E"/>
                </a:solidFill>
                <a:latin typeface="Consolas" pitchFamily="34" charset="0"/>
                <a:ea typeface="Consolas" pitchFamily="34" charset="-122"/>
                <a:cs typeface="Consolas" pitchFamily="34" charset="-120"/>
              </a:rPr>
              <a:t>    Text(text = "Halo, $name!")</a:t>
            </a:r>
            <a:endParaRPr lang="en-US" sz="1200" dirty="0"/>
          </a:p>
          <a:p>
            <a:pPr marL="0" indent="0" algn="l">
              <a:lnSpc>
                <a:spcPct val="133000"/>
              </a:lnSpc>
              <a:buNone/>
            </a:pPr>
            <a:r>
              <a:rPr lang="en-US" sz="1200" dirty="0">
                <a:solidFill>
                  <a:srgbClr val="8B949E"/>
                </a:solidFill>
                <a:latin typeface="Consolas" pitchFamily="34" charset="0"/>
                <a:ea typeface="Consolas" pitchFamily="34" charset="-122"/>
                <a:cs typeface="Consolas" pitchFamily="34" charset="-120"/>
              </a:rPr>
              <a:t>}</a:t>
            </a:r>
            <a:endParaRPr lang="en-US" sz="1200" dirty="0"/>
          </a:p>
        </p:txBody>
      </p:sp>
      <p:sp>
        <p:nvSpPr>
          <p:cNvPr id="16" name="Shape 14"/>
          <p:cNvSpPr/>
          <p:nvPr/>
        </p:nvSpPr>
        <p:spPr>
          <a:xfrm>
            <a:off x="661475" y="5543848"/>
            <a:ext cx="10868745" cy="856655"/>
          </a:xfrm>
          <a:prstGeom prst="roundRect">
            <a:avLst>
              <a:gd name="adj" fmla="val 7729"/>
            </a:avLst>
          </a:prstGeom>
          <a:solidFill>
            <a:srgbClr val="31136C"/>
          </a:solidFill>
          <a:ln/>
        </p:spPr>
        <p:txBody>
          <a:bodyPr/>
          <a:lstStyle/>
          <a:p>
            <a:endParaRPr lang="en-US"/>
          </a:p>
        </p:txBody>
      </p:sp>
      <p:pic>
        <p:nvPicPr>
          <p:cNvPr id="17" name="Image 0" descr="preencoded.png"/>
          <p:cNvPicPr>
            <a:picLocks noChangeAspect="1"/>
          </p:cNvPicPr>
          <p:nvPr/>
        </p:nvPicPr>
        <p:blipFill>
          <a:blip r:embed="rId3"/>
          <a:stretch>
            <a:fillRect/>
          </a:stretch>
        </p:blipFill>
        <p:spPr>
          <a:xfrm>
            <a:off x="819030" y="5760641"/>
            <a:ext cx="197044" cy="157559"/>
          </a:xfrm>
          <a:prstGeom prst="rect">
            <a:avLst/>
          </a:prstGeom>
        </p:spPr>
      </p:pic>
      <p:sp>
        <p:nvSpPr>
          <p:cNvPr id="18" name="Text 15"/>
          <p:cNvSpPr/>
          <p:nvPr/>
        </p:nvSpPr>
        <p:spPr>
          <a:xfrm>
            <a:off x="1173629" y="5733455"/>
            <a:ext cx="10199035"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FFFFFF"/>
                </a:solidFill>
                <a:latin typeface="Heebo Light" pitchFamily="34" charset="0"/>
                <a:ea typeface="Heebo Light" pitchFamily="34" charset="-122"/>
                <a:cs typeface="Heebo Light" pitchFamily="34" charset="-120"/>
              </a:rPr>
              <a:t>Perbedaan kunci: pada pendekatan imperatif, developer </a:t>
            </a:r>
            <a:r>
              <a:rPr lang="en-US" sz="1200" b="1" dirty="0">
                <a:solidFill>
                  <a:srgbClr val="FFFFFF"/>
                </a:solidFill>
                <a:latin typeface="Heebo Bold" pitchFamily="34" charset="0"/>
                <a:ea typeface="Heebo Bold" pitchFamily="34" charset="-122"/>
                <a:cs typeface="Heebo Bold" pitchFamily="34" charset="-120"/>
              </a:rPr>
              <a:t>menginstruksikan</a:t>
            </a:r>
            <a:r>
              <a:rPr lang="en-US" sz="1200" dirty="0">
                <a:solidFill>
                  <a:srgbClr val="FFFFFF"/>
                </a:solidFill>
                <a:latin typeface="Heebo Light" pitchFamily="34" charset="0"/>
                <a:ea typeface="Heebo Light" pitchFamily="34" charset="-122"/>
                <a:cs typeface="Heebo Light" pitchFamily="34" charset="-120"/>
              </a:rPr>
              <a:t> bagaimana UI berubah; pada pendekatan deklaratif, developer </a:t>
            </a:r>
            <a:r>
              <a:rPr lang="en-US" sz="1200" b="1" dirty="0">
                <a:solidFill>
                  <a:srgbClr val="FFFFFF"/>
                </a:solidFill>
                <a:latin typeface="Heebo Bold" pitchFamily="34" charset="0"/>
                <a:ea typeface="Heebo Bold" pitchFamily="34" charset="-122"/>
                <a:cs typeface="Heebo Bold" pitchFamily="34" charset="-120"/>
              </a:rPr>
              <a:t>mendeskripsikan</a:t>
            </a:r>
            <a:r>
              <a:rPr lang="en-US" sz="1200" dirty="0">
                <a:solidFill>
                  <a:srgbClr val="FFFFFF"/>
                </a:solidFill>
                <a:latin typeface="Heebo Light" pitchFamily="34" charset="0"/>
                <a:ea typeface="Heebo Light" pitchFamily="34" charset="-122"/>
                <a:cs typeface="Heebo Light" pitchFamily="34" charset="-120"/>
              </a:rPr>
              <a:t> seperti apa UI seharusnya terlihat untuk setiap kondisi state.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480616"/>
            <a:ext cx="10868745" cy="298748"/>
          </a:xfrm>
          <a:prstGeom prst="rect">
            <a:avLst/>
          </a:prstGeom>
          <a:noFill/>
          <a:ln/>
        </p:spPr>
        <p:txBody>
          <a:bodyPr wrap="none" lIns="0" tIns="0" rIns="0" bIns="0" rtlCol="0" anchor="t"/>
          <a:lstStyle/>
          <a:p>
            <a:pPr marL="0" indent="0" algn="l">
              <a:lnSpc>
                <a:spcPct val="104000"/>
              </a:lnSpc>
              <a:buNone/>
            </a:pPr>
            <a:r>
              <a:rPr lang="en-US" sz="1850" dirty="0">
                <a:solidFill>
                  <a:srgbClr val="F2F0F4"/>
                </a:solidFill>
                <a:latin typeface="Montserrat" pitchFamily="34" charset="0"/>
                <a:ea typeface="Montserrat" pitchFamily="34" charset="-122"/>
                <a:cs typeface="Montserrat" pitchFamily="34" charset="-120"/>
              </a:rPr>
              <a:t>Anotasi @Composable: Anatomi Fungsi UI</a:t>
            </a:r>
            <a:endParaRPr lang="en-US" sz="1850" dirty="0"/>
          </a:p>
        </p:txBody>
      </p:sp>
      <p:pic>
        <p:nvPicPr>
          <p:cNvPr id="3" name="Image 0" descr="preencoded.png"/>
          <p:cNvPicPr>
            <a:picLocks noChangeAspect="1"/>
          </p:cNvPicPr>
          <p:nvPr/>
        </p:nvPicPr>
        <p:blipFill>
          <a:blip r:embed="rId3"/>
          <a:stretch>
            <a:fillRect/>
          </a:stretch>
        </p:blipFill>
        <p:spPr>
          <a:xfrm>
            <a:off x="900784" y="889893"/>
            <a:ext cx="10390027" cy="4073327"/>
          </a:xfrm>
          <a:prstGeom prst="rect">
            <a:avLst/>
          </a:prstGeom>
        </p:spPr>
      </p:pic>
      <p:sp>
        <p:nvSpPr>
          <p:cNvPr id="4" name="Text 1"/>
          <p:cNvSpPr/>
          <p:nvPr/>
        </p:nvSpPr>
        <p:spPr>
          <a:xfrm>
            <a:off x="1149442" y="1089657"/>
            <a:ext cx="1902017" cy="305689"/>
          </a:xfrm>
          <a:prstGeom prst="rect">
            <a:avLst/>
          </a:prstGeom>
          <a:noFill/>
          <a:ln/>
        </p:spPr>
        <p:txBody>
          <a:bodyPr wrap="none" lIns="0" tIns="0" rIns="0" bIns="0" rtlCol="0" anchor="t"/>
          <a:lstStyle/>
          <a:p>
            <a:pPr marL="0" indent="0" algn="r">
              <a:lnSpc>
                <a:spcPct val="104000"/>
              </a:lnSpc>
              <a:buNone/>
            </a:pPr>
            <a:r>
              <a:rPr lang="en-US" sz="1900" dirty="0">
                <a:solidFill>
                  <a:srgbClr val="F2F0F4"/>
                </a:solidFill>
                <a:latin typeface="Montserrat" pitchFamily="34" charset="0"/>
                <a:ea typeface="Montserrat" pitchFamily="34" charset="-122"/>
                <a:cs typeface="Montserrat" pitchFamily="34" charset="-120"/>
              </a:rPr>
              <a:t>State</a:t>
            </a:r>
            <a:endParaRPr lang="en-US" sz="1900" dirty="0"/>
          </a:p>
        </p:txBody>
      </p:sp>
      <p:sp>
        <p:nvSpPr>
          <p:cNvPr id="5" name="Text 2"/>
          <p:cNvSpPr/>
          <p:nvPr/>
        </p:nvSpPr>
        <p:spPr>
          <a:xfrm>
            <a:off x="9139949" y="1089657"/>
            <a:ext cx="1902016" cy="611378"/>
          </a:xfrm>
          <a:prstGeom prst="rect">
            <a:avLst/>
          </a:prstGeom>
          <a:noFill/>
          <a:ln/>
        </p:spPr>
        <p:txBody>
          <a:bodyPr wrap="square" lIns="0" tIns="0" rIns="0" bIns="0" rtlCol="0" anchor="t">
            <a:normAutofit/>
          </a:bodyPr>
          <a:lstStyle/>
          <a:p>
            <a:pPr marL="0" indent="0" algn="l">
              <a:lnSpc>
                <a:spcPct val="104000"/>
              </a:lnSpc>
              <a:buNone/>
            </a:pPr>
            <a:r>
              <a:rPr lang="en-US" sz="1900" dirty="0">
                <a:solidFill>
                  <a:srgbClr val="F2F0F4"/>
                </a:solidFill>
                <a:latin typeface="Montserrat" pitchFamily="34" charset="0"/>
                <a:ea typeface="Montserrat" pitchFamily="34" charset="-122"/>
                <a:cs typeface="Montserrat" pitchFamily="34" charset="-120"/>
              </a:rPr>
              <a:t>@Composable Function</a:t>
            </a:r>
            <a:endParaRPr lang="en-US" sz="1900" dirty="0"/>
          </a:p>
        </p:txBody>
      </p:sp>
      <p:sp>
        <p:nvSpPr>
          <p:cNvPr id="6" name="Text 3"/>
          <p:cNvSpPr/>
          <p:nvPr/>
        </p:nvSpPr>
        <p:spPr>
          <a:xfrm>
            <a:off x="9139949" y="4457669"/>
            <a:ext cx="1902016" cy="305689"/>
          </a:xfrm>
          <a:prstGeom prst="rect">
            <a:avLst/>
          </a:prstGeom>
          <a:noFill/>
          <a:ln/>
        </p:spPr>
        <p:txBody>
          <a:bodyPr wrap="none" lIns="0" tIns="0" rIns="0" bIns="0" rtlCol="0" anchor="t"/>
          <a:lstStyle/>
          <a:p>
            <a:pPr marL="0" indent="0" algn="l">
              <a:lnSpc>
                <a:spcPct val="104000"/>
              </a:lnSpc>
              <a:buNone/>
            </a:pPr>
            <a:r>
              <a:rPr lang="en-US" sz="1900" dirty="0">
                <a:solidFill>
                  <a:srgbClr val="F2F0F4"/>
                </a:solidFill>
                <a:latin typeface="Montserrat" pitchFamily="34" charset="0"/>
                <a:ea typeface="Montserrat" pitchFamily="34" charset="-122"/>
                <a:cs typeface="Montserrat" pitchFamily="34" charset="-120"/>
              </a:rPr>
              <a:t>Rendered UI</a:t>
            </a:r>
            <a:endParaRPr lang="en-US" sz="1900" dirty="0"/>
          </a:p>
        </p:txBody>
      </p:sp>
      <p:sp>
        <p:nvSpPr>
          <p:cNvPr id="7" name="Text 4"/>
          <p:cNvSpPr/>
          <p:nvPr/>
        </p:nvSpPr>
        <p:spPr>
          <a:xfrm>
            <a:off x="1149442" y="4457669"/>
            <a:ext cx="1902017" cy="305689"/>
          </a:xfrm>
          <a:prstGeom prst="rect">
            <a:avLst/>
          </a:prstGeom>
          <a:noFill/>
          <a:ln/>
        </p:spPr>
        <p:txBody>
          <a:bodyPr wrap="none" lIns="0" tIns="0" rIns="0" bIns="0" rtlCol="0" anchor="t"/>
          <a:lstStyle/>
          <a:p>
            <a:pPr marL="0" indent="0" algn="r">
              <a:lnSpc>
                <a:spcPct val="104000"/>
              </a:lnSpc>
              <a:buNone/>
            </a:pPr>
            <a:r>
              <a:rPr lang="en-US" sz="1900" dirty="0">
                <a:solidFill>
                  <a:srgbClr val="F2F0F4"/>
                </a:solidFill>
                <a:latin typeface="Montserrat" pitchFamily="34" charset="0"/>
                <a:ea typeface="Montserrat" pitchFamily="34" charset="-122"/>
                <a:cs typeface="Montserrat" pitchFamily="34" charset="-120"/>
              </a:rPr>
              <a:t>State berubah</a:t>
            </a:r>
            <a:endParaRPr lang="en-US" sz="1900" dirty="0"/>
          </a:p>
        </p:txBody>
      </p:sp>
      <p:sp>
        <p:nvSpPr>
          <p:cNvPr id="8" name="Text 5"/>
          <p:cNvSpPr/>
          <p:nvPr/>
        </p:nvSpPr>
        <p:spPr>
          <a:xfrm>
            <a:off x="661475" y="5025330"/>
            <a:ext cx="11478330" cy="120749"/>
          </a:xfrm>
          <a:prstGeom prst="rect">
            <a:avLst/>
          </a:prstGeom>
          <a:noFill/>
          <a:ln/>
        </p:spPr>
        <p:txBody>
          <a:bodyPr wrap="none" lIns="0" tIns="0" rIns="0" bIns="0" rtlCol="0" anchor="t"/>
          <a:lstStyle/>
          <a:p>
            <a:pPr marL="0" indent="0" algn="l">
              <a:lnSpc>
                <a:spcPct val="105000"/>
              </a:lnSpc>
              <a:buNone/>
            </a:pPr>
            <a:r>
              <a:rPr lang="en-US" sz="750" dirty="0">
                <a:solidFill>
                  <a:srgbClr val="DCD7E5"/>
                </a:solidFill>
                <a:latin typeface="Heebo Light" pitchFamily="34" charset="0"/>
                <a:ea typeface="Heebo Light" pitchFamily="34" charset="-122"/>
                <a:cs typeface="Heebo Light" pitchFamily="34" charset="-120"/>
              </a:rPr>
              <a:t>Mekanisme recomposition memastikan hanya bagian UI yang terpengaruh perubahan state yang dieksekusi ulang — bukan seluruh pohon UI.</a:t>
            </a:r>
            <a:endParaRPr lang="en-US" sz="750" dirty="0"/>
          </a:p>
        </p:txBody>
      </p:sp>
      <p:sp>
        <p:nvSpPr>
          <p:cNvPr id="9" name="Shape 6"/>
          <p:cNvSpPr/>
          <p:nvPr/>
        </p:nvSpPr>
        <p:spPr>
          <a:xfrm>
            <a:off x="661475" y="5208191"/>
            <a:ext cx="215101" cy="215106"/>
          </a:xfrm>
          <a:prstGeom prst="roundRect">
            <a:avLst>
              <a:gd name="adj" fmla="val 18670"/>
            </a:avLst>
          </a:prstGeom>
          <a:solidFill>
            <a:srgbClr val="31136C"/>
          </a:solidFill>
          <a:ln w="6350">
            <a:solidFill>
              <a:srgbClr val="4A2C85"/>
            </a:solidFill>
            <a:prstDash val="solid"/>
          </a:ln>
        </p:spPr>
        <p:txBody>
          <a:bodyPr/>
          <a:lstStyle/>
          <a:p>
            <a:endParaRPr lang="en-US"/>
          </a:p>
        </p:txBody>
      </p:sp>
      <p:sp>
        <p:nvSpPr>
          <p:cNvPr id="10" name="Text 7"/>
          <p:cNvSpPr/>
          <p:nvPr/>
        </p:nvSpPr>
        <p:spPr>
          <a:xfrm>
            <a:off x="697342" y="5226149"/>
            <a:ext cx="143368" cy="179189"/>
          </a:xfrm>
          <a:prstGeom prst="rect">
            <a:avLst/>
          </a:prstGeom>
          <a:noFill/>
          <a:ln/>
        </p:spPr>
        <p:txBody>
          <a:bodyPr wrap="none" lIns="0" tIns="0" rIns="0" bIns="0" rtlCol="0" anchor="ctr"/>
          <a:lstStyle/>
          <a:p>
            <a:pPr marL="0" indent="0" algn="ctr">
              <a:lnSpc>
                <a:spcPct val="100000"/>
              </a:lnSpc>
              <a:buNone/>
            </a:pPr>
            <a:r>
              <a:rPr lang="en-US" sz="1100" dirty="0">
                <a:solidFill>
                  <a:srgbClr val="DCD7E5"/>
                </a:solidFill>
                <a:latin typeface="Montserrat" pitchFamily="34" charset="0"/>
                <a:ea typeface="Montserrat" pitchFamily="34" charset="-122"/>
                <a:cs typeface="Montserrat" pitchFamily="34" charset="-120"/>
              </a:rPr>
              <a:t>1</a:t>
            </a:r>
            <a:endParaRPr lang="en-US" sz="1100" dirty="0"/>
          </a:p>
        </p:txBody>
      </p:sp>
      <p:sp>
        <p:nvSpPr>
          <p:cNvPr id="11" name="Text 8"/>
          <p:cNvSpPr/>
          <p:nvPr/>
        </p:nvSpPr>
        <p:spPr>
          <a:xfrm>
            <a:off x="931839" y="5241032"/>
            <a:ext cx="3306481" cy="149423"/>
          </a:xfrm>
          <a:prstGeom prst="rect">
            <a:avLst/>
          </a:prstGeom>
          <a:noFill/>
          <a:ln/>
        </p:spPr>
        <p:txBody>
          <a:bodyPr wrap="none" lIns="0" tIns="0" rIns="0" bIns="0" rtlCol="0" anchor="t"/>
          <a:lstStyle/>
          <a:p>
            <a:pPr marL="0" indent="0" algn="l">
              <a:lnSpc>
                <a:spcPct val="104000"/>
              </a:lnSpc>
              <a:buNone/>
            </a:pPr>
            <a:r>
              <a:rPr lang="en-US" sz="900" dirty="0">
                <a:solidFill>
                  <a:srgbClr val="DCD7E5"/>
                </a:solidFill>
                <a:latin typeface="Montserrat" pitchFamily="34" charset="0"/>
                <a:ea typeface="Montserrat" pitchFamily="34" charset="-122"/>
                <a:cs typeface="Montserrat" pitchFamily="34" charset="-120"/>
              </a:rPr>
              <a:t>Anotasi @Composable</a:t>
            </a:r>
            <a:endParaRPr lang="en-US" sz="900" dirty="0"/>
          </a:p>
        </p:txBody>
      </p:sp>
      <p:sp>
        <p:nvSpPr>
          <p:cNvPr id="12" name="Text 9"/>
          <p:cNvSpPr/>
          <p:nvPr/>
        </p:nvSpPr>
        <p:spPr>
          <a:xfrm>
            <a:off x="931839" y="5423595"/>
            <a:ext cx="3306481" cy="362248"/>
          </a:xfrm>
          <a:prstGeom prst="rect">
            <a:avLst/>
          </a:prstGeom>
          <a:noFill/>
          <a:ln/>
        </p:spPr>
        <p:txBody>
          <a:bodyPr wrap="square" lIns="0" tIns="0" rIns="0" bIns="0" rtlCol="0" anchor="t">
            <a:normAutofit/>
          </a:bodyPr>
          <a:lstStyle/>
          <a:p>
            <a:pPr marL="0" indent="0" algn="l">
              <a:lnSpc>
                <a:spcPct val="105000"/>
              </a:lnSpc>
              <a:buNone/>
            </a:pPr>
            <a:r>
              <a:rPr lang="en-US" sz="750" dirty="0">
                <a:solidFill>
                  <a:srgbClr val="DCD7E5"/>
                </a:solidFill>
                <a:latin typeface="Heebo Light" pitchFamily="34" charset="0"/>
                <a:ea typeface="Heebo Light" pitchFamily="34" charset="-122"/>
                <a:cs typeface="Heebo Light" pitchFamily="34" charset="-120"/>
              </a:rPr>
              <a:t>Menandai fungsi sebagai penyusun UI yang dapat dipanggil dalam konteks Compose. Tanpa anotasi ini, fungsi tidak dapat memanggil fungsi Composable lain.</a:t>
            </a:r>
            <a:endParaRPr lang="en-US" sz="750" dirty="0"/>
          </a:p>
        </p:txBody>
      </p:sp>
      <p:sp>
        <p:nvSpPr>
          <p:cNvPr id="13" name="Shape 10"/>
          <p:cNvSpPr/>
          <p:nvPr/>
        </p:nvSpPr>
        <p:spPr>
          <a:xfrm>
            <a:off x="931839" y="5847953"/>
            <a:ext cx="3306481" cy="497086"/>
          </a:xfrm>
          <a:prstGeom prst="roundRect">
            <a:avLst>
              <a:gd name="adj" fmla="val 8079"/>
            </a:avLst>
          </a:prstGeom>
          <a:solidFill>
            <a:srgbClr val="1A1739"/>
          </a:solidFill>
          <a:ln/>
        </p:spPr>
        <p:txBody>
          <a:bodyPr/>
          <a:lstStyle/>
          <a:p>
            <a:endParaRPr lang="en-US"/>
          </a:p>
        </p:txBody>
      </p:sp>
      <p:sp>
        <p:nvSpPr>
          <p:cNvPr id="14" name="Text 11"/>
          <p:cNvSpPr/>
          <p:nvPr/>
        </p:nvSpPr>
        <p:spPr>
          <a:xfrm>
            <a:off x="1046533" y="5943501"/>
            <a:ext cx="3077093" cy="305991"/>
          </a:xfrm>
          <a:prstGeom prst="rect">
            <a:avLst/>
          </a:prstGeom>
          <a:noFill/>
          <a:ln/>
        </p:spPr>
        <p:txBody>
          <a:bodyPr wrap="square" lIns="0" tIns="0" rIns="0" bIns="0" rtlCol="0" anchor="t">
            <a:normAutofit/>
          </a:bodyPr>
          <a:lstStyle/>
          <a:p>
            <a:pPr marL="0" indent="0" algn="l">
              <a:lnSpc>
                <a:spcPct val="133000"/>
              </a:lnSpc>
              <a:buNone/>
            </a:pPr>
            <a:r>
              <a:rPr lang="en-US" sz="750" dirty="0">
                <a:solidFill>
                  <a:srgbClr val="79C0FF"/>
                </a:solidFill>
                <a:latin typeface="Consolas" pitchFamily="34" charset="0"/>
                <a:ea typeface="Consolas" pitchFamily="34" charset="-122"/>
                <a:cs typeface="Consolas" pitchFamily="34" charset="-120"/>
              </a:rPr>
              <a:t>@Composable</a:t>
            </a:r>
            <a:endParaRPr lang="en-US" sz="750" dirty="0"/>
          </a:p>
          <a:p>
            <a:pPr marL="0" indent="0" algn="l">
              <a:lnSpc>
                <a:spcPct val="133000"/>
              </a:lnSpc>
              <a:buNone/>
            </a:pPr>
            <a:r>
              <a:rPr lang="en-US" sz="750" dirty="0">
                <a:solidFill>
                  <a:srgbClr val="79C0FF"/>
                </a:solidFill>
                <a:latin typeface="Consolas" pitchFamily="34" charset="0"/>
                <a:ea typeface="Consolas" pitchFamily="34" charset="-122"/>
                <a:cs typeface="Consolas" pitchFamily="34" charset="-120"/>
              </a:rPr>
              <a:t>fun MyComponent() { ... }</a:t>
            </a:r>
            <a:endParaRPr lang="en-US" sz="750" dirty="0"/>
          </a:p>
        </p:txBody>
      </p:sp>
      <p:sp>
        <p:nvSpPr>
          <p:cNvPr id="15" name="Shape 12"/>
          <p:cNvSpPr/>
          <p:nvPr/>
        </p:nvSpPr>
        <p:spPr>
          <a:xfrm>
            <a:off x="4307375" y="5208191"/>
            <a:ext cx="215101" cy="215106"/>
          </a:xfrm>
          <a:prstGeom prst="roundRect">
            <a:avLst>
              <a:gd name="adj" fmla="val 18670"/>
            </a:avLst>
          </a:prstGeom>
          <a:solidFill>
            <a:srgbClr val="31136C"/>
          </a:solidFill>
          <a:ln w="6350">
            <a:solidFill>
              <a:srgbClr val="4A2C85"/>
            </a:solidFill>
            <a:prstDash val="solid"/>
          </a:ln>
        </p:spPr>
        <p:txBody>
          <a:bodyPr/>
          <a:lstStyle/>
          <a:p>
            <a:endParaRPr lang="en-US"/>
          </a:p>
        </p:txBody>
      </p:sp>
      <p:sp>
        <p:nvSpPr>
          <p:cNvPr id="16" name="Text 13"/>
          <p:cNvSpPr/>
          <p:nvPr/>
        </p:nvSpPr>
        <p:spPr>
          <a:xfrm>
            <a:off x="4343242" y="5226149"/>
            <a:ext cx="143368" cy="179189"/>
          </a:xfrm>
          <a:prstGeom prst="rect">
            <a:avLst/>
          </a:prstGeom>
          <a:noFill/>
          <a:ln/>
        </p:spPr>
        <p:txBody>
          <a:bodyPr wrap="none" lIns="0" tIns="0" rIns="0" bIns="0" rtlCol="0" anchor="ctr"/>
          <a:lstStyle/>
          <a:p>
            <a:pPr marL="0" indent="0" algn="ctr">
              <a:lnSpc>
                <a:spcPct val="100000"/>
              </a:lnSpc>
              <a:buNone/>
            </a:pPr>
            <a:r>
              <a:rPr lang="en-US" sz="1100" dirty="0">
                <a:solidFill>
                  <a:srgbClr val="DCD7E5"/>
                </a:solidFill>
                <a:latin typeface="Montserrat" pitchFamily="34" charset="0"/>
                <a:ea typeface="Montserrat" pitchFamily="34" charset="-122"/>
                <a:cs typeface="Montserrat" pitchFamily="34" charset="-120"/>
              </a:rPr>
              <a:t>2</a:t>
            </a:r>
            <a:endParaRPr lang="en-US" sz="1100" dirty="0"/>
          </a:p>
        </p:txBody>
      </p:sp>
      <p:sp>
        <p:nvSpPr>
          <p:cNvPr id="17" name="Text 14"/>
          <p:cNvSpPr/>
          <p:nvPr/>
        </p:nvSpPr>
        <p:spPr>
          <a:xfrm>
            <a:off x="4577739" y="5241032"/>
            <a:ext cx="3306481" cy="149423"/>
          </a:xfrm>
          <a:prstGeom prst="rect">
            <a:avLst/>
          </a:prstGeom>
          <a:noFill/>
          <a:ln/>
        </p:spPr>
        <p:txBody>
          <a:bodyPr wrap="none" lIns="0" tIns="0" rIns="0" bIns="0" rtlCol="0" anchor="t"/>
          <a:lstStyle/>
          <a:p>
            <a:pPr marL="0" indent="0" algn="l">
              <a:lnSpc>
                <a:spcPct val="104000"/>
              </a:lnSpc>
              <a:buNone/>
            </a:pPr>
            <a:r>
              <a:rPr lang="en-US" sz="900" dirty="0">
                <a:solidFill>
                  <a:srgbClr val="DCD7E5"/>
                </a:solidFill>
                <a:latin typeface="Montserrat" pitchFamily="34" charset="0"/>
                <a:ea typeface="Montserrat" pitchFamily="34" charset="-122"/>
                <a:cs typeface="Montserrat" pitchFamily="34" charset="-120"/>
              </a:rPr>
              <a:t>Penamaan PascalCase &amp; Return Unit</a:t>
            </a:r>
            <a:endParaRPr lang="en-US" sz="900" dirty="0"/>
          </a:p>
        </p:txBody>
      </p:sp>
      <p:sp>
        <p:nvSpPr>
          <p:cNvPr id="18" name="Text 15"/>
          <p:cNvSpPr/>
          <p:nvPr/>
        </p:nvSpPr>
        <p:spPr>
          <a:xfrm>
            <a:off x="4577739" y="5423595"/>
            <a:ext cx="3306481" cy="368598"/>
          </a:xfrm>
          <a:prstGeom prst="rect">
            <a:avLst/>
          </a:prstGeom>
          <a:noFill/>
          <a:ln/>
        </p:spPr>
        <p:txBody>
          <a:bodyPr wrap="square" lIns="0" tIns="0" rIns="0" bIns="0" rtlCol="0" anchor="t">
            <a:normAutofit/>
          </a:bodyPr>
          <a:lstStyle/>
          <a:p>
            <a:pPr marL="0" indent="0" algn="l">
              <a:lnSpc>
                <a:spcPct val="105000"/>
              </a:lnSpc>
              <a:buNone/>
            </a:pPr>
            <a:r>
              <a:rPr lang="en-US" sz="750" dirty="0">
                <a:solidFill>
                  <a:srgbClr val="DCD7E5"/>
                </a:solidFill>
                <a:latin typeface="Heebo Light" pitchFamily="34" charset="0"/>
                <a:ea typeface="Heebo Light" pitchFamily="34" charset="-122"/>
                <a:cs typeface="Heebo Light" pitchFamily="34" charset="-120"/>
              </a:rPr>
              <a:t>Fungsi Composable menggunakan konvensi </a:t>
            </a:r>
            <a:r>
              <a:rPr lang="en-US" sz="750" b="1" dirty="0">
                <a:solidFill>
                  <a:srgbClr val="DCD7E5"/>
                </a:solidFill>
                <a:latin typeface="Heebo Bold" pitchFamily="34" charset="0"/>
                <a:ea typeface="Heebo Bold" pitchFamily="34" charset="-122"/>
                <a:cs typeface="Heebo Bold" pitchFamily="34" charset="-120"/>
              </a:rPr>
              <a:t>PascalCase</a:t>
            </a:r>
            <a:r>
              <a:rPr lang="en-US" sz="750" dirty="0">
                <a:solidFill>
                  <a:srgbClr val="DCD7E5"/>
                </a:solidFill>
                <a:latin typeface="Heebo Light" pitchFamily="34" charset="0"/>
                <a:ea typeface="Heebo Light" pitchFamily="34" charset="-122"/>
                <a:cs typeface="Heebo Light" pitchFamily="34" charset="-120"/>
              </a:rPr>
              <a:t> dan tidak mengembalikan nilai (</a:t>
            </a:r>
            <a:r>
              <a:rPr lang="en-US" sz="750" dirty="0">
                <a:solidFill>
                  <a:srgbClr val="DCD7E5"/>
                </a:solidFill>
                <a:highlight>
                  <a:srgbClr val="1A1739"/>
                </a:highlight>
                <a:latin typeface="Consolas" pitchFamily="34" charset="0"/>
                <a:ea typeface="Consolas" pitchFamily="34" charset="-122"/>
                <a:cs typeface="Consolas" pitchFamily="34" charset="-120"/>
              </a:rPr>
              <a:t>Unit</a:t>
            </a:r>
            <a:r>
              <a:rPr lang="en-US" sz="750" dirty="0">
                <a:solidFill>
                  <a:srgbClr val="DCD7E5"/>
                </a:solidFill>
                <a:latin typeface="Heebo Light" pitchFamily="34" charset="0"/>
                <a:ea typeface="Heebo Light" pitchFamily="34" charset="-122"/>
                <a:cs typeface="Heebo Light" pitchFamily="34" charset="-120"/>
              </a:rPr>
              <a:t>) — ia </a:t>
            </a:r>
            <a:r>
              <a:rPr lang="en-US" sz="750" i="1" dirty="0">
                <a:solidFill>
                  <a:srgbClr val="DCD7E5"/>
                </a:solidFill>
                <a:latin typeface="Heebo Light" pitchFamily="34" charset="0"/>
                <a:ea typeface="Heebo Light" pitchFamily="34" charset="-122"/>
                <a:cs typeface="Heebo Light" pitchFamily="34" charset="-120"/>
              </a:rPr>
              <a:t>mendeskripsikan</a:t>
            </a:r>
            <a:r>
              <a:rPr lang="en-US" sz="750" dirty="0">
                <a:solidFill>
                  <a:srgbClr val="DCD7E5"/>
                </a:solidFill>
                <a:latin typeface="Heebo Light" pitchFamily="34" charset="0"/>
                <a:ea typeface="Heebo Light" pitchFamily="34" charset="-122"/>
                <a:cs typeface="Heebo Light" pitchFamily="34" charset="-120"/>
              </a:rPr>
              <a:t> UI, bukan membangunnya secara imperatif.</a:t>
            </a:r>
            <a:endParaRPr lang="en-US" sz="750" dirty="0"/>
          </a:p>
        </p:txBody>
      </p:sp>
      <p:sp>
        <p:nvSpPr>
          <p:cNvPr id="19" name="Shape 16"/>
          <p:cNvSpPr/>
          <p:nvPr/>
        </p:nvSpPr>
        <p:spPr>
          <a:xfrm>
            <a:off x="7953275" y="5208191"/>
            <a:ext cx="215101" cy="215106"/>
          </a:xfrm>
          <a:prstGeom prst="roundRect">
            <a:avLst>
              <a:gd name="adj" fmla="val 18670"/>
            </a:avLst>
          </a:prstGeom>
          <a:solidFill>
            <a:srgbClr val="31136C"/>
          </a:solidFill>
          <a:ln w="6350">
            <a:solidFill>
              <a:srgbClr val="4A2C85"/>
            </a:solidFill>
            <a:prstDash val="solid"/>
          </a:ln>
        </p:spPr>
        <p:txBody>
          <a:bodyPr/>
          <a:lstStyle/>
          <a:p>
            <a:endParaRPr lang="en-US"/>
          </a:p>
        </p:txBody>
      </p:sp>
      <p:sp>
        <p:nvSpPr>
          <p:cNvPr id="20" name="Text 17"/>
          <p:cNvSpPr/>
          <p:nvPr/>
        </p:nvSpPr>
        <p:spPr>
          <a:xfrm>
            <a:off x="7989142" y="5226149"/>
            <a:ext cx="143368" cy="179189"/>
          </a:xfrm>
          <a:prstGeom prst="rect">
            <a:avLst/>
          </a:prstGeom>
          <a:noFill/>
          <a:ln/>
        </p:spPr>
        <p:txBody>
          <a:bodyPr wrap="none" lIns="0" tIns="0" rIns="0" bIns="0" rtlCol="0" anchor="ctr"/>
          <a:lstStyle/>
          <a:p>
            <a:pPr marL="0" indent="0" algn="ctr">
              <a:lnSpc>
                <a:spcPct val="100000"/>
              </a:lnSpc>
              <a:buNone/>
            </a:pPr>
            <a:r>
              <a:rPr lang="en-US" sz="1100" dirty="0">
                <a:solidFill>
                  <a:srgbClr val="DCD7E5"/>
                </a:solidFill>
                <a:latin typeface="Montserrat" pitchFamily="34" charset="0"/>
                <a:ea typeface="Montserrat" pitchFamily="34" charset="-122"/>
                <a:cs typeface="Montserrat" pitchFamily="34" charset="-120"/>
              </a:rPr>
              <a:t>3</a:t>
            </a:r>
            <a:endParaRPr lang="en-US" sz="1100" dirty="0"/>
          </a:p>
        </p:txBody>
      </p:sp>
      <p:sp>
        <p:nvSpPr>
          <p:cNvPr id="21" name="Text 18"/>
          <p:cNvSpPr/>
          <p:nvPr/>
        </p:nvSpPr>
        <p:spPr>
          <a:xfrm>
            <a:off x="8223640" y="5241032"/>
            <a:ext cx="3306581" cy="149423"/>
          </a:xfrm>
          <a:prstGeom prst="rect">
            <a:avLst/>
          </a:prstGeom>
          <a:noFill/>
          <a:ln/>
        </p:spPr>
        <p:txBody>
          <a:bodyPr wrap="none" lIns="0" tIns="0" rIns="0" bIns="0" rtlCol="0" anchor="t"/>
          <a:lstStyle/>
          <a:p>
            <a:pPr marL="0" indent="0" algn="l">
              <a:lnSpc>
                <a:spcPct val="104000"/>
              </a:lnSpc>
              <a:buNone/>
            </a:pPr>
            <a:r>
              <a:rPr lang="en-US" sz="900" dirty="0">
                <a:solidFill>
                  <a:srgbClr val="DCD7E5"/>
                </a:solidFill>
                <a:latin typeface="Montserrat" pitchFamily="34" charset="0"/>
                <a:ea typeface="Montserrat" pitchFamily="34" charset="-122"/>
                <a:cs typeface="Montserrat" pitchFamily="34" charset="-120"/>
              </a:rPr>
              <a:t>Mekanisme Recomposition</a:t>
            </a:r>
            <a:endParaRPr lang="en-US" sz="900" dirty="0"/>
          </a:p>
        </p:txBody>
      </p:sp>
      <p:sp>
        <p:nvSpPr>
          <p:cNvPr id="22" name="Text 19"/>
          <p:cNvSpPr/>
          <p:nvPr/>
        </p:nvSpPr>
        <p:spPr>
          <a:xfrm>
            <a:off x="8223640" y="5423595"/>
            <a:ext cx="3306581" cy="241498"/>
          </a:xfrm>
          <a:prstGeom prst="rect">
            <a:avLst/>
          </a:prstGeom>
          <a:noFill/>
          <a:ln/>
        </p:spPr>
        <p:txBody>
          <a:bodyPr wrap="square" lIns="0" tIns="0" rIns="0" bIns="0" rtlCol="0" anchor="t">
            <a:normAutofit/>
          </a:bodyPr>
          <a:lstStyle/>
          <a:p>
            <a:pPr marL="0" indent="0" algn="l">
              <a:lnSpc>
                <a:spcPct val="105000"/>
              </a:lnSpc>
              <a:buNone/>
            </a:pPr>
            <a:r>
              <a:rPr lang="en-US" sz="750" dirty="0">
                <a:solidFill>
                  <a:srgbClr val="DCD7E5"/>
                </a:solidFill>
                <a:latin typeface="Heebo Light" pitchFamily="34" charset="0"/>
                <a:ea typeface="Heebo Light" pitchFamily="34" charset="-122"/>
                <a:cs typeface="Heebo Light" pitchFamily="34" charset="-120"/>
              </a:rPr>
              <a:t>Saat state yang dibaca oleh sebuah Composable berubah, Compose hanya mengeksekusi ulang (</a:t>
            </a:r>
            <a:r>
              <a:rPr lang="en-US" sz="750" i="1" dirty="0">
                <a:solidFill>
                  <a:srgbClr val="DCD7E5"/>
                </a:solidFill>
                <a:latin typeface="Heebo Light" pitchFamily="34" charset="0"/>
                <a:ea typeface="Heebo Light" pitchFamily="34" charset="-122"/>
                <a:cs typeface="Heebo Light" pitchFamily="34" charset="-120"/>
              </a:rPr>
              <a:t>recompose</a:t>
            </a:r>
            <a:r>
              <a:rPr lang="en-US" sz="750" dirty="0">
                <a:solidFill>
                  <a:srgbClr val="DCD7E5"/>
                </a:solidFill>
                <a:latin typeface="Heebo Light" pitchFamily="34" charset="0"/>
                <a:ea typeface="Heebo Light" pitchFamily="34" charset="-122"/>
                <a:cs typeface="Heebo Light" pitchFamily="34" charset="-120"/>
              </a:rPr>
              <a:t>) fungsi tersebut secara cerdas.</a:t>
            </a:r>
            <a:endParaRPr lang="en-US" sz="750" dirty="0"/>
          </a:p>
        </p:txBody>
      </p:sp>
      <p:sp>
        <p:nvSpPr>
          <p:cNvPr id="23" name="Shape 20"/>
          <p:cNvSpPr/>
          <p:nvPr/>
        </p:nvSpPr>
        <p:spPr>
          <a:xfrm>
            <a:off x="8223640" y="5727204"/>
            <a:ext cx="3306581" cy="650081"/>
          </a:xfrm>
          <a:prstGeom prst="roundRect">
            <a:avLst>
              <a:gd name="adj" fmla="val 6178"/>
            </a:avLst>
          </a:prstGeom>
          <a:solidFill>
            <a:srgbClr val="1A1739"/>
          </a:solidFill>
          <a:ln/>
        </p:spPr>
        <p:txBody>
          <a:bodyPr/>
          <a:lstStyle/>
          <a:p>
            <a:endParaRPr lang="en-US"/>
          </a:p>
        </p:txBody>
      </p:sp>
      <p:sp>
        <p:nvSpPr>
          <p:cNvPr id="24" name="Text 21"/>
          <p:cNvSpPr/>
          <p:nvPr/>
        </p:nvSpPr>
        <p:spPr>
          <a:xfrm>
            <a:off x="8338334" y="5822752"/>
            <a:ext cx="3077193" cy="458986"/>
          </a:xfrm>
          <a:prstGeom prst="rect">
            <a:avLst/>
          </a:prstGeom>
          <a:noFill/>
          <a:ln/>
        </p:spPr>
        <p:txBody>
          <a:bodyPr wrap="square" lIns="0" tIns="0" rIns="0" bIns="0" rtlCol="0" anchor="t">
            <a:normAutofit/>
          </a:bodyPr>
          <a:lstStyle/>
          <a:p>
            <a:pPr marL="0" indent="0" algn="l">
              <a:lnSpc>
                <a:spcPct val="133000"/>
              </a:lnSpc>
              <a:buNone/>
            </a:pPr>
            <a:r>
              <a:rPr lang="en-US" sz="750" dirty="0">
                <a:solidFill>
                  <a:srgbClr val="FF7B72"/>
                </a:solidFill>
                <a:latin typeface="Consolas" pitchFamily="34" charset="0"/>
                <a:ea typeface="Consolas" pitchFamily="34" charset="-122"/>
                <a:cs typeface="Consolas" pitchFamily="34" charset="-120"/>
              </a:rPr>
              <a:t>var count by remember { mutableStateOf(0) }</a:t>
            </a:r>
            <a:endParaRPr lang="en-US" sz="750" dirty="0"/>
          </a:p>
          <a:p>
            <a:pPr marL="0" indent="0" algn="l">
              <a:lnSpc>
                <a:spcPct val="133000"/>
              </a:lnSpc>
              <a:buNone/>
            </a:pPr>
            <a:r>
              <a:rPr lang="en-US" sz="750" dirty="0">
                <a:solidFill>
                  <a:srgbClr val="FF7B72"/>
                </a:solidFill>
                <a:latin typeface="Consolas" pitchFamily="34" charset="0"/>
                <a:ea typeface="Consolas" pitchFamily="34" charset="-122"/>
                <a:cs typeface="Consolas" pitchFamily="34" charset="-120"/>
              </a:rPr>
              <a:t>// Hanya Text di bawah yang recompose</a:t>
            </a:r>
            <a:endParaRPr lang="en-US" sz="750" dirty="0"/>
          </a:p>
          <a:p>
            <a:pPr marL="0" indent="0" algn="l">
              <a:lnSpc>
                <a:spcPct val="133000"/>
              </a:lnSpc>
              <a:buNone/>
            </a:pPr>
            <a:r>
              <a:rPr lang="en-US" sz="750" dirty="0">
                <a:solidFill>
                  <a:srgbClr val="FF7B72"/>
                </a:solidFill>
                <a:latin typeface="Consolas" pitchFamily="34" charset="0"/>
                <a:ea typeface="Consolas" pitchFamily="34" charset="-122"/>
                <a:cs typeface="Consolas" pitchFamily="34" charset="-120"/>
              </a:rPr>
              <a:t>Text(text = "Klik: $count")</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D34F9-99CE-584A-5019-5E5A697B8C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C2991B7-DCFE-5615-CE37-E6697EBD9A46}"/>
              </a:ext>
            </a:extLst>
          </p:cNvPr>
          <p:cNvSpPr/>
          <p:nvPr/>
        </p:nvSpPr>
        <p:spPr>
          <a:xfrm>
            <a:off x="661475" y="480616"/>
            <a:ext cx="10868745" cy="298748"/>
          </a:xfrm>
          <a:prstGeom prst="rect">
            <a:avLst/>
          </a:prstGeom>
          <a:noFill/>
          <a:ln/>
        </p:spPr>
        <p:txBody>
          <a:bodyPr wrap="none" lIns="0" tIns="0" rIns="0" bIns="0" rtlCol="0" anchor="t"/>
          <a:lstStyle/>
          <a:p>
            <a:pPr marL="0" indent="0" algn="l">
              <a:lnSpc>
                <a:spcPct val="104000"/>
              </a:lnSpc>
              <a:buNone/>
            </a:pPr>
            <a:r>
              <a:rPr lang="en-US" sz="1850" dirty="0">
                <a:solidFill>
                  <a:srgbClr val="F2F0F4"/>
                </a:solidFill>
                <a:latin typeface="Montserrat" pitchFamily="34" charset="0"/>
                <a:ea typeface="Montserrat" pitchFamily="34" charset="-122"/>
                <a:cs typeface="Montserrat" pitchFamily="34" charset="-120"/>
              </a:rPr>
              <a:t>Annotation/</a:t>
            </a:r>
            <a:r>
              <a:rPr lang="en-US" sz="1850" dirty="0" err="1">
                <a:solidFill>
                  <a:srgbClr val="F2F0F4"/>
                </a:solidFill>
                <a:latin typeface="Montserrat" pitchFamily="34" charset="0"/>
                <a:ea typeface="Montserrat" pitchFamily="34" charset="-122"/>
                <a:cs typeface="Montserrat" pitchFamily="34" charset="-120"/>
              </a:rPr>
              <a:t>Anotasi</a:t>
            </a:r>
            <a:endParaRPr lang="en-US" sz="1850" dirty="0"/>
          </a:p>
        </p:txBody>
      </p:sp>
      <p:sp>
        <p:nvSpPr>
          <p:cNvPr id="26" name="TextBox 25">
            <a:extLst>
              <a:ext uri="{FF2B5EF4-FFF2-40B4-BE49-F238E27FC236}">
                <a16:creationId xmlns:a16="http://schemas.microsoft.com/office/drawing/2014/main" id="{4F342E08-BCE2-B3F9-B978-0CB8856FF258}"/>
              </a:ext>
            </a:extLst>
          </p:cNvPr>
          <p:cNvSpPr txBox="1"/>
          <p:nvPr/>
        </p:nvSpPr>
        <p:spPr>
          <a:xfrm>
            <a:off x="520506" y="1447358"/>
            <a:ext cx="5739617" cy="5078313"/>
          </a:xfrm>
          <a:prstGeom prst="rect">
            <a:avLst/>
          </a:prstGeom>
          <a:noFill/>
        </p:spPr>
        <p:txBody>
          <a:bodyPr wrap="square">
            <a:spAutoFit/>
          </a:bodyPr>
          <a:lstStyle/>
          <a:p>
            <a:pPr marL="342900" lvl="0" indent="-342900">
              <a:buFont typeface="Arial" panose="020B0604020202020204" pitchFamily="34" charset="0"/>
              <a:buChar char="•"/>
            </a:pPr>
            <a:r>
              <a:rPr lang="en-ID" b="1" dirty="0" err="1">
                <a:solidFill>
                  <a:schemeClr val="bg1"/>
                </a:solidFill>
              </a:rPr>
              <a:t>Definisi</a:t>
            </a:r>
            <a:r>
              <a:rPr lang="en-ID" dirty="0">
                <a:solidFill>
                  <a:schemeClr val="bg1"/>
                </a:solidFill>
              </a:rPr>
              <a:t> </a:t>
            </a:r>
            <a:r>
              <a:rPr lang="en-ID" dirty="0" err="1">
                <a:solidFill>
                  <a:schemeClr val="bg1"/>
                </a:solidFill>
              </a:rPr>
              <a:t>Penanda</a:t>
            </a:r>
            <a:r>
              <a:rPr lang="en-ID" dirty="0">
                <a:solidFill>
                  <a:schemeClr val="bg1"/>
                </a:solidFill>
              </a:rPr>
              <a:t> </a:t>
            </a:r>
            <a:r>
              <a:rPr lang="en-ID" dirty="0" err="1">
                <a:solidFill>
                  <a:schemeClr val="bg1"/>
                </a:solidFill>
              </a:rPr>
              <a:t>atau</a:t>
            </a:r>
            <a:r>
              <a:rPr lang="en-ID" dirty="0">
                <a:solidFill>
                  <a:schemeClr val="bg1"/>
                </a:solidFill>
              </a:rPr>
              <a:t> </a:t>
            </a:r>
            <a:r>
              <a:rPr lang="en-ID" i="1" dirty="0">
                <a:solidFill>
                  <a:schemeClr val="bg1"/>
                </a:solidFill>
              </a:rPr>
              <a:t>metadata</a:t>
            </a:r>
            <a:r>
              <a:rPr lang="en-ID" dirty="0">
                <a:solidFill>
                  <a:schemeClr val="bg1"/>
                </a:solidFill>
              </a:rPr>
              <a:t> (</a:t>
            </a:r>
            <a:r>
              <a:rPr lang="en-ID" dirty="0" err="1">
                <a:solidFill>
                  <a:schemeClr val="bg1"/>
                </a:solidFill>
              </a:rPr>
              <a:t>selalu</a:t>
            </a:r>
            <a:r>
              <a:rPr lang="en-ID" dirty="0">
                <a:solidFill>
                  <a:schemeClr val="bg1"/>
                </a:solidFill>
              </a:rPr>
              <a:t> </a:t>
            </a:r>
            <a:r>
              <a:rPr lang="en-ID" dirty="0" err="1">
                <a:solidFill>
                  <a:schemeClr val="bg1"/>
                </a:solidFill>
              </a:rPr>
              <a:t>diawali</a:t>
            </a:r>
            <a:r>
              <a:rPr lang="en-ID" dirty="0">
                <a:solidFill>
                  <a:schemeClr val="bg1"/>
                </a:solidFill>
              </a:rPr>
              <a:t> </a:t>
            </a:r>
            <a:r>
              <a:rPr lang="en-ID" dirty="0" err="1">
                <a:solidFill>
                  <a:schemeClr val="bg1"/>
                </a:solidFill>
              </a:rPr>
              <a:t>dengan</a:t>
            </a:r>
            <a:r>
              <a:rPr lang="en-ID" dirty="0">
                <a:solidFill>
                  <a:schemeClr val="bg1"/>
                </a:solidFill>
              </a:rPr>
              <a:t> </a:t>
            </a:r>
            <a:r>
              <a:rPr lang="en-ID" dirty="0" err="1">
                <a:solidFill>
                  <a:schemeClr val="bg1"/>
                </a:solidFill>
              </a:rPr>
              <a:t>simbol</a:t>
            </a:r>
            <a:r>
              <a:rPr lang="en-ID" dirty="0">
                <a:solidFill>
                  <a:schemeClr val="bg1"/>
                </a:solidFill>
              </a:rPr>
              <a:t> </a:t>
            </a:r>
            <a:r>
              <a:rPr lang="en-ID" b="1" dirty="0">
                <a:solidFill>
                  <a:schemeClr val="bg1"/>
                </a:solidFill>
                <a:latin typeface="+mn-lt"/>
              </a:rPr>
              <a:t>@</a:t>
            </a:r>
            <a:r>
              <a:rPr lang="en-ID" dirty="0">
                <a:solidFill>
                  <a:schemeClr val="bg1"/>
                </a:solidFill>
              </a:rPr>
              <a:t>) yang </a:t>
            </a:r>
            <a:r>
              <a:rPr lang="en-ID" dirty="0" err="1">
                <a:solidFill>
                  <a:schemeClr val="bg1"/>
                </a:solidFill>
              </a:rPr>
              <a:t>disematkan</a:t>
            </a:r>
            <a:r>
              <a:rPr lang="en-ID" dirty="0">
                <a:solidFill>
                  <a:schemeClr val="bg1"/>
                </a:solidFill>
              </a:rPr>
              <a:t> pada </a:t>
            </a:r>
            <a:r>
              <a:rPr lang="en-ID" dirty="0" err="1">
                <a:solidFill>
                  <a:schemeClr val="bg1"/>
                </a:solidFill>
              </a:rPr>
              <a:t>sebuah</a:t>
            </a:r>
            <a:r>
              <a:rPr lang="en-ID" dirty="0">
                <a:solidFill>
                  <a:schemeClr val="bg1"/>
                </a:solidFill>
              </a:rPr>
              <a:t> </a:t>
            </a:r>
            <a:r>
              <a:rPr lang="en-ID" dirty="0" err="1">
                <a:solidFill>
                  <a:schemeClr val="bg1"/>
                </a:solidFill>
              </a:rPr>
              <a:t>fungsi</a:t>
            </a:r>
            <a:r>
              <a:rPr lang="en-ID" dirty="0">
                <a:solidFill>
                  <a:schemeClr val="bg1"/>
                </a:solidFill>
              </a:rPr>
              <a:t> </a:t>
            </a:r>
            <a:r>
              <a:rPr lang="en-ID" dirty="0" err="1">
                <a:solidFill>
                  <a:schemeClr val="bg1"/>
                </a:solidFill>
              </a:rPr>
              <a:t>atau</a:t>
            </a:r>
            <a:r>
              <a:rPr lang="en-ID" dirty="0">
                <a:solidFill>
                  <a:schemeClr val="bg1"/>
                </a:solidFill>
              </a:rPr>
              <a:t> </a:t>
            </a:r>
            <a:r>
              <a:rPr lang="en-ID" dirty="0" err="1">
                <a:solidFill>
                  <a:schemeClr val="bg1"/>
                </a:solidFill>
              </a:rPr>
              <a:t>kelas</a:t>
            </a:r>
            <a:r>
              <a:rPr lang="en-ID" dirty="0">
                <a:solidFill>
                  <a:schemeClr val="bg1"/>
                </a:solidFill>
              </a:rPr>
              <a:t> Kotlin. </a:t>
            </a:r>
            <a:r>
              <a:rPr lang="en-ID" dirty="0" err="1">
                <a:solidFill>
                  <a:schemeClr val="bg1"/>
                </a:solidFill>
              </a:rPr>
              <a:t>Anotasi</a:t>
            </a:r>
            <a:r>
              <a:rPr lang="en-ID" dirty="0">
                <a:solidFill>
                  <a:schemeClr val="bg1"/>
                </a:solidFill>
              </a:rPr>
              <a:t> </a:t>
            </a:r>
            <a:r>
              <a:rPr lang="en-ID" dirty="0" err="1">
                <a:solidFill>
                  <a:schemeClr val="bg1"/>
                </a:solidFill>
              </a:rPr>
              <a:t>berfungsi</a:t>
            </a:r>
            <a:r>
              <a:rPr lang="en-ID" dirty="0">
                <a:solidFill>
                  <a:schemeClr val="bg1"/>
                </a:solidFill>
              </a:rPr>
              <a:t> </a:t>
            </a:r>
            <a:r>
              <a:rPr lang="en-ID" dirty="0" err="1">
                <a:solidFill>
                  <a:schemeClr val="bg1"/>
                </a:solidFill>
              </a:rPr>
              <a:t>untuk</a:t>
            </a:r>
            <a:r>
              <a:rPr lang="en-ID" dirty="0">
                <a:solidFill>
                  <a:schemeClr val="bg1"/>
                </a:solidFill>
              </a:rPr>
              <a:t> </a:t>
            </a:r>
            <a:r>
              <a:rPr lang="en-ID" dirty="0" err="1">
                <a:solidFill>
                  <a:schemeClr val="bg1"/>
                </a:solidFill>
              </a:rPr>
              <a:t>memberikan</a:t>
            </a:r>
            <a:r>
              <a:rPr lang="en-ID" dirty="0">
                <a:solidFill>
                  <a:schemeClr val="bg1"/>
                </a:solidFill>
              </a:rPr>
              <a:t> </a:t>
            </a:r>
            <a:r>
              <a:rPr lang="en-ID" dirty="0" err="1">
                <a:solidFill>
                  <a:schemeClr val="bg1"/>
                </a:solidFill>
              </a:rPr>
              <a:t>instruksi</a:t>
            </a:r>
            <a:r>
              <a:rPr lang="en-ID" dirty="0">
                <a:solidFill>
                  <a:schemeClr val="bg1"/>
                </a:solidFill>
              </a:rPr>
              <a:t> </a:t>
            </a:r>
            <a:r>
              <a:rPr lang="en-ID" dirty="0" err="1">
                <a:solidFill>
                  <a:schemeClr val="bg1"/>
                </a:solidFill>
              </a:rPr>
              <a:t>atau</a:t>
            </a:r>
            <a:r>
              <a:rPr lang="en-ID" dirty="0">
                <a:solidFill>
                  <a:schemeClr val="bg1"/>
                </a:solidFill>
              </a:rPr>
              <a:t> </a:t>
            </a:r>
            <a:r>
              <a:rPr lang="en-ID" dirty="0" err="1">
                <a:solidFill>
                  <a:schemeClr val="bg1"/>
                </a:solidFill>
              </a:rPr>
              <a:t>informasi</a:t>
            </a:r>
            <a:r>
              <a:rPr lang="en-ID" dirty="0">
                <a:solidFill>
                  <a:schemeClr val="bg1"/>
                </a:solidFill>
              </a:rPr>
              <a:t> </a:t>
            </a:r>
            <a:r>
              <a:rPr lang="en-ID" dirty="0" err="1">
                <a:solidFill>
                  <a:schemeClr val="bg1"/>
                </a:solidFill>
              </a:rPr>
              <a:t>tambahan</a:t>
            </a:r>
            <a:r>
              <a:rPr lang="en-ID" dirty="0">
                <a:solidFill>
                  <a:schemeClr val="bg1"/>
                </a:solidFill>
              </a:rPr>
              <a:t> </a:t>
            </a:r>
            <a:r>
              <a:rPr lang="en-ID" dirty="0" err="1">
                <a:solidFill>
                  <a:schemeClr val="bg1"/>
                </a:solidFill>
              </a:rPr>
              <a:t>kepada</a:t>
            </a:r>
            <a:r>
              <a:rPr lang="en-ID" dirty="0">
                <a:solidFill>
                  <a:schemeClr val="bg1"/>
                </a:solidFill>
              </a:rPr>
              <a:t> </a:t>
            </a:r>
            <a:r>
              <a:rPr lang="en-ID" i="1" dirty="0">
                <a:solidFill>
                  <a:schemeClr val="bg1"/>
                </a:solidFill>
              </a:rPr>
              <a:t>compiler</a:t>
            </a:r>
            <a:r>
              <a:rPr lang="en-ID" dirty="0">
                <a:solidFill>
                  <a:schemeClr val="bg1"/>
                </a:solidFill>
              </a:rPr>
              <a:t> Android Studio.</a:t>
            </a:r>
          </a:p>
          <a:p>
            <a:pPr marL="342900" lvl="0" indent="-342900">
              <a:buFont typeface="Arial" panose="020B0604020202020204" pitchFamily="34" charset="0"/>
              <a:buChar char="•"/>
            </a:pPr>
            <a:endParaRPr lang="en-ID" dirty="0">
              <a:solidFill>
                <a:schemeClr val="bg1"/>
              </a:solidFill>
            </a:endParaRPr>
          </a:p>
          <a:p>
            <a:pPr marL="342900" lvl="0" indent="-342900">
              <a:buFont typeface="Arial" panose="020B0604020202020204" pitchFamily="34" charset="0"/>
              <a:buChar char="•"/>
            </a:pPr>
            <a:r>
              <a:rPr lang="en-ID" b="1" dirty="0">
                <a:solidFill>
                  <a:schemeClr val="bg1"/>
                </a:solidFill>
              </a:rPr>
              <a:t>Cara </a:t>
            </a:r>
            <a:r>
              <a:rPr lang="en-ID" b="1" dirty="0" err="1">
                <a:solidFill>
                  <a:schemeClr val="bg1"/>
                </a:solidFill>
              </a:rPr>
              <a:t>Kerja</a:t>
            </a:r>
            <a:r>
              <a:rPr lang="en-ID" dirty="0">
                <a:solidFill>
                  <a:schemeClr val="bg1"/>
                </a:solidFill>
              </a:rPr>
              <a:t> Saat </a:t>
            </a:r>
            <a:r>
              <a:rPr lang="en-ID" dirty="0" err="1">
                <a:solidFill>
                  <a:schemeClr val="bg1"/>
                </a:solidFill>
              </a:rPr>
              <a:t>aplikasi</a:t>
            </a:r>
            <a:r>
              <a:rPr lang="en-ID" dirty="0">
                <a:solidFill>
                  <a:schemeClr val="bg1"/>
                </a:solidFill>
              </a:rPr>
              <a:t> di-build (</a:t>
            </a:r>
            <a:r>
              <a:rPr lang="en-ID" dirty="0" err="1">
                <a:solidFill>
                  <a:schemeClr val="bg1"/>
                </a:solidFill>
              </a:rPr>
              <a:t>dikompilasi</a:t>
            </a:r>
            <a:r>
              <a:rPr lang="en-ID" dirty="0">
                <a:solidFill>
                  <a:schemeClr val="bg1"/>
                </a:solidFill>
              </a:rPr>
              <a:t>), </a:t>
            </a:r>
            <a:r>
              <a:rPr lang="en-ID" i="1" dirty="0">
                <a:solidFill>
                  <a:schemeClr val="bg1"/>
                </a:solidFill>
              </a:rPr>
              <a:t>Compose compiler plugin</a:t>
            </a:r>
            <a:r>
              <a:rPr lang="en-ID" dirty="0">
                <a:solidFill>
                  <a:schemeClr val="bg1"/>
                </a:solidFill>
              </a:rPr>
              <a:t> </a:t>
            </a:r>
            <a:r>
              <a:rPr lang="en-ID" dirty="0" err="1">
                <a:solidFill>
                  <a:schemeClr val="bg1"/>
                </a:solidFill>
              </a:rPr>
              <a:t>akan</a:t>
            </a:r>
            <a:r>
              <a:rPr lang="en-ID" dirty="0">
                <a:solidFill>
                  <a:schemeClr val="bg1"/>
                </a:solidFill>
              </a:rPr>
              <a:t> </a:t>
            </a:r>
            <a:r>
              <a:rPr lang="en-ID" dirty="0" err="1">
                <a:solidFill>
                  <a:schemeClr val="bg1"/>
                </a:solidFill>
              </a:rPr>
              <a:t>memindai</a:t>
            </a:r>
            <a:r>
              <a:rPr lang="en-ID" dirty="0">
                <a:solidFill>
                  <a:schemeClr val="bg1"/>
                </a:solidFill>
              </a:rPr>
              <a:t> </a:t>
            </a:r>
            <a:r>
              <a:rPr lang="en-ID" dirty="0" err="1">
                <a:solidFill>
                  <a:schemeClr val="bg1"/>
                </a:solidFill>
              </a:rPr>
              <a:t>kode</a:t>
            </a:r>
            <a:r>
              <a:rPr lang="en-ID" dirty="0">
                <a:solidFill>
                  <a:schemeClr val="bg1"/>
                </a:solidFill>
              </a:rPr>
              <a:t> yang </a:t>
            </a:r>
            <a:r>
              <a:rPr lang="en-ID" dirty="0" err="1">
                <a:solidFill>
                  <a:schemeClr val="bg1"/>
                </a:solidFill>
              </a:rPr>
              <a:t>memiliki</a:t>
            </a:r>
            <a:r>
              <a:rPr lang="en-ID" dirty="0">
                <a:solidFill>
                  <a:schemeClr val="bg1"/>
                </a:solidFill>
              </a:rPr>
              <a:t> </a:t>
            </a:r>
            <a:r>
              <a:rPr lang="en-ID" dirty="0" err="1">
                <a:solidFill>
                  <a:schemeClr val="bg1"/>
                </a:solidFill>
              </a:rPr>
              <a:t>anotasi</a:t>
            </a:r>
            <a:r>
              <a:rPr lang="en-ID" dirty="0">
                <a:solidFill>
                  <a:schemeClr val="bg1"/>
                </a:solidFill>
              </a:rPr>
              <a:t>. </a:t>
            </a:r>
            <a:r>
              <a:rPr lang="en-ID" i="1" dirty="0">
                <a:solidFill>
                  <a:schemeClr val="bg1"/>
                </a:solidFill>
              </a:rPr>
              <a:t>Compiler</a:t>
            </a:r>
            <a:r>
              <a:rPr lang="en-ID" dirty="0">
                <a:solidFill>
                  <a:schemeClr val="bg1"/>
                </a:solidFill>
              </a:rPr>
              <a:t> </a:t>
            </a:r>
            <a:r>
              <a:rPr lang="en-ID" dirty="0" err="1">
                <a:solidFill>
                  <a:schemeClr val="bg1"/>
                </a:solidFill>
              </a:rPr>
              <a:t>kemudian</a:t>
            </a:r>
            <a:r>
              <a:rPr lang="en-ID" dirty="0">
                <a:solidFill>
                  <a:schemeClr val="bg1"/>
                </a:solidFill>
              </a:rPr>
              <a:t> </a:t>
            </a:r>
            <a:r>
              <a:rPr lang="en-ID" dirty="0" err="1">
                <a:solidFill>
                  <a:schemeClr val="bg1"/>
                </a:solidFill>
              </a:rPr>
              <a:t>membaca</a:t>
            </a:r>
            <a:r>
              <a:rPr lang="en-ID" dirty="0">
                <a:solidFill>
                  <a:schemeClr val="bg1"/>
                </a:solidFill>
              </a:rPr>
              <a:t> </a:t>
            </a:r>
            <a:r>
              <a:rPr lang="en-ID" dirty="0" err="1">
                <a:solidFill>
                  <a:schemeClr val="bg1"/>
                </a:solidFill>
              </a:rPr>
              <a:t>penanda</a:t>
            </a:r>
            <a:r>
              <a:rPr lang="en-ID" dirty="0">
                <a:solidFill>
                  <a:schemeClr val="bg1"/>
                </a:solidFill>
              </a:rPr>
              <a:t> </a:t>
            </a:r>
            <a:r>
              <a:rPr lang="en-ID" dirty="0" err="1">
                <a:solidFill>
                  <a:schemeClr val="bg1"/>
                </a:solidFill>
              </a:rPr>
              <a:t>tersebut</a:t>
            </a:r>
            <a:r>
              <a:rPr lang="en-ID" dirty="0">
                <a:solidFill>
                  <a:schemeClr val="bg1"/>
                </a:solidFill>
              </a:rPr>
              <a:t> dan "</a:t>
            </a:r>
            <a:r>
              <a:rPr lang="en-ID" dirty="0" err="1">
                <a:solidFill>
                  <a:schemeClr val="bg1"/>
                </a:solidFill>
              </a:rPr>
              <a:t>mengubah</a:t>
            </a:r>
            <a:r>
              <a:rPr lang="en-ID" dirty="0">
                <a:solidFill>
                  <a:schemeClr val="bg1"/>
                </a:solidFill>
              </a:rPr>
              <a:t>" </a:t>
            </a:r>
            <a:r>
              <a:rPr lang="en-ID" dirty="0" err="1">
                <a:solidFill>
                  <a:schemeClr val="bg1"/>
                </a:solidFill>
              </a:rPr>
              <a:t>fungsi</a:t>
            </a:r>
            <a:r>
              <a:rPr lang="en-ID" dirty="0">
                <a:solidFill>
                  <a:schemeClr val="bg1"/>
                </a:solidFill>
              </a:rPr>
              <a:t> Kotlin </a:t>
            </a:r>
            <a:r>
              <a:rPr lang="en-ID" dirty="0" err="1">
                <a:solidFill>
                  <a:schemeClr val="bg1"/>
                </a:solidFill>
              </a:rPr>
              <a:t>biasa</a:t>
            </a:r>
            <a:r>
              <a:rPr lang="en-ID" dirty="0">
                <a:solidFill>
                  <a:schemeClr val="bg1"/>
                </a:solidFill>
              </a:rPr>
              <a:t> di </a:t>
            </a:r>
            <a:r>
              <a:rPr lang="en-ID" dirty="0" err="1">
                <a:solidFill>
                  <a:schemeClr val="bg1"/>
                </a:solidFill>
              </a:rPr>
              <a:t>baliknya</a:t>
            </a:r>
            <a:r>
              <a:rPr lang="en-ID" dirty="0">
                <a:solidFill>
                  <a:schemeClr val="bg1"/>
                </a:solidFill>
              </a:rPr>
              <a:t> </a:t>
            </a:r>
            <a:r>
              <a:rPr lang="en-ID" dirty="0" err="1">
                <a:solidFill>
                  <a:schemeClr val="bg1"/>
                </a:solidFill>
              </a:rPr>
              <a:t>menjadi</a:t>
            </a:r>
            <a:r>
              <a:rPr lang="en-ID" dirty="0">
                <a:solidFill>
                  <a:schemeClr val="bg1"/>
                </a:solidFill>
              </a:rPr>
              <a:t> </a:t>
            </a:r>
            <a:r>
              <a:rPr lang="en-ID" dirty="0" err="1">
                <a:solidFill>
                  <a:schemeClr val="bg1"/>
                </a:solidFill>
              </a:rPr>
              <a:t>sebuah</a:t>
            </a:r>
            <a:r>
              <a:rPr lang="en-ID" dirty="0">
                <a:solidFill>
                  <a:schemeClr val="bg1"/>
                </a:solidFill>
              </a:rPr>
              <a:t> </a:t>
            </a:r>
            <a:r>
              <a:rPr lang="en-ID" dirty="0" err="1">
                <a:solidFill>
                  <a:schemeClr val="bg1"/>
                </a:solidFill>
              </a:rPr>
              <a:t>pohon</a:t>
            </a:r>
            <a:r>
              <a:rPr lang="en-ID" dirty="0">
                <a:solidFill>
                  <a:schemeClr val="bg1"/>
                </a:solidFill>
              </a:rPr>
              <a:t> </a:t>
            </a:r>
            <a:r>
              <a:rPr lang="en-ID" dirty="0" err="1">
                <a:solidFill>
                  <a:schemeClr val="bg1"/>
                </a:solidFill>
              </a:rPr>
              <a:t>komponen</a:t>
            </a:r>
            <a:r>
              <a:rPr lang="en-ID" dirty="0">
                <a:solidFill>
                  <a:schemeClr val="bg1"/>
                </a:solidFill>
              </a:rPr>
              <a:t> </a:t>
            </a:r>
            <a:r>
              <a:rPr lang="en-ID" dirty="0" err="1">
                <a:solidFill>
                  <a:schemeClr val="bg1"/>
                </a:solidFill>
              </a:rPr>
              <a:t>antarmuka</a:t>
            </a:r>
            <a:r>
              <a:rPr lang="en-ID" dirty="0">
                <a:solidFill>
                  <a:schemeClr val="bg1"/>
                </a:solidFill>
              </a:rPr>
              <a:t> (UI) yang </a:t>
            </a:r>
            <a:r>
              <a:rPr lang="en-ID" dirty="0" err="1">
                <a:solidFill>
                  <a:schemeClr val="bg1"/>
                </a:solidFill>
              </a:rPr>
              <a:t>cerdas</a:t>
            </a:r>
            <a:r>
              <a:rPr lang="en-ID" dirty="0">
                <a:solidFill>
                  <a:schemeClr val="bg1"/>
                </a:solidFill>
              </a:rPr>
              <a:t> dan </a:t>
            </a:r>
            <a:r>
              <a:rPr lang="en-ID" dirty="0" err="1">
                <a:solidFill>
                  <a:schemeClr val="bg1"/>
                </a:solidFill>
              </a:rPr>
              <a:t>mampu</a:t>
            </a:r>
            <a:r>
              <a:rPr lang="en-ID" dirty="0">
                <a:solidFill>
                  <a:schemeClr val="bg1"/>
                </a:solidFill>
              </a:rPr>
              <a:t> </a:t>
            </a:r>
            <a:r>
              <a:rPr lang="en-ID" dirty="0" err="1">
                <a:solidFill>
                  <a:schemeClr val="bg1"/>
                </a:solidFill>
              </a:rPr>
              <a:t>melacak</a:t>
            </a:r>
            <a:r>
              <a:rPr lang="en-ID" dirty="0">
                <a:solidFill>
                  <a:schemeClr val="bg1"/>
                </a:solidFill>
              </a:rPr>
              <a:t> </a:t>
            </a:r>
            <a:r>
              <a:rPr lang="en-ID" dirty="0" err="1">
                <a:solidFill>
                  <a:schemeClr val="bg1"/>
                </a:solidFill>
              </a:rPr>
              <a:t>perubahan</a:t>
            </a:r>
            <a:r>
              <a:rPr lang="en-ID" dirty="0">
                <a:solidFill>
                  <a:schemeClr val="bg1"/>
                </a:solidFill>
              </a:rPr>
              <a:t> data </a:t>
            </a:r>
            <a:r>
              <a:rPr lang="en-ID" dirty="0" err="1">
                <a:solidFill>
                  <a:schemeClr val="bg1"/>
                </a:solidFill>
              </a:rPr>
              <a:t>secara</a:t>
            </a:r>
            <a:r>
              <a:rPr lang="en-ID" dirty="0">
                <a:solidFill>
                  <a:schemeClr val="bg1"/>
                </a:solidFill>
              </a:rPr>
              <a:t> </a:t>
            </a:r>
            <a:r>
              <a:rPr lang="en-ID" dirty="0" err="1">
                <a:solidFill>
                  <a:schemeClr val="bg1"/>
                </a:solidFill>
              </a:rPr>
              <a:t>otomatis</a:t>
            </a:r>
            <a:r>
              <a:rPr lang="en-ID" dirty="0">
                <a:solidFill>
                  <a:schemeClr val="bg1"/>
                </a:solidFill>
              </a:rPr>
              <a:t> (</a:t>
            </a:r>
            <a:r>
              <a:rPr lang="en-ID" i="1" dirty="0" err="1">
                <a:solidFill>
                  <a:schemeClr val="bg1"/>
                </a:solidFill>
              </a:rPr>
              <a:t>recomposition</a:t>
            </a:r>
            <a:r>
              <a:rPr lang="en-ID" dirty="0">
                <a:solidFill>
                  <a:schemeClr val="bg1"/>
                </a:solidFill>
              </a:rPr>
              <a:t>).</a:t>
            </a:r>
          </a:p>
          <a:p>
            <a:pPr marL="342900" lvl="0" indent="-342900">
              <a:buFont typeface="Arial" panose="020B0604020202020204" pitchFamily="34" charset="0"/>
              <a:buChar char="•"/>
            </a:pPr>
            <a:endParaRPr lang="en-ID" dirty="0">
              <a:solidFill>
                <a:schemeClr val="bg1"/>
              </a:solidFill>
            </a:endParaRPr>
          </a:p>
          <a:p>
            <a:pPr marL="342900" lvl="0" indent="-342900">
              <a:buFont typeface="Arial" panose="020B0604020202020204" pitchFamily="34" charset="0"/>
              <a:buChar char="•"/>
            </a:pPr>
            <a:r>
              <a:rPr lang="en-ID" b="1" dirty="0" err="1">
                <a:solidFill>
                  <a:schemeClr val="bg1"/>
                </a:solidFill>
              </a:rPr>
              <a:t>Fungsi</a:t>
            </a:r>
            <a:r>
              <a:rPr lang="en-ID" b="1" dirty="0">
                <a:solidFill>
                  <a:schemeClr val="bg1"/>
                </a:solidFill>
              </a:rPr>
              <a:t> Utama</a:t>
            </a:r>
            <a:r>
              <a:rPr lang="en-ID" dirty="0">
                <a:solidFill>
                  <a:schemeClr val="bg1"/>
                </a:solidFill>
              </a:rPr>
              <a:t> </a:t>
            </a:r>
            <a:r>
              <a:rPr lang="en-ID" dirty="0" err="1">
                <a:solidFill>
                  <a:schemeClr val="bg1"/>
                </a:solidFill>
              </a:rPr>
              <a:t>Memberi</a:t>
            </a:r>
            <a:r>
              <a:rPr lang="en-ID" dirty="0">
                <a:solidFill>
                  <a:schemeClr val="bg1"/>
                </a:solidFill>
              </a:rPr>
              <a:t> </a:t>
            </a:r>
            <a:r>
              <a:rPr lang="en-ID" dirty="0" err="1">
                <a:solidFill>
                  <a:schemeClr val="bg1"/>
                </a:solidFill>
              </a:rPr>
              <a:t>tahu</a:t>
            </a:r>
            <a:r>
              <a:rPr lang="en-ID" dirty="0">
                <a:solidFill>
                  <a:schemeClr val="bg1"/>
                </a:solidFill>
              </a:rPr>
              <a:t> </a:t>
            </a:r>
            <a:r>
              <a:rPr lang="en-ID" dirty="0" err="1">
                <a:solidFill>
                  <a:schemeClr val="bg1"/>
                </a:solidFill>
              </a:rPr>
              <a:t>sistem</a:t>
            </a:r>
            <a:r>
              <a:rPr lang="en-ID" dirty="0">
                <a:solidFill>
                  <a:schemeClr val="bg1"/>
                </a:solidFill>
              </a:rPr>
              <a:t> </a:t>
            </a:r>
            <a:r>
              <a:rPr lang="en-ID" dirty="0" err="1">
                <a:solidFill>
                  <a:schemeClr val="bg1"/>
                </a:solidFill>
              </a:rPr>
              <a:t>bagaimana</a:t>
            </a:r>
            <a:r>
              <a:rPr lang="en-ID" dirty="0">
                <a:solidFill>
                  <a:schemeClr val="bg1"/>
                </a:solidFill>
              </a:rPr>
              <a:t> </a:t>
            </a:r>
            <a:r>
              <a:rPr lang="en-ID" dirty="0" err="1">
                <a:solidFill>
                  <a:schemeClr val="bg1"/>
                </a:solidFill>
              </a:rPr>
              <a:t>sebuah</a:t>
            </a:r>
            <a:r>
              <a:rPr lang="en-ID" dirty="0">
                <a:solidFill>
                  <a:schemeClr val="bg1"/>
                </a:solidFill>
              </a:rPr>
              <a:t> </a:t>
            </a:r>
            <a:r>
              <a:rPr lang="en-ID" dirty="0" err="1">
                <a:solidFill>
                  <a:schemeClr val="bg1"/>
                </a:solidFill>
              </a:rPr>
              <a:t>blok</a:t>
            </a:r>
            <a:r>
              <a:rPr lang="en-ID" dirty="0">
                <a:solidFill>
                  <a:schemeClr val="bg1"/>
                </a:solidFill>
              </a:rPr>
              <a:t> </a:t>
            </a:r>
            <a:r>
              <a:rPr lang="en-ID" dirty="0" err="1">
                <a:solidFill>
                  <a:schemeClr val="bg1"/>
                </a:solidFill>
              </a:rPr>
              <a:t>kode</a:t>
            </a:r>
            <a:r>
              <a:rPr lang="en-ID" dirty="0">
                <a:solidFill>
                  <a:schemeClr val="bg1"/>
                </a:solidFill>
              </a:rPr>
              <a:t> </a:t>
            </a:r>
            <a:r>
              <a:rPr lang="en-ID" dirty="0" err="1">
                <a:solidFill>
                  <a:schemeClr val="bg1"/>
                </a:solidFill>
              </a:rPr>
              <a:t>harus</a:t>
            </a:r>
            <a:r>
              <a:rPr lang="en-ID" dirty="0">
                <a:solidFill>
                  <a:schemeClr val="bg1"/>
                </a:solidFill>
              </a:rPr>
              <a:t> </a:t>
            </a:r>
            <a:r>
              <a:rPr lang="en-ID" dirty="0" err="1">
                <a:solidFill>
                  <a:schemeClr val="bg1"/>
                </a:solidFill>
              </a:rPr>
              <a:t>diperlakukan</a:t>
            </a:r>
            <a:r>
              <a:rPr lang="en-ID" dirty="0">
                <a:solidFill>
                  <a:schemeClr val="bg1"/>
                </a:solidFill>
              </a:rPr>
              <a:t>, </a:t>
            </a:r>
            <a:r>
              <a:rPr lang="en-ID" dirty="0" err="1">
                <a:solidFill>
                  <a:schemeClr val="bg1"/>
                </a:solidFill>
              </a:rPr>
              <a:t>dirender</a:t>
            </a:r>
            <a:r>
              <a:rPr lang="en-ID" dirty="0">
                <a:solidFill>
                  <a:schemeClr val="bg1"/>
                </a:solidFill>
              </a:rPr>
              <a:t>, </a:t>
            </a:r>
            <a:r>
              <a:rPr lang="en-ID" dirty="0" err="1">
                <a:solidFill>
                  <a:schemeClr val="bg1"/>
                </a:solidFill>
              </a:rPr>
              <a:t>atau</a:t>
            </a:r>
            <a:r>
              <a:rPr lang="en-ID" dirty="0">
                <a:solidFill>
                  <a:schemeClr val="bg1"/>
                </a:solidFill>
              </a:rPr>
              <a:t> </a:t>
            </a:r>
            <a:r>
              <a:rPr lang="en-ID" dirty="0" err="1">
                <a:solidFill>
                  <a:schemeClr val="bg1"/>
                </a:solidFill>
              </a:rPr>
              <a:t>dikelola</a:t>
            </a:r>
            <a:r>
              <a:rPr lang="en-ID" dirty="0">
                <a:solidFill>
                  <a:schemeClr val="bg1"/>
                </a:solidFill>
              </a:rPr>
              <a:t> </a:t>
            </a:r>
            <a:r>
              <a:rPr lang="en-ID" dirty="0" err="1">
                <a:solidFill>
                  <a:schemeClr val="bg1"/>
                </a:solidFill>
              </a:rPr>
              <a:t>tanpa</a:t>
            </a:r>
            <a:r>
              <a:rPr lang="en-ID" dirty="0">
                <a:solidFill>
                  <a:schemeClr val="bg1"/>
                </a:solidFill>
              </a:rPr>
              <a:t> </a:t>
            </a:r>
            <a:r>
              <a:rPr lang="en-ID" dirty="0" err="1">
                <a:solidFill>
                  <a:schemeClr val="bg1"/>
                </a:solidFill>
              </a:rPr>
              <a:t>mengharuskan</a:t>
            </a:r>
            <a:r>
              <a:rPr lang="en-ID" dirty="0">
                <a:solidFill>
                  <a:schemeClr val="bg1"/>
                </a:solidFill>
              </a:rPr>
              <a:t> developer </a:t>
            </a:r>
            <a:r>
              <a:rPr lang="en-ID" dirty="0" err="1">
                <a:solidFill>
                  <a:schemeClr val="bg1"/>
                </a:solidFill>
              </a:rPr>
              <a:t>menulis</a:t>
            </a:r>
            <a:r>
              <a:rPr lang="en-ID" dirty="0">
                <a:solidFill>
                  <a:schemeClr val="bg1"/>
                </a:solidFill>
              </a:rPr>
              <a:t> </a:t>
            </a:r>
            <a:r>
              <a:rPr lang="en-ID" dirty="0" err="1">
                <a:solidFill>
                  <a:schemeClr val="bg1"/>
                </a:solidFill>
              </a:rPr>
              <a:t>kode</a:t>
            </a:r>
            <a:r>
              <a:rPr lang="en-ID" dirty="0">
                <a:solidFill>
                  <a:schemeClr val="bg1"/>
                </a:solidFill>
              </a:rPr>
              <a:t> </a:t>
            </a:r>
            <a:r>
              <a:rPr lang="en-ID" dirty="0" err="1">
                <a:solidFill>
                  <a:schemeClr val="bg1"/>
                </a:solidFill>
              </a:rPr>
              <a:t>instruksi</a:t>
            </a:r>
            <a:r>
              <a:rPr lang="en-ID" dirty="0">
                <a:solidFill>
                  <a:schemeClr val="bg1"/>
                </a:solidFill>
              </a:rPr>
              <a:t> (</a:t>
            </a:r>
            <a:r>
              <a:rPr lang="en-ID" i="1" dirty="0">
                <a:solidFill>
                  <a:schemeClr val="bg1"/>
                </a:solidFill>
              </a:rPr>
              <a:t>boilerplate</a:t>
            </a:r>
            <a:r>
              <a:rPr lang="en-ID" dirty="0">
                <a:solidFill>
                  <a:schemeClr val="bg1"/>
                </a:solidFill>
              </a:rPr>
              <a:t>) yang </a:t>
            </a:r>
            <a:r>
              <a:rPr lang="en-ID" dirty="0" err="1">
                <a:solidFill>
                  <a:schemeClr val="bg1"/>
                </a:solidFill>
              </a:rPr>
              <a:t>panjang</a:t>
            </a:r>
            <a:r>
              <a:rPr lang="en-ID" dirty="0">
                <a:solidFill>
                  <a:schemeClr val="bg1"/>
                </a:solidFill>
              </a:rPr>
              <a:t> dan </a:t>
            </a:r>
            <a:r>
              <a:rPr lang="en-ID" dirty="0" err="1">
                <a:solidFill>
                  <a:schemeClr val="bg1"/>
                </a:solidFill>
              </a:rPr>
              <a:t>rumit</a:t>
            </a:r>
            <a:r>
              <a:rPr lang="en-ID" dirty="0">
                <a:solidFill>
                  <a:schemeClr val="bg1"/>
                </a:solidFill>
              </a:rPr>
              <a:t>.</a:t>
            </a:r>
          </a:p>
        </p:txBody>
      </p:sp>
      <p:pic>
        <p:nvPicPr>
          <p:cNvPr id="27" name="Picture 26">
            <a:extLst>
              <a:ext uri="{FF2B5EF4-FFF2-40B4-BE49-F238E27FC236}">
                <a16:creationId xmlns:a16="http://schemas.microsoft.com/office/drawing/2014/main" id="{112DB95D-AE19-ED34-CDC5-6C40859C56CA}"/>
              </a:ext>
            </a:extLst>
          </p:cNvPr>
          <p:cNvPicPr>
            <a:picLocks noChangeAspect="1"/>
          </p:cNvPicPr>
          <p:nvPr/>
        </p:nvPicPr>
        <p:blipFill>
          <a:blip r:embed="rId3"/>
          <a:stretch>
            <a:fillRect/>
          </a:stretch>
        </p:blipFill>
        <p:spPr>
          <a:xfrm>
            <a:off x="6710289" y="1686658"/>
            <a:ext cx="5274603" cy="3278563"/>
          </a:xfrm>
          <a:prstGeom prst="rect">
            <a:avLst/>
          </a:prstGeom>
        </p:spPr>
      </p:pic>
    </p:spTree>
    <p:extLst>
      <p:ext uri="{BB962C8B-B14F-4D97-AF65-F5344CB8AC3E}">
        <p14:creationId xmlns:p14="http://schemas.microsoft.com/office/powerpoint/2010/main" val="1105150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8485E-1DAC-BEAD-7A4F-F2C181B410C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C7442DB-7057-364D-70E8-20DDE8BA7CB2}"/>
              </a:ext>
            </a:extLst>
          </p:cNvPr>
          <p:cNvSpPr/>
          <p:nvPr/>
        </p:nvSpPr>
        <p:spPr>
          <a:xfrm>
            <a:off x="661475" y="480616"/>
            <a:ext cx="10868745" cy="298748"/>
          </a:xfrm>
          <a:prstGeom prst="rect">
            <a:avLst/>
          </a:prstGeom>
          <a:noFill/>
          <a:ln/>
        </p:spPr>
        <p:txBody>
          <a:bodyPr wrap="none" lIns="0" tIns="0" rIns="0" bIns="0" rtlCol="0" anchor="t"/>
          <a:lstStyle/>
          <a:p>
            <a:pPr marL="0" indent="0" algn="l">
              <a:lnSpc>
                <a:spcPct val="104000"/>
              </a:lnSpc>
              <a:buNone/>
            </a:pPr>
            <a:r>
              <a:rPr lang="en-US" sz="1850" dirty="0">
                <a:solidFill>
                  <a:srgbClr val="F2F0F4"/>
                </a:solidFill>
                <a:latin typeface="Montserrat" pitchFamily="34" charset="0"/>
                <a:ea typeface="Montserrat" pitchFamily="34" charset="-122"/>
                <a:cs typeface="Montserrat" pitchFamily="34" charset="-120"/>
              </a:rPr>
              <a:t>Annotation/</a:t>
            </a:r>
            <a:r>
              <a:rPr lang="en-US" sz="1850" dirty="0" err="1">
                <a:solidFill>
                  <a:srgbClr val="F2F0F4"/>
                </a:solidFill>
                <a:latin typeface="Montserrat" pitchFamily="34" charset="0"/>
                <a:ea typeface="Montserrat" pitchFamily="34" charset="-122"/>
                <a:cs typeface="Montserrat" pitchFamily="34" charset="-120"/>
              </a:rPr>
              <a:t>Anotasi</a:t>
            </a:r>
            <a:endParaRPr lang="en-US" sz="1850" dirty="0"/>
          </a:p>
        </p:txBody>
      </p:sp>
      <p:sp>
        <p:nvSpPr>
          <p:cNvPr id="4" name="TextBox 3">
            <a:extLst>
              <a:ext uri="{FF2B5EF4-FFF2-40B4-BE49-F238E27FC236}">
                <a16:creationId xmlns:a16="http://schemas.microsoft.com/office/drawing/2014/main" id="{56B1674F-14A0-6B0B-DE4C-6015E3DB2151}"/>
              </a:ext>
            </a:extLst>
          </p:cNvPr>
          <p:cNvSpPr txBox="1"/>
          <p:nvPr/>
        </p:nvSpPr>
        <p:spPr>
          <a:xfrm>
            <a:off x="661475" y="1873056"/>
            <a:ext cx="6182670" cy="4204356"/>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D" b="1" dirty="0">
                <a:solidFill>
                  <a:schemeClr val="bg1"/>
                </a:solidFill>
                <a:latin typeface="+mn-lt"/>
              </a:rPr>
              <a:t>@Composable</a:t>
            </a:r>
            <a:r>
              <a:rPr lang="en-ID" dirty="0">
                <a:solidFill>
                  <a:schemeClr val="bg1"/>
                </a:solidFill>
              </a:rPr>
              <a:t>: </a:t>
            </a:r>
            <a:r>
              <a:rPr lang="en-ID" dirty="0" err="1">
                <a:solidFill>
                  <a:schemeClr val="bg1"/>
                </a:solidFill>
              </a:rPr>
              <a:t>Memberi</a:t>
            </a:r>
            <a:r>
              <a:rPr lang="en-ID" dirty="0">
                <a:solidFill>
                  <a:schemeClr val="bg1"/>
                </a:solidFill>
              </a:rPr>
              <a:t> </a:t>
            </a:r>
            <a:r>
              <a:rPr lang="en-ID" dirty="0" err="1">
                <a:solidFill>
                  <a:schemeClr val="bg1"/>
                </a:solidFill>
              </a:rPr>
              <a:t>tahu</a:t>
            </a:r>
            <a:r>
              <a:rPr lang="en-ID" dirty="0">
                <a:solidFill>
                  <a:schemeClr val="bg1"/>
                </a:solidFill>
              </a:rPr>
              <a:t> </a:t>
            </a:r>
            <a:r>
              <a:rPr lang="en-ID" i="1" dirty="0">
                <a:solidFill>
                  <a:schemeClr val="bg1"/>
                </a:solidFill>
              </a:rPr>
              <a:t>compiler</a:t>
            </a:r>
            <a:r>
              <a:rPr lang="en-ID" dirty="0">
                <a:solidFill>
                  <a:schemeClr val="bg1"/>
                </a:solidFill>
              </a:rPr>
              <a:t> </a:t>
            </a:r>
            <a:r>
              <a:rPr lang="en-ID" dirty="0" err="1">
                <a:solidFill>
                  <a:schemeClr val="bg1"/>
                </a:solidFill>
              </a:rPr>
              <a:t>bahwa</a:t>
            </a:r>
            <a:r>
              <a:rPr lang="en-ID" dirty="0">
                <a:solidFill>
                  <a:schemeClr val="bg1"/>
                </a:solidFill>
              </a:rPr>
              <a:t> </a:t>
            </a:r>
            <a:r>
              <a:rPr lang="en-ID" dirty="0" err="1">
                <a:solidFill>
                  <a:schemeClr val="bg1"/>
                </a:solidFill>
              </a:rPr>
              <a:t>fungsi</a:t>
            </a:r>
            <a:r>
              <a:rPr lang="en-ID" dirty="0">
                <a:solidFill>
                  <a:schemeClr val="bg1"/>
                </a:solidFill>
              </a:rPr>
              <a:t> </a:t>
            </a:r>
            <a:r>
              <a:rPr lang="en-ID" dirty="0" err="1">
                <a:solidFill>
                  <a:schemeClr val="bg1"/>
                </a:solidFill>
              </a:rPr>
              <a:t>tersebut</a:t>
            </a:r>
            <a:r>
              <a:rPr lang="en-ID" dirty="0">
                <a:solidFill>
                  <a:schemeClr val="bg1"/>
                </a:solidFill>
              </a:rPr>
              <a:t> </a:t>
            </a:r>
            <a:r>
              <a:rPr lang="en-ID" dirty="0" err="1">
                <a:solidFill>
                  <a:schemeClr val="bg1"/>
                </a:solidFill>
              </a:rPr>
              <a:t>bukan</a:t>
            </a:r>
            <a:r>
              <a:rPr lang="en-ID" dirty="0">
                <a:solidFill>
                  <a:schemeClr val="bg1"/>
                </a:solidFill>
              </a:rPr>
              <a:t> </a:t>
            </a:r>
            <a:r>
              <a:rPr lang="en-ID" dirty="0" err="1">
                <a:solidFill>
                  <a:schemeClr val="bg1"/>
                </a:solidFill>
              </a:rPr>
              <a:t>fungsi</a:t>
            </a:r>
            <a:r>
              <a:rPr lang="en-ID" dirty="0">
                <a:solidFill>
                  <a:schemeClr val="bg1"/>
                </a:solidFill>
              </a:rPr>
              <a:t> </a:t>
            </a:r>
            <a:r>
              <a:rPr lang="en-ID" dirty="0" err="1">
                <a:solidFill>
                  <a:schemeClr val="bg1"/>
                </a:solidFill>
              </a:rPr>
              <a:t>matematika</a:t>
            </a:r>
            <a:r>
              <a:rPr lang="en-ID" dirty="0">
                <a:solidFill>
                  <a:schemeClr val="bg1"/>
                </a:solidFill>
              </a:rPr>
              <a:t> </a:t>
            </a:r>
            <a:r>
              <a:rPr lang="en-ID" dirty="0" err="1">
                <a:solidFill>
                  <a:schemeClr val="bg1"/>
                </a:solidFill>
              </a:rPr>
              <a:t>atau</a:t>
            </a:r>
            <a:r>
              <a:rPr lang="en-ID" dirty="0">
                <a:solidFill>
                  <a:schemeClr val="bg1"/>
                </a:solidFill>
              </a:rPr>
              <a:t> </a:t>
            </a:r>
            <a:r>
              <a:rPr lang="en-ID" dirty="0" err="1">
                <a:solidFill>
                  <a:schemeClr val="bg1"/>
                </a:solidFill>
              </a:rPr>
              <a:t>logika</a:t>
            </a:r>
            <a:r>
              <a:rPr lang="en-ID" dirty="0">
                <a:solidFill>
                  <a:schemeClr val="bg1"/>
                </a:solidFill>
              </a:rPr>
              <a:t> </a:t>
            </a:r>
            <a:r>
              <a:rPr lang="en-ID" dirty="0" err="1">
                <a:solidFill>
                  <a:schemeClr val="bg1"/>
                </a:solidFill>
              </a:rPr>
              <a:t>biasa</a:t>
            </a:r>
            <a:r>
              <a:rPr lang="en-ID" dirty="0">
                <a:solidFill>
                  <a:schemeClr val="bg1"/>
                </a:solidFill>
              </a:rPr>
              <a:t>, </a:t>
            </a:r>
            <a:r>
              <a:rPr lang="en-ID" dirty="0" err="1">
                <a:solidFill>
                  <a:schemeClr val="bg1"/>
                </a:solidFill>
              </a:rPr>
              <a:t>melainkan</a:t>
            </a:r>
            <a:r>
              <a:rPr lang="en-ID" dirty="0">
                <a:solidFill>
                  <a:schemeClr val="bg1"/>
                </a:solidFill>
              </a:rPr>
              <a:t> </a:t>
            </a:r>
            <a:r>
              <a:rPr lang="en-ID" dirty="0" err="1">
                <a:solidFill>
                  <a:schemeClr val="bg1"/>
                </a:solidFill>
              </a:rPr>
              <a:t>sebuah</a:t>
            </a:r>
            <a:r>
              <a:rPr lang="en-ID" dirty="0">
                <a:solidFill>
                  <a:schemeClr val="bg1"/>
                </a:solidFill>
              </a:rPr>
              <a:t> </a:t>
            </a:r>
            <a:r>
              <a:rPr lang="en-ID" b="1" dirty="0" err="1">
                <a:solidFill>
                  <a:schemeClr val="bg1"/>
                </a:solidFill>
              </a:rPr>
              <a:t>komponen</a:t>
            </a:r>
            <a:r>
              <a:rPr lang="en-ID" b="1" dirty="0">
                <a:solidFill>
                  <a:schemeClr val="bg1"/>
                </a:solidFill>
              </a:rPr>
              <a:t> UI</a:t>
            </a:r>
            <a:r>
              <a:rPr lang="en-ID" dirty="0">
                <a:solidFill>
                  <a:schemeClr val="bg1"/>
                </a:solidFill>
              </a:rPr>
              <a:t> (</a:t>
            </a:r>
            <a:r>
              <a:rPr lang="en-ID" dirty="0" err="1">
                <a:solidFill>
                  <a:schemeClr val="bg1"/>
                </a:solidFill>
              </a:rPr>
              <a:t>seperti</a:t>
            </a:r>
            <a:r>
              <a:rPr lang="en-ID" dirty="0">
                <a:solidFill>
                  <a:schemeClr val="bg1"/>
                </a:solidFill>
              </a:rPr>
              <a:t> </a:t>
            </a:r>
            <a:r>
              <a:rPr lang="en-ID" dirty="0" err="1">
                <a:solidFill>
                  <a:schemeClr val="bg1"/>
                </a:solidFill>
              </a:rPr>
              <a:t>tombol</a:t>
            </a:r>
            <a:r>
              <a:rPr lang="en-ID" dirty="0">
                <a:solidFill>
                  <a:schemeClr val="bg1"/>
                </a:solidFill>
              </a:rPr>
              <a:t>, </a:t>
            </a:r>
            <a:r>
              <a:rPr lang="en-ID" dirty="0" err="1">
                <a:solidFill>
                  <a:schemeClr val="bg1"/>
                </a:solidFill>
              </a:rPr>
              <a:t>teks</a:t>
            </a:r>
            <a:r>
              <a:rPr lang="en-ID" dirty="0">
                <a:solidFill>
                  <a:schemeClr val="bg1"/>
                </a:solidFill>
              </a:rPr>
              <a:t>, </a:t>
            </a:r>
            <a:r>
              <a:rPr lang="en-ID" dirty="0" err="1">
                <a:solidFill>
                  <a:schemeClr val="bg1"/>
                </a:solidFill>
              </a:rPr>
              <a:t>atau</a:t>
            </a:r>
            <a:r>
              <a:rPr lang="en-ID" dirty="0">
                <a:solidFill>
                  <a:schemeClr val="bg1"/>
                </a:solidFill>
              </a:rPr>
              <a:t> </a:t>
            </a:r>
            <a:r>
              <a:rPr lang="en-ID" dirty="0" err="1">
                <a:solidFill>
                  <a:schemeClr val="bg1"/>
                </a:solidFill>
              </a:rPr>
              <a:t>gambar</a:t>
            </a:r>
            <a:r>
              <a:rPr lang="en-ID" dirty="0">
                <a:solidFill>
                  <a:schemeClr val="bg1"/>
                </a:solidFill>
              </a:rPr>
              <a:t>) yang </a:t>
            </a:r>
            <a:r>
              <a:rPr lang="en-ID" dirty="0" err="1">
                <a:solidFill>
                  <a:schemeClr val="bg1"/>
                </a:solidFill>
              </a:rPr>
              <a:t>akan</a:t>
            </a:r>
            <a:r>
              <a:rPr lang="en-ID" dirty="0">
                <a:solidFill>
                  <a:schemeClr val="bg1"/>
                </a:solidFill>
              </a:rPr>
              <a:t> </a:t>
            </a:r>
            <a:r>
              <a:rPr lang="en-ID" dirty="0" err="1">
                <a:solidFill>
                  <a:schemeClr val="bg1"/>
                </a:solidFill>
              </a:rPr>
              <a:t>digambar</a:t>
            </a:r>
            <a:r>
              <a:rPr lang="en-ID" dirty="0">
                <a:solidFill>
                  <a:schemeClr val="bg1"/>
                </a:solidFill>
              </a:rPr>
              <a:t> </a:t>
            </a:r>
            <a:r>
              <a:rPr lang="en-ID" dirty="0" err="1">
                <a:solidFill>
                  <a:schemeClr val="bg1"/>
                </a:solidFill>
              </a:rPr>
              <a:t>ke</a:t>
            </a:r>
            <a:r>
              <a:rPr lang="en-ID" dirty="0">
                <a:solidFill>
                  <a:schemeClr val="bg1"/>
                </a:solidFill>
              </a:rPr>
              <a:t> </a:t>
            </a:r>
            <a:r>
              <a:rPr lang="en-ID" dirty="0" err="1">
                <a:solidFill>
                  <a:schemeClr val="bg1"/>
                </a:solidFill>
              </a:rPr>
              <a:t>layar</a:t>
            </a:r>
            <a:r>
              <a:rPr lang="en-ID" dirty="0">
                <a:solidFill>
                  <a:schemeClr val="bg1"/>
                </a:solidFill>
              </a:rPr>
              <a:t>.</a:t>
            </a:r>
          </a:p>
          <a:p>
            <a:pPr marL="342900" lvl="0" indent="-342900">
              <a:lnSpc>
                <a:spcPct val="150000"/>
              </a:lnSpc>
              <a:buFont typeface="Arial" panose="020B0604020202020204" pitchFamily="34" charset="0"/>
              <a:buChar char="•"/>
            </a:pPr>
            <a:endParaRPr lang="en-ID" dirty="0">
              <a:solidFill>
                <a:schemeClr val="bg1"/>
              </a:solidFill>
            </a:endParaRPr>
          </a:p>
          <a:p>
            <a:pPr lvl="0">
              <a:lnSpc>
                <a:spcPct val="150000"/>
              </a:lnSpc>
            </a:pPr>
            <a:endParaRPr lang="en-ID" dirty="0">
              <a:solidFill>
                <a:schemeClr val="bg1"/>
              </a:solidFill>
            </a:endParaRPr>
          </a:p>
          <a:p>
            <a:pPr marL="342900" lvl="0" indent="-342900">
              <a:lnSpc>
                <a:spcPct val="150000"/>
              </a:lnSpc>
              <a:buFont typeface="Arial" panose="020B0604020202020204" pitchFamily="34" charset="0"/>
              <a:buChar char="•"/>
            </a:pPr>
            <a:r>
              <a:rPr lang="en-ID" b="1" dirty="0">
                <a:solidFill>
                  <a:schemeClr val="bg1"/>
                </a:solidFill>
                <a:latin typeface="+mn-lt"/>
              </a:rPr>
              <a:t>@Preview</a:t>
            </a:r>
            <a:r>
              <a:rPr lang="en-ID" dirty="0">
                <a:solidFill>
                  <a:schemeClr val="bg1"/>
                </a:solidFill>
              </a:rPr>
              <a:t>: </a:t>
            </a:r>
            <a:r>
              <a:rPr lang="en-ID" dirty="0" err="1">
                <a:solidFill>
                  <a:schemeClr val="bg1"/>
                </a:solidFill>
              </a:rPr>
              <a:t>Memungkinkan</a:t>
            </a:r>
            <a:r>
              <a:rPr lang="en-ID" dirty="0">
                <a:solidFill>
                  <a:schemeClr val="bg1"/>
                </a:solidFill>
              </a:rPr>
              <a:t> developer </a:t>
            </a:r>
            <a:r>
              <a:rPr lang="en-ID" dirty="0" err="1">
                <a:solidFill>
                  <a:schemeClr val="bg1"/>
                </a:solidFill>
              </a:rPr>
              <a:t>untuk</a:t>
            </a:r>
            <a:r>
              <a:rPr lang="en-ID" dirty="0">
                <a:solidFill>
                  <a:schemeClr val="bg1"/>
                </a:solidFill>
              </a:rPr>
              <a:t> </a:t>
            </a:r>
            <a:r>
              <a:rPr lang="en-ID" b="1" dirty="0" err="1">
                <a:solidFill>
                  <a:schemeClr val="bg1"/>
                </a:solidFill>
              </a:rPr>
              <a:t>melihat</a:t>
            </a:r>
            <a:r>
              <a:rPr lang="en-ID" b="1" dirty="0">
                <a:solidFill>
                  <a:schemeClr val="bg1"/>
                </a:solidFill>
              </a:rPr>
              <a:t> </a:t>
            </a:r>
            <a:r>
              <a:rPr lang="en-ID" b="1" dirty="0" err="1">
                <a:solidFill>
                  <a:schemeClr val="bg1"/>
                </a:solidFill>
              </a:rPr>
              <a:t>pratinjau</a:t>
            </a:r>
            <a:r>
              <a:rPr lang="en-ID" b="1" dirty="0">
                <a:solidFill>
                  <a:schemeClr val="bg1"/>
                </a:solidFill>
              </a:rPr>
              <a:t> (</a:t>
            </a:r>
            <a:r>
              <a:rPr lang="en-ID" b="1" i="1" dirty="0">
                <a:solidFill>
                  <a:schemeClr val="bg1"/>
                </a:solidFill>
              </a:rPr>
              <a:t>preview</a:t>
            </a:r>
            <a:r>
              <a:rPr lang="en-ID" b="1" dirty="0">
                <a:solidFill>
                  <a:schemeClr val="bg1"/>
                </a:solidFill>
              </a:rPr>
              <a:t>)</a:t>
            </a:r>
            <a:r>
              <a:rPr lang="en-ID" dirty="0">
                <a:solidFill>
                  <a:schemeClr val="bg1"/>
                </a:solidFill>
              </a:rPr>
              <a:t> </a:t>
            </a:r>
            <a:r>
              <a:rPr lang="en-ID" dirty="0" err="1">
                <a:solidFill>
                  <a:schemeClr val="bg1"/>
                </a:solidFill>
              </a:rPr>
              <a:t>dari</a:t>
            </a:r>
            <a:r>
              <a:rPr lang="en-ID" dirty="0">
                <a:solidFill>
                  <a:schemeClr val="bg1"/>
                </a:solidFill>
              </a:rPr>
              <a:t> </a:t>
            </a:r>
            <a:r>
              <a:rPr lang="en-ID" dirty="0" err="1">
                <a:solidFill>
                  <a:schemeClr val="bg1"/>
                </a:solidFill>
              </a:rPr>
              <a:t>komponen</a:t>
            </a:r>
            <a:r>
              <a:rPr lang="en-ID" dirty="0">
                <a:solidFill>
                  <a:schemeClr val="bg1"/>
                </a:solidFill>
              </a:rPr>
              <a:t> UI </a:t>
            </a:r>
            <a:r>
              <a:rPr lang="en-ID" dirty="0" err="1">
                <a:solidFill>
                  <a:schemeClr val="bg1"/>
                </a:solidFill>
              </a:rPr>
              <a:t>tersebut</a:t>
            </a:r>
            <a:r>
              <a:rPr lang="en-ID" dirty="0">
                <a:solidFill>
                  <a:schemeClr val="bg1"/>
                </a:solidFill>
              </a:rPr>
              <a:t> </a:t>
            </a:r>
            <a:r>
              <a:rPr lang="en-ID" dirty="0" err="1">
                <a:solidFill>
                  <a:schemeClr val="bg1"/>
                </a:solidFill>
              </a:rPr>
              <a:t>secara</a:t>
            </a:r>
            <a:r>
              <a:rPr lang="en-ID" dirty="0">
                <a:solidFill>
                  <a:schemeClr val="bg1"/>
                </a:solidFill>
              </a:rPr>
              <a:t> </a:t>
            </a:r>
            <a:r>
              <a:rPr lang="en-ID" dirty="0" err="1">
                <a:solidFill>
                  <a:schemeClr val="bg1"/>
                </a:solidFill>
              </a:rPr>
              <a:t>langsung</a:t>
            </a:r>
            <a:r>
              <a:rPr lang="en-ID" dirty="0">
                <a:solidFill>
                  <a:schemeClr val="bg1"/>
                </a:solidFill>
              </a:rPr>
              <a:t> di </a:t>
            </a:r>
            <a:r>
              <a:rPr lang="en-ID" dirty="0" err="1">
                <a:solidFill>
                  <a:schemeClr val="bg1"/>
                </a:solidFill>
              </a:rPr>
              <a:t>dalam</a:t>
            </a:r>
            <a:r>
              <a:rPr lang="en-ID" dirty="0">
                <a:solidFill>
                  <a:schemeClr val="bg1"/>
                </a:solidFill>
              </a:rPr>
              <a:t> Android Studio, </a:t>
            </a:r>
            <a:r>
              <a:rPr lang="en-ID" dirty="0" err="1">
                <a:solidFill>
                  <a:schemeClr val="bg1"/>
                </a:solidFill>
              </a:rPr>
              <a:t>tanpa</a:t>
            </a:r>
            <a:r>
              <a:rPr lang="en-ID" dirty="0">
                <a:solidFill>
                  <a:schemeClr val="bg1"/>
                </a:solidFill>
              </a:rPr>
              <a:t> </a:t>
            </a:r>
            <a:r>
              <a:rPr lang="en-ID" dirty="0" err="1">
                <a:solidFill>
                  <a:schemeClr val="bg1"/>
                </a:solidFill>
              </a:rPr>
              <a:t>perlu</a:t>
            </a:r>
            <a:r>
              <a:rPr lang="en-ID" dirty="0">
                <a:solidFill>
                  <a:schemeClr val="bg1"/>
                </a:solidFill>
              </a:rPr>
              <a:t> repot </a:t>
            </a:r>
            <a:r>
              <a:rPr lang="en-ID" dirty="0" err="1">
                <a:solidFill>
                  <a:schemeClr val="bg1"/>
                </a:solidFill>
              </a:rPr>
              <a:t>menjalankan</a:t>
            </a:r>
            <a:r>
              <a:rPr lang="en-ID" dirty="0">
                <a:solidFill>
                  <a:schemeClr val="bg1"/>
                </a:solidFill>
              </a:rPr>
              <a:t> </a:t>
            </a:r>
            <a:r>
              <a:rPr lang="en-ID" dirty="0" err="1">
                <a:solidFill>
                  <a:schemeClr val="bg1"/>
                </a:solidFill>
              </a:rPr>
              <a:t>aplikasi</a:t>
            </a:r>
            <a:r>
              <a:rPr lang="en-ID" dirty="0">
                <a:solidFill>
                  <a:schemeClr val="bg1"/>
                </a:solidFill>
              </a:rPr>
              <a:t> di HP </a:t>
            </a:r>
            <a:r>
              <a:rPr lang="en-ID" dirty="0" err="1">
                <a:solidFill>
                  <a:schemeClr val="bg1"/>
                </a:solidFill>
              </a:rPr>
              <a:t>atau</a:t>
            </a:r>
            <a:r>
              <a:rPr lang="en-ID" dirty="0">
                <a:solidFill>
                  <a:schemeClr val="bg1"/>
                </a:solidFill>
              </a:rPr>
              <a:t> emulator.</a:t>
            </a:r>
          </a:p>
        </p:txBody>
      </p:sp>
    </p:spTree>
    <p:extLst>
      <p:ext uri="{BB962C8B-B14F-4D97-AF65-F5344CB8AC3E}">
        <p14:creationId xmlns:p14="http://schemas.microsoft.com/office/powerpoint/2010/main" val="265335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Edge-to-edge design | Mobile | Android Developers">
            <a:extLst>
              <a:ext uri="{FF2B5EF4-FFF2-40B4-BE49-F238E27FC236}">
                <a16:creationId xmlns:a16="http://schemas.microsoft.com/office/drawing/2014/main" id="{92E35041-08E6-0E29-3FFE-BFE819CC167C}"/>
              </a:ext>
            </a:extLst>
          </p:cNvPr>
          <p:cNvPicPr>
            <a:picLocks noChangeAspect="1"/>
          </p:cNvPicPr>
          <p:nvPr/>
        </p:nvPicPr>
        <p:blipFill>
          <a:blip r:embed="rId2"/>
          <a:stretch>
            <a:fillRect/>
          </a:stretch>
        </p:blipFill>
        <p:spPr>
          <a:xfrm>
            <a:off x="661475" y="969124"/>
            <a:ext cx="6502400" cy="5080000"/>
          </a:xfrm>
          <a:prstGeom prst="rect">
            <a:avLst/>
          </a:prstGeom>
        </p:spPr>
      </p:pic>
      <p:sp>
        <p:nvSpPr>
          <p:cNvPr id="4" name="Text 0">
            <a:extLst>
              <a:ext uri="{FF2B5EF4-FFF2-40B4-BE49-F238E27FC236}">
                <a16:creationId xmlns:a16="http://schemas.microsoft.com/office/drawing/2014/main" id="{5BDFA2F8-5B99-459E-DFE0-39797E12D435}"/>
              </a:ext>
            </a:extLst>
          </p:cNvPr>
          <p:cNvSpPr/>
          <p:nvPr/>
        </p:nvSpPr>
        <p:spPr>
          <a:xfrm>
            <a:off x="661475" y="480616"/>
            <a:ext cx="10868745" cy="298748"/>
          </a:xfrm>
          <a:prstGeom prst="rect">
            <a:avLst/>
          </a:prstGeom>
          <a:noFill/>
          <a:ln/>
        </p:spPr>
        <p:txBody>
          <a:bodyPr wrap="none" lIns="0" tIns="0" rIns="0" bIns="0" rtlCol="0" anchor="t"/>
          <a:lstStyle/>
          <a:p>
            <a:pPr marL="0" indent="0" algn="l">
              <a:lnSpc>
                <a:spcPct val="104000"/>
              </a:lnSpc>
              <a:buNone/>
            </a:pPr>
            <a:r>
              <a:rPr lang="en-US" sz="1850" i="1" dirty="0">
                <a:solidFill>
                  <a:srgbClr val="F2F0F4"/>
                </a:solidFill>
                <a:latin typeface="Montserrat" pitchFamily="34" charset="0"/>
                <a:ea typeface="Montserrat" pitchFamily="34" charset="-122"/>
                <a:cs typeface="Montserrat" pitchFamily="34" charset="-120"/>
              </a:rPr>
              <a:t>Edge to Edge</a:t>
            </a:r>
            <a:endParaRPr lang="en-US" sz="1850" i="1" dirty="0"/>
          </a:p>
        </p:txBody>
      </p:sp>
      <p:sp>
        <p:nvSpPr>
          <p:cNvPr id="6" name="TextBox 5">
            <a:extLst>
              <a:ext uri="{FF2B5EF4-FFF2-40B4-BE49-F238E27FC236}">
                <a16:creationId xmlns:a16="http://schemas.microsoft.com/office/drawing/2014/main" id="{50FAAB13-C399-D6E4-80CB-F05280A0924E}"/>
              </a:ext>
            </a:extLst>
          </p:cNvPr>
          <p:cNvSpPr txBox="1"/>
          <p:nvPr/>
        </p:nvSpPr>
        <p:spPr>
          <a:xfrm>
            <a:off x="3047847" y="6238884"/>
            <a:ext cx="6096000" cy="276999"/>
          </a:xfrm>
          <a:prstGeom prst="rect">
            <a:avLst/>
          </a:prstGeom>
          <a:noFill/>
        </p:spPr>
        <p:txBody>
          <a:bodyPr wrap="square">
            <a:spAutoFit/>
          </a:bodyPr>
          <a:lstStyle/>
          <a:p>
            <a:pPr algn="ctr"/>
            <a:r>
              <a:rPr lang="en-US" sz="1200" dirty="0">
                <a:solidFill>
                  <a:schemeClr val="bg1"/>
                </a:solidFill>
              </a:rPr>
              <a:t>https://</a:t>
            </a:r>
            <a:r>
              <a:rPr lang="en-US" sz="1200" dirty="0" err="1">
                <a:solidFill>
                  <a:schemeClr val="bg1"/>
                </a:solidFill>
              </a:rPr>
              <a:t>developer.android.com</a:t>
            </a:r>
            <a:r>
              <a:rPr lang="en-US" sz="1200" dirty="0">
                <a:solidFill>
                  <a:schemeClr val="bg1"/>
                </a:solidFill>
              </a:rPr>
              <a:t>/design/</a:t>
            </a:r>
            <a:r>
              <a:rPr lang="en-US" sz="1200" dirty="0" err="1">
                <a:solidFill>
                  <a:schemeClr val="bg1"/>
                </a:solidFill>
              </a:rPr>
              <a:t>ui</a:t>
            </a:r>
            <a:r>
              <a:rPr lang="en-US" sz="1200" dirty="0">
                <a:solidFill>
                  <a:schemeClr val="bg1"/>
                </a:solidFill>
              </a:rPr>
              <a:t>/mobile/guides/layout-and-content/edge-to-edge</a:t>
            </a:r>
          </a:p>
        </p:txBody>
      </p:sp>
      <p:pic>
        <p:nvPicPr>
          <p:cNvPr id="7" name="Picture 6">
            <a:extLst>
              <a:ext uri="{FF2B5EF4-FFF2-40B4-BE49-F238E27FC236}">
                <a16:creationId xmlns:a16="http://schemas.microsoft.com/office/drawing/2014/main" id="{9AC8A3ED-337A-BDE3-D448-78255D7BB80C}"/>
              </a:ext>
            </a:extLst>
          </p:cNvPr>
          <p:cNvPicPr>
            <a:picLocks noChangeAspect="1"/>
          </p:cNvPicPr>
          <p:nvPr/>
        </p:nvPicPr>
        <p:blipFill>
          <a:blip r:embed="rId3"/>
          <a:stretch>
            <a:fillRect/>
          </a:stretch>
        </p:blipFill>
        <p:spPr>
          <a:xfrm>
            <a:off x="7460096" y="2641600"/>
            <a:ext cx="4288560" cy="8877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55535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6CE142-E515-F1D5-FDA5-6CDC07107FC1}"/>
              </a:ext>
            </a:extLst>
          </p:cNvPr>
          <p:cNvPicPr>
            <a:picLocks noChangeAspect="1"/>
          </p:cNvPicPr>
          <p:nvPr/>
        </p:nvPicPr>
        <p:blipFill>
          <a:blip r:embed="rId2"/>
          <a:stretch>
            <a:fillRect/>
          </a:stretch>
        </p:blipFill>
        <p:spPr>
          <a:xfrm>
            <a:off x="3389613" y="1202554"/>
            <a:ext cx="5412774" cy="5329963"/>
          </a:xfrm>
          <a:prstGeom prst="rect">
            <a:avLst/>
          </a:prstGeom>
        </p:spPr>
      </p:pic>
      <p:sp>
        <p:nvSpPr>
          <p:cNvPr id="3" name="Text 0">
            <a:extLst>
              <a:ext uri="{FF2B5EF4-FFF2-40B4-BE49-F238E27FC236}">
                <a16:creationId xmlns:a16="http://schemas.microsoft.com/office/drawing/2014/main" id="{1C5EDC50-4C07-678F-56A2-A9F8DC37A411}"/>
              </a:ext>
            </a:extLst>
          </p:cNvPr>
          <p:cNvSpPr/>
          <p:nvPr/>
        </p:nvSpPr>
        <p:spPr>
          <a:xfrm>
            <a:off x="661475" y="480616"/>
            <a:ext cx="10868745" cy="298748"/>
          </a:xfrm>
          <a:prstGeom prst="rect">
            <a:avLst/>
          </a:prstGeom>
          <a:noFill/>
          <a:ln/>
        </p:spPr>
        <p:txBody>
          <a:bodyPr wrap="none" lIns="0" tIns="0" rIns="0" bIns="0" rtlCol="0" anchor="t"/>
          <a:lstStyle/>
          <a:p>
            <a:pPr marL="0" indent="0" algn="l">
              <a:lnSpc>
                <a:spcPct val="104000"/>
              </a:lnSpc>
              <a:buNone/>
            </a:pPr>
            <a:r>
              <a:rPr lang="en-US" sz="1850" dirty="0" err="1">
                <a:solidFill>
                  <a:srgbClr val="F2F0F4"/>
                </a:solidFill>
                <a:latin typeface="Montserrat" pitchFamily="34" charset="0"/>
                <a:ea typeface="Montserrat" pitchFamily="34" charset="-122"/>
                <a:cs typeface="Montserrat" pitchFamily="34" charset="-120"/>
              </a:rPr>
              <a:t>Dokumentasi</a:t>
            </a:r>
            <a:r>
              <a:rPr lang="en-US" sz="1850" dirty="0">
                <a:solidFill>
                  <a:srgbClr val="F2F0F4"/>
                </a:solidFill>
                <a:latin typeface="Montserrat" pitchFamily="34" charset="0"/>
                <a:ea typeface="Montserrat" pitchFamily="34" charset="-122"/>
                <a:cs typeface="Montserrat" pitchFamily="34" charset="-120"/>
              </a:rPr>
              <a:t> </a:t>
            </a:r>
            <a:r>
              <a:rPr lang="en-US" sz="1850" dirty="0" err="1">
                <a:solidFill>
                  <a:srgbClr val="F2F0F4"/>
                </a:solidFill>
                <a:latin typeface="Montserrat" pitchFamily="34" charset="0"/>
                <a:ea typeface="Montserrat" pitchFamily="34" charset="-122"/>
                <a:cs typeface="Montserrat" pitchFamily="34" charset="-120"/>
              </a:rPr>
              <a:t>Pengembangan</a:t>
            </a:r>
            <a:endParaRPr lang="en-US" sz="1850" dirty="0"/>
          </a:p>
        </p:txBody>
      </p:sp>
    </p:spTree>
    <p:extLst>
      <p:ext uri="{BB962C8B-B14F-4D97-AF65-F5344CB8AC3E}">
        <p14:creationId xmlns:p14="http://schemas.microsoft.com/office/powerpoint/2010/main" val="3871110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61475" y="454819"/>
            <a:ext cx="423157" cy="125710"/>
          </a:xfrm>
          <a:prstGeom prst="roundRect">
            <a:avLst>
              <a:gd name="adj" fmla="val 22103"/>
            </a:avLst>
          </a:prstGeom>
          <a:noFill/>
          <a:ln w="6350">
            <a:solidFill>
              <a:srgbClr val="481C9E"/>
            </a:solidFill>
            <a:prstDash val="solid"/>
          </a:ln>
        </p:spPr>
        <p:txBody>
          <a:bodyPr/>
          <a:lstStyle/>
          <a:p>
            <a:endParaRPr lang="en-US"/>
          </a:p>
        </p:txBody>
      </p:sp>
      <p:sp>
        <p:nvSpPr>
          <p:cNvPr id="3" name="Text 1"/>
          <p:cNvSpPr/>
          <p:nvPr/>
        </p:nvSpPr>
        <p:spPr>
          <a:xfrm>
            <a:off x="711083" y="479623"/>
            <a:ext cx="933526" cy="76101"/>
          </a:xfrm>
          <a:prstGeom prst="rect">
            <a:avLst/>
          </a:prstGeom>
          <a:noFill/>
          <a:ln/>
        </p:spPr>
        <p:txBody>
          <a:bodyPr wrap="none" lIns="0" tIns="0" rIns="0" bIns="0" rtlCol="0" anchor="t"/>
          <a:lstStyle/>
          <a:p>
            <a:pPr marL="0" indent="0" algn="l">
              <a:lnSpc>
                <a:spcPct val="96000"/>
              </a:lnSpc>
              <a:buNone/>
            </a:pPr>
            <a:r>
              <a:rPr lang="en-US" sz="500" dirty="0">
                <a:solidFill>
                  <a:srgbClr val="481C9E"/>
                </a:solidFill>
                <a:latin typeface="Heebo Light" pitchFamily="34" charset="0"/>
                <a:ea typeface="Heebo Light" pitchFamily="34" charset="-122"/>
                <a:cs typeface="Heebo Light" pitchFamily="34" charset="-120"/>
              </a:rPr>
              <a:t>BAGIAN 02</a:t>
            </a:r>
            <a:endParaRPr lang="en-US" sz="500" dirty="0"/>
          </a:p>
        </p:txBody>
      </p:sp>
      <p:sp>
        <p:nvSpPr>
          <p:cNvPr id="4" name="Text 2"/>
          <p:cNvSpPr/>
          <p:nvPr/>
        </p:nvSpPr>
        <p:spPr>
          <a:xfrm>
            <a:off x="661475" y="596999"/>
            <a:ext cx="10868745" cy="258465"/>
          </a:xfrm>
          <a:prstGeom prst="rect">
            <a:avLst/>
          </a:prstGeom>
          <a:noFill/>
          <a:ln/>
        </p:spPr>
        <p:txBody>
          <a:bodyPr wrap="none" lIns="0" tIns="0" rIns="0" bIns="0" rtlCol="0" anchor="t"/>
          <a:lstStyle/>
          <a:p>
            <a:pPr marL="0" indent="0" algn="l">
              <a:lnSpc>
                <a:spcPct val="104000"/>
              </a:lnSpc>
              <a:buNone/>
            </a:pPr>
            <a:r>
              <a:rPr lang="en-US" sz="1600" dirty="0">
                <a:solidFill>
                  <a:srgbClr val="F2F0F4"/>
                </a:solidFill>
                <a:latin typeface="Montserrat" pitchFamily="34" charset="0"/>
                <a:ea typeface="Montserrat" pitchFamily="34" charset="-122"/>
                <a:cs typeface="Montserrat" pitchFamily="34" charset="-120"/>
              </a:rPr>
              <a:t>Layout Composables Dasar</a:t>
            </a:r>
            <a:endParaRPr lang="en-US" sz="1600" dirty="0"/>
          </a:p>
        </p:txBody>
      </p:sp>
      <p:sp>
        <p:nvSpPr>
          <p:cNvPr id="5" name="Text 3"/>
          <p:cNvSpPr/>
          <p:nvPr/>
        </p:nvSpPr>
        <p:spPr>
          <a:xfrm>
            <a:off x="661475" y="917476"/>
            <a:ext cx="11478330" cy="99120"/>
          </a:xfrm>
          <a:prstGeom prst="rect">
            <a:avLst/>
          </a:prstGeom>
          <a:noFill/>
          <a:ln/>
        </p:spPr>
        <p:txBody>
          <a:bodyPr wrap="none" lIns="0" tIns="0" rIns="0" bIns="0" rtlCol="0" anchor="t"/>
          <a:lstStyle/>
          <a:p>
            <a:pPr marL="0" indent="0" algn="l">
              <a:lnSpc>
                <a:spcPct val="100000"/>
              </a:lnSpc>
              <a:buNone/>
            </a:pPr>
            <a:r>
              <a:rPr lang="en-US" sz="650" dirty="0">
                <a:solidFill>
                  <a:srgbClr val="DCD7E5"/>
                </a:solidFill>
                <a:latin typeface="Heebo Light" pitchFamily="34" charset="0"/>
                <a:ea typeface="Heebo Light" pitchFamily="34" charset="-122"/>
                <a:cs typeface="Heebo Light" pitchFamily="34" charset="-120"/>
              </a:rPr>
              <a:t>Memahami tiga pilar layout fundamental Jetpack Compose: </a:t>
            </a:r>
            <a:r>
              <a:rPr lang="en-US" sz="650" b="1" dirty="0">
                <a:solidFill>
                  <a:srgbClr val="DCD7E5"/>
                </a:solidFill>
                <a:latin typeface="Heebo Bold" pitchFamily="34" charset="0"/>
                <a:ea typeface="Heebo Bold" pitchFamily="34" charset="-122"/>
                <a:cs typeface="Heebo Bold" pitchFamily="34" charset="-120"/>
              </a:rPr>
              <a:t>Column</a:t>
            </a:r>
            <a:r>
              <a:rPr lang="en-US" sz="650" dirty="0">
                <a:solidFill>
                  <a:srgbClr val="DCD7E5"/>
                </a:solidFill>
                <a:latin typeface="Heebo Light" pitchFamily="34" charset="0"/>
                <a:ea typeface="Heebo Light" pitchFamily="34" charset="-122"/>
                <a:cs typeface="Heebo Light" pitchFamily="34" charset="-120"/>
              </a:rPr>
              <a:t>, </a:t>
            </a:r>
            <a:r>
              <a:rPr lang="en-US" sz="650" b="1" dirty="0">
                <a:solidFill>
                  <a:srgbClr val="DCD7E5"/>
                </a:solidFill>
                <a:latin typeface="Heebo Bold" pitchFamily="34" charset="0"/>
                <a:ea typeface="Heebo Bold" pitchFamily="34" charset="-122"/>
                <a:cs typeface="Heebo Bold" pitchFamily="34" charset="-120"/>
              </a:rPr>
              <a:t>Row</a:t>
            </a:r>
            <a:r>
              <a:rPr lang="en-US" sz="650" dirty="0">
                <a:solidFill>
                  <a:srgbClr val="DCD7E5"/>
                </a:solidFill>
                <a:latin typeface="Heebo Light" pitchFamily="34" charset="0"/>
                <a:ea typeface="Heebo Light" pitchFamily="34" charset="-122"/>
                <a:cs typeface="Heebo Light" pitchFamily="34" charset="-120"/>
              </a:rPr>
              <a:t>, dan </a:t>
            </a:r>
            <a:r>
              <a:rPr lang="en-US" sz="650" b="1" dirty="0">
                <a:solidFill>
                  <a:srgbClr val="DCD7E5"/>
                </a:solidFill>
                <a:latin typeface="Heebo Bold" pitchFamily="34" charset="0"/>
                <a:ea typeface="Heebo Bold" pitchFamily="34" charset="-122"/>
                <a:cs typeface="Heebo Bold" pitchFamily="34" charset="-120"/>
              </a:rPr>
              <a:t>Box</a:t>
            </a:r>
            <a:r>
              <a:rPr lang="en-US" sz="650" dirty="0">
                <a:solidFill>
                  <a:srgbClr val="DCD7E5"/>
                </a:solidFill>
                <a:latin typeface="Heebo Light" pitchFamily="34" charset="0"/>
                <a:ea typeface="Heebo Light" pitchFamily="34" charset="-122"/>
                <a:cs typeface="Heebo Light" pitchFamily="34" charset="-120"/>
              </a:rPr>
              <a:t> — fondasi dari seluruh tata letak UI Android modern.</a:t>
            </a:r>
            <a:endParaRPr lang="en-US" sz="650" dirty="0"/>
          </a:p>
        </p:txBody>
      </p:sp>
      <p:sp>
        <p:nvSpPr>
          <p:cNvPr id="6" name="Shape 4"/>
          <p:cNvSpPr/>
          <p:nvPr/>
        </p:nvSpPr>
        <p:spPr>
          <a:xfrm>
            <a:off x="661475" y="1063030"/>
            <a:ext cx="10868745" cy="530225"/>
          </a:xfrm>
          <a:prstGeom prst="roundRect">
            <a:avLst>
              <a:gd name="adj" fmla="val 6550"/>
            </a:avLst>
          </a:prstGeom>
          <a:solidFill>
            <a:srgbClr val="31136C"/>
          </a:solidFill>
          <a:ln w="6350">
            <a:solidFill>
              <a:srgbClr val="4A2C85"/>
            </a:solidFill>
            <a:prstDash val="solid"/>
          </a:ln>
        </p:spPr>
        <p:txBody>
          <a:bodyPr/>
          <a:lstStyle/>
          <a:p>
            <a:endParaRPr lang="en-US"/>
          </a:p>
        </p:txBody>
      </p:sp>
      <p:sp>
        <p:nvSpPr>
          <p:cNvPr id="7" name="Shape 5"/>
          <p:cNvSpPr/>
          <p:nvPr/>
        </p:nvSpPr>
        <p:spPr>
          <a:xfrm>
            <a:off x="667825" y="1069380"/>
            <a:ext cx="3618616" cy="517525"/>
          </a:xfrm>
          <a:custGeom>
            <a:avLst/>
            <a:gdLst/>
            <a:ahLst/>
            <a:cxnLst/>
            <a:rect l="l" t="t" r="r" b="b"/>
            <a:pathLst>
              <a:path w="3618616" h="517525">
                <a:moveTo>
                  <a:pt x="28943" y="0"/>
                </a:moveTo>
                <a:lnTo>
                  <a:pt x="3618616" y="0"/>
                </a:lnTo>
                <a:lnTo>
                  <a:pt x="3618616" y="517525"/>
                </a:lnTo>
                <a:lnTo>
                  <a:pt x="28943" y="517525"/>
                </a:lnTo>
                <a:arcTo wR="28943" hR="28944" stAng="5400000" swAng="5400000"/>
                <a:lnTo>
                  <a:pt x="0" y="28944"/>
                </a:lnTo>
                <a:arcTo wR="28943" hR="28944" stAng="10800000" swAng="5400000"/>
                <a:close/>
              </a:path>
            </a:pathLst>
          </a:custGeom>
          <a:solidFill>
            <a:srgbClr val="31136C"/>
          </a:solidFill>
          <a:ln/>
        </p:spPr>
        <p:txBody>
          <a:bodyPr/>
          <a:lstStyle/>
          <a:p>
            <a:endParaRPr lang="en-US"/>
          </a:p>
        </p:txBody>
      </p:sp>
      <p:sp>
        <p:nvSpPr>
          <p:cNvPr id="8" name="Text 6"/>
          <p:cNvSpPr/>
          <p:nvPr/>
        </p:nvSpPr>
        <p:spPr>
          <a:xfrm>
            <a:off x="750472" y="1152029"/>
            <a:ext cx="3453321" cy="129183"/>
          </a:xfrm>
          <a:prstGeom prst="rect">
            <a:avLst/>
          </a:prstGeom>
          <a:noFill/>
          <a:ln/>
        </p:spPr>
        <p:txBody>
          <a:bodyPr wrap="none" lIns="0" tIns="0" rIns="0" bIns="0" rtlCol="0" anchor="t"/>
          <a:lstStyle/>
          <a:p>
            <a:pPr marL="0" indent="0" algn="l">
              <a:lnSpc>
                <a:spcPct val="104000"/>
              </a:lnSpc>
              <a:buNone/>
            </a:pPr>
            <a:r>
              <a:rPr lang="en-US" sz="800" dirty="0">
                <a:solidFill>
                  <a:srgbClr val="DCD7E5"/>
                </a:solidFill>
                <a:latin typeface="Montserrat" pitchFamily="34" charset="0"/>
                <a:ea typeface="Montserrat" pitchFamily="34" charset="-122"/>
                <a:cs typeface="Montserrat" pitchFamily="34" charset="-120"/>
              </a:rPr>
              <a:t>Column</a:t>
            </a:r>
            <a:endParaRPr lang="en-US" sz="800" dirty="0"/>
          </a:p>
        </p:txBody>
      </p:sp>
      <p:sp>
        <p:nvSpPr>
          <p:cNvPr id="9" name="Text 7"/>
          <p:cNvSpPr/>
          <p:nvPr/>
        </p:nvSpPr>
        <p:spPr>
          <a:xfrm>
            <a:off x="750472" y="1306016"/>
            <a:ext cx="3453321" cy="198239"/>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DCD7E5"/>
                </a:solidFill>
                <a:latin typeface="Heebo Light" pitchFamily="34" charset="0"/>
                <a:ea typeface="Heebo Light" pitchFamily="34" charset="-122"/>
                <a:cs typeface="Heebo Light" pitchFamily="34" charset="-120"/>
              </a:rPr>
              <a:t>Susun elemen secara </a:t>
            </a:r>
            <a:r>
              <a:rPr lang="en-US" sz="650" b="1" dirty="0">
                <a:solidFill>
                  <a:srgbClr val="DCD7E5"/>
                </a:solidFill>
                <a:latin typeface="Heebo Bold" pitchFamily="34" charset="0"/>
                <a:ea typeface="Heebo Bold" pitchFamily="34" charset="-122"/>
                <a:cs typeface="Heebo Bold" pitchFamily="34" charset="-120"/>
              </a:rPr>
              <a:t>vertikal</a:t>
            </a:r>
            <a:r>
              <a:rPr lang="en-US" sz="650" dirty="0">
                <a:solidFill>
                  <a:srgbClr val="DCD7E5"/>
                </a:solidFill>
                <a:latin typeface="Heebo Light" pitchFamily="34" charset="0"/>
                <a:ea typeface="Heebo Light" pitchFamily="34" charset="-122"/>
                <a:cs typeface="Heebo Light" pitchFamily="34" charset="-120"/>
              </a:rPr>
              <a:t> (sumbu Y) — setara dengan LinearLayout vertical pada View System.</a:t>
            </a:r>
            <a:endParaRPr lang="en-US" sz="650" dirty="0"/>
          </a:p>
        </p:txBody>
      </p:sp>
      <p:sp>
        <p:nvSpPr>
          <p:cNvPr id="10" name="Shape 8"/>
          <p:cNvSpPr/>
          <p:nvPr/>
        </p:nvSpPr>
        <p:spPr>
          <a:xfrm>
            <a:off x="4286440" y="1069380"/>
            <a:ext cx="3618715" cy="517525"/>
          </a:xfrm>
          <a:prstGeom prst="rect">
            <a:avLst/>
          </a:prstGeom>
          <a:solidFill>
            <a:srgbClr val="31136C"/>
          </a:solidFill>
          <a:ln/>
        </p:spPr>
        <p:txBody>
          <a:bodyPr/>
          <a:lstStyle/>
          <a:p>
            <a:endParaRPr lang="en-US"/>
          </a:p>
        </p:txBody>
      </p:sp>
      <p:sp>
        <p:nvSpPr>
          <p:cNvPr id="11" name="Shape 9"/>
          <p:cNvSpPr/>
          <p:nvPr/>
        </p:nvSpPr>
        <p:spPr>
          <a:xfrm>
            <a:off x="4286440" y="1069380"/>
            <a:ext cx="12700" cy="517525"/>
          </a:xfrm>
          <a:prstGeom prst="roundRect">
            <a:avLst>
              <a:gd name="adj" fmla="val 49999"/>
            </a:avLst>
          </a:prstGeom>
          <a:solidFill>
            <a:srgbClr val="4A2C85"/>
          </a:solidFill>
          <a:ln/>
        </p:spPr>
        <p:txBody>
          <a:bodyPr/>
          <a:lstStyle/>
          <a:p>
            <a:endParaRPr lang="en-US"/>
          </a:p>
        </p:txBody>
      </p:sp>
      <p:sp>
        <p:nvSpPr>
          <p:cNvPr id="12" name="Text 10"/>
          <p:cNvSpPr/>
          <p:nvPr/>
        </p:nvSpPr>
        <p:spPr>
          <a:xfrm>
            <a:off x="4369088" y="1152029"/>
            <a:ext cx="3453421" cy="129183"/>
          </a:xfrm>
          <a:prstGeom prst="rect">
            <a:avLst/>
          </a:prstGeom>
          <a:noFill/>
          <a:ln/>
        </p:spPr>
        <p:txBody>
          <a:bodyPr wrap="none" lIns="0" tIns="0" rIns="0" bIns="0" rtlCol="0" anchor="t"/>
          <a:lstStyle/>
          <a:p>
            <a:pPr marL="0" indent="0" algn="l">
              <a:lnSpc>
                <a:spcPct val="104000"/>
              </a:lnSpc>
              <a:buNone/>
            </a:pPr>
            <a:r>
              <a:rPr lang="en-US" sz="800" dirty="0">
                <a:solidFill>
                  <a:srgbClr val="DCD7E5"/>
                </a:solidFill>
                <a:latin typeface="Montserrat" pitchFamily="34" charset="0"/>
                <a:ea typeface="Montserrat" pitchFamily="34" charset="-122"/>
                <a:cs typeface="Montserrat" pitchFamily="34" charset="-120"/>
              </a:rPr>
              <a:t>Row</a:t>
            </a:r>
            <a:endParaRPr lang="en-US" sz="800" dirty="0"/>
          </a:p>
        </p:txBody>
      </p:sp>
      <p:sp>
        <p:nvSpPr>
          <p:cNvPr id="13" name="Text 11"/>
          <p:cNvSpPr/>
          <p:nvPr/>
        </p:nvSpPr>
        <p:spPr>
          <a:xfrm>
            <a:off x="4369088" y="1306016"/>
            <a:ext cx="3453421" cy="198239"/>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DCD7E5"/>
                </a:solidFill>
                <a:latin typeface="Heebo Light" pitchFamily="34" charset="0"/>
                <a:ea typeface="Heebo Light" pitchFamily="34" charset="-122"/>
                <a:cs typeface="Heebo Light" pitchFamily="34" charset="-120"/>
              </a:rPr>
              <a:t>Susun elemen secara </a:t>
            </a:r>
            <a:r>
              <a:rPr lang="en-US" sz="650" b="1" dirty="0">
                <a:solidFill>
                  <a:srgbClr val="DCD7E5"/>
                </a:solidFill>
                <a:latin typeface="Heebo Bold" pitchFamily="34" charset="0"/>
                <a:ea typeface="Heebo Bold" pitchFamily="34" charset="-122"/>
                <a:cs typeface="Heebo Bold" pitchFamily="34" charset="-120"/>
              </a:rPr>
              <a:t>horizontal</a:t>
            </a:r>
            <a:r>
              <a:rPr lang="en-US" sz="650" dirty="0">
                <a:solidFill>
                  <a:srgbClr val="DCD7E5"/>
                </a:solidFill>
                <a:latin typeface="Heebo Light" pitchFamily="34" charset="0"/>
                <a:ea typeface="Heebo Light" pitchFamily="34" charset="-122"/>
                <a:cs typeface="Heebo Light" pitchFamily="34" charset="-120"/>
              </a:rPr>
              <a:t> (sumbu X) — setara dengan LinearLayout horizontal pada View System.</a:t>
            </a:r>
            <a:endParaRPr lang="en-US" sz="650" dirty="0"/>
          </a:p>
        </p:txBody>
      </p:sp>
      <p:sp>
        <p:nvSpPr>
          <p:cNvPr id="14" name="Shape 12"/>
          <p:cNvSpPr/>
          <p:nvPr/>
        </p:nvSpPr>
        <p:spPr>
          <a:xfrm>
            <a:off x="7905155" y="1069380"/>
            <a:ext cx="3618715" cy="517525"/>
          </a:xfrm>
          <a:custGeom>
            <a:avLst/>
            <a:gdLst/>
            <a:ahLst/>
            <a:cxnLst/>
            <a:rect l="l" t="t" r="r" b="b"/>
            <a:pathLst>
              <a:path w="3618715" h="517525">
                <a:moveTo>
                  <a:pt x="0" y="0"/>
                </a:moveTo>
                <a:lnTo>
                  <a:pt x="3589771" y="0"/>
                </a:lnTo>
                <a:arcTo wR="28943" hR="28944" stAng="16200000" swAng="5400000"/>
                <a:lnTo>
                  <a:pt x="3618715" y="488581"/>
                </a:lnTo>
                <a:arcTo wR="28943" hR="28944" stAng="0" swAng="5400000"/>
                <a:lnTo>
                  <a:pt x="0" y="517525"/>
                </a:lnTo>
                <a:lnTo>
                  <a:pt x="0" y="0"/>
                </a:lnTo>
                <a:close/>
              </a:path>
            </a:pathLst>
          </a:custGeom>
          <a:solidFill>
            <a:srgbClr val="31136C"/>
          </a:solidFill>
          <a:ln/>
        </p:spPr>
        <p:txBody>
          <a:bodyPr/>
          <a:lstStyle/>
          <a:p>
            <a:endParaRPr lang="en-US"/>
          </a:p>
        </p:txBody>
      </p:sp>
      <p:sp>
        <p:nvSpPr>
          <p:cNvPr id="15" name="Shape 13"/>
          <p:cNvSpPr/>
          <p:nvPr/>
        </p:nvSpPr>
        <p:spPr>
          <a:xfrm>
            <a:off x="7905155" y="1069380"/>
            <a:ext cx="12700" cy="517525"/>
          </a:xfrm>
          <a:prstGeom prst="roundRect">
            <a:avLst>
              <a:gd name="adj" fmla="val 49999"/>
            </a:avLst>
          </a:prstGeom>
          <a:solidFill>
            <a:srgbClr val="4A2C85"/>
          </a:solidFill>
          <a:ln/>
        </p:spPr>
        <p:txBody>
          <a:bodyPr/>
          <a:lstStyle/>
          <a:p>
            <a:endParaRPr lang="en-US"/>
          </a:p>
        </p:txBody>
      </p:sp>
      <p:sp>
        <p:nvSpPr>
          <p:cNvPr id="16" name="Text 14"/>
          <p:cNvSpPr/>
          <p:nvPr/>
        </p:nvSpPr>
        <p:spPr>
          <a:xfrm>
            <a:off x="7987803" y="1152029"/>
            <a:ext cx="3453421" cy="129183"/>
          </a:xfrm>
          <a:prstGeom prst="rect">
            <a:avLst/>
          </a:prstGeom>
          <a:noFill/>
          <a:ln/>
        </p:spPr>
        <p:txBody>
          <a:bodyPr wrap="none" lIns="0" tIns="0" rIns="0" bIns="0" rtlCol="0" anchor="t"/>
          <a:lstStyle/>
          <a:p>
            <a:pPr marL="0" indent="0" algn="l">
              <a:lnSpc>
                <a:spcPct val="104000"/>
              </a:lnSpc>
              <a:buNone/>
            </a:pPr>
            <a:r>
              <a:rPr lang="en-US" sz="800" dirty="0">
                <a:solidFill>
                  <a:srgbClr val="DCD7E5"/>
                </a:solidFill>
                <a:latin typeface="Montserrat" pitchFamily="34" charset="0"/>
                <a:ea typeface="Montserrat" pitchFamily="34" charset="-122"/>
                <a:cs typeface="Montserrat" pitchFamily="34" charset="-120"/>
              </a:rPr>
              <a:t>Box</a:t>
            </a:r>
            <a:endParaRPr lang="en-US" sz="800" dirty="0"/>
          </a:p>
        </p:txBody>
      </p:sp>
      <p:sp>
        <p:nvSpPr>
          <p:cNvPr id="17" name="Text 15"/>
          <p:cNvSpPr/>
          <p:nvPr/>
        </p:nvSpPr>
        <p:spPr>
          <a:xfrm>
            <a:off x="7987803" y="1306016"/>
            <a:ext cx="3453421" cy="198239"/>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DCD7E5"/>
                </a:solidFill>
                <a:latin typeface="Heebo Light" pitchFamily="34" charset="0"/>
                <a:ea typeface="Heebo Light" pitchFamily="34" charset="-122"/>
                <a:cs typeface="Heebo Light" pitchFamily="34" charset="-120"/>
              </a:rPr>
              <a:t>Tumpuk elemen secara </a:t>
            </a:r>
            <a:r>
              <a:rPr lang="en-US" sz="650" b="1" dirty="0">
                <a:solidFill>
                  <a:srgbClr val="DCD7E5"/>
                </a:solidFill>
                <a:latin typeface="Heebo Bold" pitchFamily="34" charset="0"/>
                <a:ea typeface="Heebo Bold" pitchFamily="34" charset="-122"/>
                <a:cs typeface="Heebo Bold" pitchFamily="34" charset="-120"/>
              </a:rPr>
              <a:t>Z-axis</a:t>
            </a:r>
            <a:r>
              <a:rPr lang="en-US" sz="650" dirty="0">
                <a:solidFill>
                  <a:srgbClr val="DCD7E5"/>
                </a:solidFill>
                <a:latin typeface="Heebo Light" pitchFamily="34" charset="0"/>
                <a:ea typeface="Heebo Light" pitchFamily="34" charset="-122"/>
                <a:cs typeface="Heebo Light" pitchFamily="34" charset="-120"/>
              </a:rPr>
              <a:t> (overlay/stack) — setara dengan FrameLayout pada View System.</a:t>
            </a:r>
            <a:endParaRPr lang="en-US" sz="650" dirty="0"/>
          </a:p>
        </p:txBody>
      </p:sp>
      <p:pic>
        <p:nvPicPr>
          <p:cNvPr id="18" name="Image 0" descr="preencoded.png"/>
          <p:cNvPicPr>
            <a:picLocks noChangeAspect="1"/>
          </p:cNvPicPr>
          <p:nvPr/>
        </p:nvPicPr>
        <p:blipFill>
          <a:blip r:embed="rId3"/>
          <a:stretch>
            <a:fillRect/>
          </a:stretch>
        </p:blipFill>
        <p:spPr>
          <a:xfrm>
            <a:off x="661475" y="1639689"/>
            <a:ext cx="9753356" cy="5486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475" y="497284"/>
            <a:ext cx="10868745" cy="436066"/>
          </a:xfrm>
          <a:prstGeom prst="rect">
            <a:avLst/>
          </a:prstGeom>
          <a:noFill/>
          <a:ln/>
        </p:spPr>
        <p:txBody>
          <a:bodyPr wrap="none" lIns="0" tIns="0" rIns="0" bIns="0" rtlCol="0" anchor="t"/>
          <a:lstStyle/>
          <a:p>
            <a:pPr marL="0" indent="0" algn="l">
              <a:lnSpc>
                <a:spcPct val="104000"/>
              </a:lnSpc>
              <a:buNone/>
            </a:pPr>
            <a:r>
              <a:rPr lang="en-US" sz="2700" dirty="0">
                <a:solidFill>
                  <a:srgbClr val="F2F0F4"/>
                </a:solidFill>
                <a:latin typeface="Montserrat" pitchFamily="34" charset="0"/>
                <a:ea typeface="Montserrat" pitchFamily="34" charset="-122"/>
                <a:cs typeface="Montserrat" pitchFamily="34" charset="-120"/>
              </a:rPr>
              <a:t>Column, Row &amp; Box: Kode &amp; Visualisasi</a:t>
            </a:r>
            <a:endParaRPr lang="en-US" sz="2700" dirty="0"/>
          </a:p>
        </p:txBody>
      </p:sp>
      <p:sp>
        <p:nvSpPr>
          <p:cNvPr id="3" name="Shape 1"/>
          <p:cNvSpPr/>
          <p:nvPr/>
        </p:nvSpPr>
        <p:spPr>
          <a:xfrm>
            <a:off x="661475" y="1242417"/>
            <a:ext cx="622384" cy="211832"/>
          </a:xfrm>
          <a:prstGeom prst="roundRect">
            <a:avLst>
              <a:gd name="adj" fmla="val 22135"/>
            </a:avLst>
          </a:prstGeom>
          <a:solidFill>
            <a:srgbClr val="1E0C41"/>
          </a:solidFill>
          <a:ln/>
        </p:spPr>
        <p:txBody>
          <a:bodyPr/>
          <a:lstStyle/>
          <a:p>
            <a:endParaRPr lang="en-US"/>
          </a:p>
        </p:txBody>
      </p:sp>
      <p:sp>
        <p:nvSpPr>
          <p:cNvPr id="4" name="Text 2"/>
          <p:cNvSpPr/>
          <p:nvPr/>
        </p:nvSpPr>
        <p:spPr>
          <a:xfrm>
            <a:off x="745114" y="1284188"/>
            <a:ext cx="1064690" cy="128290"/>
          </a:xfrm>
          <a:prstGeom prst="rect">
            <a:avLst/>
          </a:prstGeom>
          <a:noFill/>
          <a:ln/>
        </p:spPr>
        <p:txBody>
          <a:bodyPr wrap="none" lIns="0" tIns="0" rIns="0" bIns="0" rtlCol="0" anchor="t"/>
          <a:lstStyle/>
          <a:p>
            <a:pPr marL="0" indent="0" algn="l">
              <a:lnSpc>
                <a:spcPct val="96000"/>
              </a:lnSpc>
              <a:buNone/>
            </a:pPr>
            <a:r>
              <a:rPr lang="en-US" sz="850" dirty="0">
                <a:solidFill>
                  <a:srgbClr val="DCD7E5"/>
                </a:solidFill>
                <a:latin typeface="Heebo Light" pitchFamily="34" charset="0"/>
                <a:ea typeface="Heebo Light" pitchFamily="34" charset="-122"/>
                <a:cs typeface="Heebo Light" pitchFamily="34" charset="-120"/>
              </a:rPr>
              <a:t>COLUMN</a:t>
            </a:r>
            <a:endParaRPr lang="en-US" sz="850" dirty="0"/>
          </a:p>
        </p:txBody>
      </p:sp>
      <p:sp>
        <p:nvSpPr>
          <p:cNvPr id="5" name="Text 3"/>
          <p:cNvSpPr/>
          <p:nvPr/>
        </p:nvSpPr>
        <p:spPr>
          <a:xfrm>
            <a:off x="661475" y="1501279"/>
            <a:ext cx="3358669" cy="217984"/>
          </a:xfrm>
          <a:prstGeom prst="rect">
            <a:avLst/>
          </a:prstGeom>
          <a:noFill/>
          <a:ln/>
        </p:spPr>
        <p:txBody>
          <a:bodyPr wrap="none" lIns="0" tIns="0" rIns="0" bIns="0" rtlCol="0" anchor="t"/>
          <a:lstStyle/>
          <a:p>
            <a:pPr marL="0" indent="0" algn="l">
              <a:lnSpc>
                <a:spcPct val="104000"/>
              </a:lnSpc>
              <a:buNone/>
            </a:pPr>
            <a:r>
              <a:rPr lang="en-US" sz="1350" dirty="0">
                <a:solidFill>
                  <a:srgbClr val="F2F0F4"/>
                </a:solidFill>
                <a:latin typeface="Montserrat" pitchFamily="34" charset="0"/>
                <a:ea typeface="Montserrat" pitchFamily="34" charset="-122"/>
                <a:cs typeface="Montserrat" pitchFamily="34" charset="-120"/>
              </a:rPr>
              <a:t>Vertikal — Sumbu Y</a:t>
            </a:r>
            <a:endParaRPr lang="en-US" sz="1350" dirty="0"/>
          </a:p>
        </p:txBody>
      </p:sp>
      <p:sp>
        <p:nvSpPr>
          <p:cNvPr id="6" name="Shape 4"/>
          <p:cNvSpPr/>
          <p:nvPr/>
        </p:nvSpPr>
        <p:spPr>
          <a:xfrm>
            <a:off x="661475" y="1851720"/>
            <a:ext cx="3358669" cy="2065734"/>
          </a:xfrm>
          <a:prstGeom prst="roundRect">
            <a:avLst>
              <a:gd name="adj" fmla="val 2837"/>
            </a:avLst>
          </a:prstGeom>
          <a:solidFill>
            <a:srgbClr val="1A1739"/>
          </a:solidFill>
          <a:ln/>
        </p:spPr>
        <p:txBody>
          <a:bodyPr/>
          <a:lstStyle/>
          <a:p>
            <a:endParaRPr lang="en-US"/>
          </a:p>
        </p:txBody>
      </p:sp>
      <p:sp>
        <p:nvSpPr>
          <p:cNvPr id="7" name="Text 5"/>
          <p:cNvSpPr/>
          <p:nvPr/>
        </p:nvSpPr>
        <p:spPr>
          <a:xfrm>
            <a:off x="828853" y="1991221"/>
            <a:ext cx="3023913" cy="1786731"/>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Column(</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modifier = Modifier</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.fillMaxWidth()</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Text("Item 1")</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Text("Item 2")</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Text("Item 3")</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a:t>
            </a:r>
            <a:endParaRPr lang="en-US" sz="1050" dirty="0"/>
          </a:p>
        </p:txBody>
      </p:sp>
      <p:sp>
        <p:nvSpPr>
          <p:cNvPr id="8" name="Text 6"/>
          <p:cNvSpPr/>
          <p:nvPr/>
        </p:nvSpPr>
        <p:spPr>
          <a:xfrm>
            <a:off x="661475" y="4049911"/>
            <a:ext cx="3358669" cy="630337"/>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DCD7E5"/>
                </a:solidFill>
                <a:latin typeface="Heebo Light" pitchFamily="34" charset="0"/>
                <a:ea typeface="Heebo Light" pitchFamily="34" charset="-122"/>
                <a:cs typeface="Heebo Light" pitchFamily="34" charset="-120"/>
              </a:rPr>
              <a:t>Elemen disusun dari atas ke bawah. Gunakan </a:t>
            </a:r>
            <a:r>
              <a:rPr lang="en-US" sz="1050" dirty="0">
                <a:solidFill>
                  <a:srgbClr val="DCD7E5"/>
                </a:solidFill>
                <a:highlight>
                  <a:srgbClr val="1A1739"/>
                </a:highlight>
                <a:latin typeface="Consolas" pitchFamily="34" charset="0"/>
                <a:ea typeface="Consolas" pitchFamily="34" charset="-122"/>
                <a:cs typeface="Consolas" pitchFamily="34" charset="-120"/>
              </a:rPr>
              <a:t>verticalArrangement</a:t>
            </a:r>
            <a:r>
              <a:rPr lang="en-US" sz="1050" dirty="0">
                <a:solidFill>
                  <a:srgbClr val="DCD7E5"/>
                </a:solidFill>
                <a:latin typeface="Heebo Light" pitchFamily="34" charset="0"/>
                <a:ea typeface="Heebo Light" pitchFamily="34" charset="-122"/>
                <a:cs typeface="Heebo Light" pitchFamily="34" charset="-120"/>
              </a:rPr>
              <a:t> untuk mengatur sebaran dan </a:t>
            </a:r>
            <a:r>
              <a:rPr lang="en-US" sz="1050" dirty="0">
                <a:solidFill>
                  <a:srgbClr val="DCD7E5"/>
                </a:solidFill>
                <a:highlight>
                  <a:srgbClr val="1A1739"/>
                </a:highlight>
                <a:latin typeface="Consolas" pitchFamily="34" charset="0"/>
                <a:ea typeface="Consolas" pitchFamily="34" charset="-122"/>
                <a:cs typeface="Consolas" pitchFamily="34" charset="-120"/>
              </a:rPr>
              <a:t>horizontalAlignment</a:t>
            </a:r>
            <a:r>
              <a:rPr lang="en-US" sz="1050" dirty="0">
                <a:solidFill>
                  <a:srgbClr val="DCD7E5"/>
                </a:solidFill>
                <a:latin typeface="Heebo Light" pitchFamily="34" charset="0"/>
                <a:ea typeface="Heebo Light" pitchFamily="34" charset="-122"/>
                <a:cs typeface="Heebo Light" pitchFamily="34" charset="-120"/>
              </a:rPr>
              <a:t> untuk posisi silang.</a:t>
            </a:r>
            <a:endParaRPr lang="en-US" sz="1050" dirty="0"/>
          </a:p>
        </p:txBody>
      </p:sp>
      <p:sp>
        <p:nvSpPr>
          <p:cNvPr id="9" name="Shape 7"/>
          <p:cNvSpPr/>
          <p:nvPr/>
        </p:nvSpPr>
        <p:spPr>
          <a:xfrm>
            <a:off x="4366806" y="1242417"/>
            <a:ext cx="413335" cy="211832"/>
          </a:xfrm>
          <a:prstGeom prst="roundRect">
            <a:avLst>
              <a:gd name="adj" fmla="val 22135"/>
            </a:avLst>
          </a:prstGeom>
          <a:solidFill>
            <a:srgbClr val="1E0C41"/>
          </a:solidFill>
          <a:ln/>
        </p:spPr>
        <p:txBody>
          <a:bodyPr/>
          <a:lstStyle/>
          <a:p>
            <a:endParaRPr lang="en-US"/>
          </a:p>
        </p:txBody>
      </p:sp>
      <p:sp>
        <p:nvSpPr>
          <p:cNvPr id="10" name="Text 8"/>
          <p:cNvSpPr/>
          <p:nvPr/>
        </p:nvSpPr>
        <p:spPr>
          <a:xfrm>
            <a:off x="4450445" y="1284188"/>
            <a:ext cx="855641" cy="128290"/>
          </a:xfrm>
          <a:prstGeom prst="rect">
            <a:avLst/>
          </a:prstGeom>
          <a:noFill/>
          <a:ln/>
        </p:spPr>
        <p:txBody>
          <a:bodyPr wrap="none" lIns="0" tIns="0" rIns="0" bIns="0" rtlCol="0" anchor="t"/>
          <a:lstStyle/>
          <a:p>
            <a:pPr marL="0" indent="0" algn="l">
              <a:lnSpc>
                <a:spcPct val="96000"/>
              </a:lnSpc>
              <a:buNone/>
            </a:pPr>
            <a:r>
              <a:rPr lang="en-US" sz="850" dirty="0">
                <a:solidFill>
                  <a:srgbClr val="DCD7E5"/>
                </a:solidFill>
                <a:latin typeface="Heebo Light" pitchFamily="34" charset="0"/>
                <a:ea typeface="Heebo Light" pitchFamily="34" charset="-122"/>
                <a:cs typeface="Heebo Light" pitchFamily="34" charset="-120"/>
              </a:rPr>
              <a:t>ROW</a:t>
            </a:r>
            <a:endParaRPr lang="en-US" sz="850" dirty="0"/>
          </a:p>
        </p:txBody>
      </p:sp>
      <p:sp>
        <p:nvSpPr>
          <p:cNvPr id="11" name="Text 9"/>
          <p:cNvSpPr/>
          <p:nvPr/>
        </p:nvSpPr>
        <p:spPr>
          <a:xfrm>
            <a:off x="4366806" y="1501279"/>
            <a:ext cx="3358669" cy="217984"/>
          </a:xfrm>
          <a:prstGeom prst="rect">
            <a:avLst/>
          </a:prstGeom>
          <a:noFill/>
          <a:ln/>
        </p:spPr>
        <p:txBody>
          <a:bodyPr wrap="none" lIns="0" tIns="0" rIns="0" bIns="0" rtlCol="0" anchor="t"/>
          <a:lstStyle/>
          <a:p>
            <a:pPr marL="0" indent="0" algn="l">
              <a:lnSpc>
                <a:spcPct val="104000"/>
              </a:lnSpc>
              <a:buNone/>
            </a:pPr>
            <a:r>
              <a:rPr lang="en-US" sz="1350" dirty="0">
                <a:solidFill>
                  <a:srgbClr val="F2F0F4"/>
                </a:solidFill>
                <a:latin typeface="Montserrat" pitchFamily="34" charset="0"/>
                <a:ea typeface="Montserrat" pitchFamily="34" charset="-122"/>
                <a:cs typeface="Montserrat" pitchFamily="34" charset="-120"/>
              </a:rPr>
              <a:t>Horizontal — Sumbu X</a:t>
            </a:r>
            <a:endParaRPr lang="en-US" sz="1350" dirty="0"/>
          </a:p>
        </p:txBody>
      </p:sp>
      <p:sp>
        <p:nvSpPr>
          <p:cNvPr id="12" name="Shape 10"/>
          <p:cNvSpPr/>
          <p:nvPr/>
        </p:nvSpPr>
        <p:spPr>
          <a:xfrm>
            <a:off x="4366806" y="1851720"/>
            <a:ext cx="3358669" cy="2512417"/>
          </a:xfrm>
          <a:prstGeom prst="roundRect">
            <a:avLst>
              <a:gd name="adj" fmla="val 2333"/>
            </a:avLst>
          </a:prstGeom>
          <a:solidFill>
            <a:srgbClr val="1A1739"/>
          </a:solidFill>
          <a:ln/>
        </p:spPr>
        <p:txBody>
          <a:bodyPr/>
          <a:lstStyle/>
          <a:p>
            <a:endParaRPr lang="en-US"/>
          </a:p>
        </p:txBody>
      </p:sp>
      <p:sp>
        <p:nvSpPr>
          <p:cNvPr id="13" name="Text 11"/>
          <p:cNvSpPr/>
          <p:nvPr/>
        </p:nvSpPr>
        <p:spPr>
          <a:xfrm>
            <a:off x="4534183" y="1991221"/>
            <a:ext cx="3023913" cy="2233414"/>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Row(</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modifier = Modifier</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.fillMaxWidth()</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Text("Kiri")</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Spacer(</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Modifier.weight(1f)</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Text("Kanan")</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a:t>
            </a:r>
            <a:endParaRPr lang="en-US" sz="1050" dirty="0"/>
          </a:p>
        </p:txBody>
      </p:sp>
      <p:sp>
        <p:nvSpPr>
          <p:cNvPr id="14" name="Text 12"/>
          <p:cNvSpPr/>
          <p:nvPr/>
        </p:nvSpPr>
        <p:spPr>
          <a:xfrm>
            <a:off x="4366806" y="4496594"/>
            <a:ext cx="3358669" cy="4244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DCD7E5"/>
                </a:solidFill>
                <a:latin typeface="Heebo Light" pitchFamily="34" charset="0"/>
                <a:ea typeface="Heebo Light" pitchFamily="34" charset="-122"/>
                <a:cs typeface="Heebo Light" pitchFamily="34" charset="-120"/>
              </a:rPr>
              <a:t>Elemen disusun dari kiri ke kanan. </a:t>
            </a:r>
            <a:r>
              <a:rPr lang="en-US" sz="1050" dirty="0">
                <a:solidFill>
                  <a:srgbClr val="DCD7E5"/>
                </a:solidFill>
                <a:highlight>
                  <a:srgbClr val="1A1739"/>
                </a:highlight>
                <a:latin typeface="Consolas" pitchFamily="34" charset="0"/>
                <a:ea typeface="Consolas" pitchFamily="34" charset="-122"/>
                <a:cs typeface="Consolas" pitchFamily="34" charset="-120"/>
              </a:rPr>
              <a:t>Spacer</a:t>
            </a:r>
            <a:r>
              <a:rPr lang="en-US" sz="1050" dirty="0">
                <a:solidFill>
                  <a:srgbClr val="DCD7E5"/>
                </a:solidFill>
                <a:latin typeface="Heebo Light" pitchFamily="34" charset="0"/>
                <a:ea typeface="Heebo Light" pitchFamily="34" charset="-122"/>
                <a:cs typeface="Heebo Light" pitchFamily="34" charset="-120"/>
              </a:rPr>
              <a:t> dengan </a:t>
            </a:r>
            <a:r>
              <a:rPr lang="en-US" sz="1050" dirty="0">
                <a:solidFill>
                  <a:srgbClr val="DCD7E5"/>
                </a:solidFill>
                <a:highlight>
                  <a:srgbClr val="1A1739"/>
                </a:highlight>
                <a:latin typeface="Consolas" pitchFamily="34" charset="0"/>
                <a:ea typeface="Consolas" pitchFamily="34" charset="-122"/>
                <a:cs typeface="Consolas" pitchFamily="34" charset="-120"/>
              </a:rPr>
              <a:t>weight</a:t>
            </a:r>
            <a:r>
              <a:rPr lang="en-US" sz="1050" dirty="0">
                <a:solidFill>
                  <a:srgbClr val="DCD7E5"/>
                </a:solidFill>
                <a:latin typeface="Heebo Light" pitchFamily="34" charset="0"/>
                <a:ea typeface="Heebo Light" pitchFamily="34" charset="-122"/>
                <a:cs typeface="Heebo Light" pitchFamily="34" charset="-120"/>
              </a:rPr>
              <a:t> mendorong elemen ke tepi berlawanan.</a:t>
            </a:r>
            <a:endParaRPr lang="en-US" sz="1050" dirty="0"/>
          </a:p>
        </p:txBody>
      </p:sp>
      <p:sp>
        <p:nvSpPr>
          <p:cNvPr id="15" name="Shape 13"/>
          <p:cNvSpPr/>
          <p:nvPr/>
        </p:nvSpPr>
        <p:spPr>
          <a:xfrm>
            <a:off x="8072136" y="1242417"/>
            <a:ext cx="379601" cy="211832"/>
          </a:xfrm>
          <a:prstGeom prst="roundRect">
            <a:avLst>
              <a:gd name="adj" fmla="val 22135"/>
            </a:avLst>
          </a:prstGeom>
          <a:solidFill>
            <a:srgbClr val="1E0C41"/>
          </a:solidFill>
          <a:ln/>
        </p:spPr>
        <p:txBody>
          <a:bodyPr/>
          <a:lstStyle/>
          <a:p>
            <a:endParaRPr lang="en-US"/>
          </a:p>
        </p:txBody>
      </p:sp>
      <p:sp>
        <p:nvSpPr>
          <p:cNvPr id="16" name="Text 14"/>
          <p:cNvSpPr/>
          <p:nvPr/>
        </p:nvSpPr>
        <p:spPr>
          <a:xfrm>
            <a:off x="8155776" y="1284188"/>
            <a:ext cx="821908" cy="128290"/>
          </a:xfrm>
          <a:prstGeom prst="rect">
            <a:avLst/>
          </a:prstGeom>
          <a:noFill/>
          <a:ln/>
        </p:spPr>
        <p:txBody>
          <a:bodyPr wrap="none" lIns="0" tIns="0" rIns="0" bIns="0" rtlCol="0" anchor="t"/>
          <a:lstStyle/>
          <a:p>
            <a:pPr marL="0" indent="0" algn="l">
              <a:lnSpc>
                <a:spcPct val="96000"/>
              </a:lnSpc>
              <a:buNone/>
            </a:pPr>
            <a:r>
              <a:rPr lang="en-US" sz="850" dirty="0">
                <a:solidFill>
                  <a:srgbClr val="DCD7E5"/>
                </a:solidFill>
                <a:latin typeface="Heebo Light" pitchFamily="34" charset="0"/>
                <a:ea typeface="Heebo Light" pitchFamily="34" charset="-122"/>
                <a:cs typeface="Heebo Light" pitchFamily="34" charset="-120"/>
              </a:rPr>
              <a:t>BOX</a:t>
            </a:r>
            <a:endParaRPr lang="en-US" sz="850" dirty="0"/>
          </a:p>
        </p:txBody>
      </p:sp>
      <p:sp>
        <p:nvSpPr>
          <p:cNvPr id="17" name="Text 15"/>
          <p:cNvSpPr/>
          <p:nvPr/>
        </p:nvSpPr>
        <p:spPr>
          <a:xfrm>
            <a:off x="8072136" y="1501279"/>
            <a:ext cx="3470684" cy="217984"/>
          </a:xfrm>
          <a:prstGeom prst="rect">
            <a:avLst/>
          </a:prstGeom>
          <a:noFill/>
          <a:ln/>
        </p:spPr>
        <p:txBody>
          <a:bodyPr wrap="none" lIns="0" tIns="0" rIns="0" bIns="0" rtlCol="0" anchor="t"/>
          <a:lstStyle/>
          <a:p>
            <a:pPr marL="0" indent="0" algn="l">
              <a:lnSpc>
                <a:spcPct val="104000"/>
              </a:lnSpc>
              <a:buNone/>
            </a:pPr>
            <a:r>
              <a:rPr lang="en-US" sz="1350" dirty="0">
                <a:solidFill>
                  <a:srgbClr val="F2F0F4"/>
                </a:solidFill>
                <a:latin typeface="Montserrat" pitchFamily="34" charset="0"/>
                <a:ea typeface="Montserrat" pitchFamily="34" charset="-122"/>
                <a:cs typeface="Montserrat" pitchFamily="34" charset="-120"/>
              </a:rPr>
              <a:t>Tumpukan — Sumbu Z</a:t>
            </a:r>
            <a:endParaRPr lang="en-US" sz="1350" dirty="0"/>
          </a:p>
        </p:txBody>
      </p:sp>
      <p:sp>
        <p:nvSpPr>
          <p:cNvPr id="18" name="Shape 16"/>
          <p:cNvSpPr/>
          <p:nvPr/>
        </p:nvSpPr>
        <p:spPr>
          <a:xfrm>
            <a:off x="8072136" y="1851720"/>
            <a:ext cx="3470684" cy="3852466"/>
          </a:xfrm>
          <a:prstGeom prst="roundRect">
            <a:avLst>
              <a:gd name="adj" fmla="val 1689"/>
            </a:avLst>
          </a:prstGeom>
          <a:solidFill>
            <a:srgbClr val="1A1739"/>
          </a:solidFill>
          <a:ln/>
        </p:spPr>
        <p:txBody>
          <a:bodyPr/>
          <a:lstStyle/>
          <a:p>
            <a:endParaRPr lang="en-US"/>
          </a:p>
        </p:txBody>
      </p:sp>
      <p:sp>
        <p:nvSpPr>
          <p:cNvPr id="19" name="Text 17"/>
          <p:cNvSpPr/>
          <p:nvPr/>
        </p:nvSpPr>
        <p:spPr>
          <a:xfrm>
            <a:off x="8239514" y="1991221"/>
            <a:ext cx="3135929" cy="3573463"/>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Box(</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modifier = Modifier</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.size(100.dp)</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Image(</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painter = ...,</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contentDescription = null</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Text(</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"Overlay",</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modifier = Modifier</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.align(</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Alignment.Center</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  )</a:t>
            </a:r>
            <a:endParaRPr lang="en-US" sz="1050" dirty="0"/>
          </a:p>
          <a:p>
            <a:pPr marL="0" indent="0" algn="l">
              <a:lnSpc>
                <a:spcPct val="133000"/>
              </a:lnSpc>
              <a:buNone/>
            </a:pPr>
            <a:r>
              <a:rPr lang="en-US" sz="1050" dirty="0">
                <a:solidFill>
                  <a:srgbClr val="7EE787"/>
                </a:solidFill>
                <a:latin typeface="Consolas" pitchFamily="34" charset="0"/>
                <a:ea typeface="Consolas" pitchFamily="34" charset="-122"/>
                <a:cs typeface="Consolas" pitchFamily="34" charset="-120"/>
              </a:rPr>
              <a:t>}</a:t>
            </a:r>
            <a:endParaRPr lang="en-US" sz="1050" dirty="0"/>
          </a:p>
        </p:txBody>
      </p:sp>
      <p:sp>
        <p:nvSpPr>
          <p:cNvPr id="20" name="Text 18"/>
          <p:cNvSpPr/>
          <p:nvPr/>
        </p:nvSpPr>
        <p:spPr>
          <a:xfrm>
            <a:off x="8072136" y="5836642"/>
            <a:ext cx="3470684" cy="41810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DCD7E5"/>
                </a:solidFill>
                <a:latin typeface="Heebo Light" pitchFamily="34" charset="0"/>
                <a:ea typeface="Heebo Light" pitchFamily="34" charset="-122"/>
                <a:cs typeface="Heebo Light" pitchFamily="34" charset="-120"/>
              </a:rPr>
              <a:t>Elemen ditumpuk satu di atas lainnya. Gunakan </a:t>
            </a:r>
            <a:r>
              <a:rPr lang="en-US" sz="1050" dirty="0">
                <a:solidFill>
                  <a:srgbClr val="DCD7E5"/>
                </a:solidFill>
                <a:highlight>
                  <a:srgbClr val="1A1739"/>
                </a:highlight>
                <a:latin typeface="Consolas" pitchFamily="34" charset="0"/>
                <a:ea typeface="Consolas" pitchFamily="34" charset="-122"/>
                <a:cs typeface="Consolas" pitchFamily="34" charset="-120"/>
              </a:rPr>
              <a:t>align()</a:t>
            </a:r>
            <a:r>
              <a:rPr lang="en-US" sz="1050" dirty="0">
                <a:solidFill>
                  <a:srgbClr val="DCD7E5"/>
                </a:solidFill>
                <a:latin typeface="Heebo Light" pitchFamily="34" charset="0"/>
                <a:ea typeface="Heebo Light" pitchFamily="34" charset="-122"/>
                <a:cs typeface="Heebo Light" pitchFamily="34" charset="-120"/>
              </a:rPr>
              <a:t> dalam BoxScope untuk memposisikan setiap child.</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marL="0" indent="0" algn="l">
              <a:lnSpc>
                <a:spcPct val="104000"/>
              </a:lnSpc>
              <a:buNone/>
            </a:pPr>
            <a:r>
              <a:rPr lang="en-US" sz="1600" dirty="0">
                <a:solidFill>
                  <a:srgbClr val="F2F0F4"/>
                </a:solidFill>
                <a:latin typeface="Montserrat" pitchFamily="34" charset="0"/>
                <a:ea typeface="Montserrat" pitchFamily="34" charset="-122"/>
                <a:cs typeface="Montserrat" pitchFamily="34" charset="-120"/>
              </a:rPr>
              <a:t>Arrangement vs Alignment</a:t>
            </a:r>
            <a:endParaRPr lang="en-US" sz="1600" dirty="0"/>
          </a:p>
        </p:txBody>
      </p:sp>
      <p:sp>
        <p:nvSpPr>
          <p:cNvPr id="3" name="Text 1"/>
          <p:cNvSpPr/>
          <p:nvPr/>
        </p:nvSpPr>
        <p:spPr>
          <a:xfrm>
            <a:off x="661475" y="795933"/>
            <a:ext cx="11478330" cy="99120"/>
          </a:xfrm>
          <a:prstGeom prst="rect">
            <a:avLst/>
          </a:prstGeom>
          <a:noFill/>
          <a:ln/>
        </p:spPr>
        <p:txBody>
          <a:bodyPr wrap="none" lIns="0" tIns="0" rIns="0" bIns="0" rtlCol="0" anchor="t"/>
          <a:lstStyle/>
          <a:p>
            <a:pPr marL="0" indent="0" algn="l">
              <a:lnSpc>
                <a:spcPct val="100000"/>
              </a:lnSpc>
              <a:buNone/>
            </a:pPr>
            <a:r>
              <a:rPr lang="en-US" sz="650" dirty="0">
                <a:solidFill>
                  <a:srgbClr val="DCD7E5"/>
                </a:solidFill>
                <a:latin typeface="Heebo Light" pitchFamily="34" charset="0"/>
                <a:ea typeface="Heebo Light" pitchFamily="34" charset="-122"/>
                <a:cs typeface="Heebo Light" pitchFamily="34" charset="-120"/>
              </a:rPr>
              <a:t>Dua parameter kritis yang menentukan distribusi dan posisi elemen dalam layout Compose — sering tertukar oleh pemula.</a:t>
            </a:r>
            <a:endParaRPr lang="en-US" sz="650" dirty="0"/>
          </a:p>
        </p:txBody>
      </p:sp>
      <p:sp>
        <p:nvSpPr>
          <p:cNvPr id="4" name="Shape 2"/>
          <p:cNvSpPr/>
          <p:nvPr/>
        </p:nvSpPr>
        <p:spPr>
          <a:xfrm>
            <a:off x="601945" y="941487"/>
            <a:ext cx="5452628" cy="915591"/>
          </a:xfrm>
          <a:prstGeom prst="roundRect">
            <a:avLst>
              <a:gd name="adj" fmla="val 6503"/>
            </a:avLst>
          </a:prstGeom>
          <a:solidFill>
            <a:srgbClr val="481C9E">
              <a:alpha val="95000"/>
            </a:srgbClr>
          </a:solidFill>
          <a:ln/>
        </p:spPr>
        <p:txBody>
          <a:bodyPr/>
          <a:lstStyle/>
          <a:p>
            <a:endParaRPr lang="en-US"/>
          </a:p>
        </p:txBody>
      </p:sp>
      <p:sp>
        <p:nvSpPr>
          <p:cNvPr id="5" name="Text 3"/>
          <p:cNvSpPr/>
          <p:nvPr/>
        </p:nvSpPr>
        <p:spPr>
          <a:xfrm>
            <a:off x="684592" y="982762"/>
            <a:ext cx="5287334" cy="129183"/>
          </a:xfrm>
          <a:prstGeom prst="rect">
            <a:avLst/>
          </a:prstGeom>
          <a:noFill/>
          <a:ln/>
        </p:spPr>
        <p:txBody>
          <a:bodyPr wrap="none" lIns="0" tIns="0" rIns="0" bIns="0" rtlCol="0" anchor="t"/>
          <a:lstStyle/>
          <a:p>
            <a:pPr marL="0" indent="0" algn="l">
              <a:lnSpc>
                <a:spcPct val="104000"/>
              </a:lnSpc>
              <a:buNone/>
            </a:pPr>
            <a:r>
              <a:rPr lang="en-US" sz="800" dirty="0">
                <a:solidFill>
                  <a:srgbClr val="F2F0F4"/>
                </a:solidFill>
                <a:latin typeface="Montserrat" pitchFamily="34" charset="0"/>
                <a:ea typeface="Montserrat" pitchFamily="34" charset="-122"/>
                <a:cs typeface="Montserrat" pitchFamily="34" charset="-120"/>
              </a:rPr>
              <a:t>Arrangement — Main Axis</a:t>
            </a:r>
            <a:endParaRPr lang="en-US" sz="800" dirty="0"/>
          </a:p>
        </p:txBody>
      </p:sp>
      <p:sp>
        <p:nvSpPr>
          <p:cNvPr id="6" name="Text 4"/>
          <p:cNvSpPr/>
          <p:nvPr/>
        </p:nvSpPr>
        <p:spPr>
          <a:xfrm>
            <a:off x="684592" y="1153220"/>
            <a:ext cx="5896919" cy="99120"/>
          </a:xfrm>
          <a:prstGeom prst="rect">
            <a:avLst/>
          </a:prstGeom>
          <a:noFill/>
          <a:ln/>
        </p:spPr>
        <p:txBody>
          <a:bodyPr wrap="none" lIns="0" tIns="0" rIns="0" bIns="0" rtlCol="0" anchor="t"/>
          <a:lstStyle/>
          <a:p>
            <a:pPr marL="0" indent="0" algn="l">
              <a:lnSpc>
                <a:spcPct val="100000"/>
              </a:lnSpc>
              <a:buNone/>
            </a:pPr>
            <a:r>
              <a:rPr lang="en-US" sz="650" dirty="0">
                <a:solidFill>
                  <a:srgbClr val="DCD7E5"/>
                </a:solidFill>
                <a:latin typeface="Heebo Light" pitchFamily="34" charset="0"/>
                <a:ea typeface="Heebo Light" pitchFamily="34" charset="-122"/>
                <a:cs typeface="Heebo Light" pitchFamily="34" charset="-120"/>
              </a:rPr>
              <a:t>Mengatur </a:t>
            </a:r>
            <a:r>
              <a:rPr lang="en-US" sz="650" b="1" dirty="0">
                <a:solidFill>
                  <a:srgbClr val="DCD7E5"/>
                </a:solidFill>
                <a:latin typeface="Heebo Bold" pitchFamily="34" charset="0"/>
                <a:ea typeface="Heebo Bold" pitchFamily="34" charset="-122"/>
                <a:cs typeface="Heebo Bold" pitchFamily="34" charset="-120"/>
              </a:rPr>
              <a:t>sebaran elemen</a:t>
            </a:r>
            <a:r>
              <a:rPr lang="en-US" sz="650" dirty="0">
                <a:solidFill>
                  <a:srgbClr val="DCD7E5"/>
                </a:solidFill>
                <a:latin typeface="Heebo Light" pitchFamily="34" charset="0"/>
                <a:ea typeface="Heebo Light" pitchFamily="34" charset="-122"/>
                <a:cs typeface="Heebo Light" pitchFamily="34" charset="-120"/>
              </a:rPr>
              <a:t> pada sumbu utama (vertikal untuk Column, horizontal untuk Row).</a:t>
            </a:r>
            <a:endParaRPr lang="en-US" sz="650" dirty="0"/>
          </a:p>
        </p:txBody>
      </p:sp>
      <p:sp>
        <p:nvSpPr>
          <p:cNvPr id="7" name="Text 5"/>
          <p:cNvSpPr/>
          <p:nvPr/>
        </p:nvSpPr>
        <p:spPr>
          <a:xfrm>
            <a:off x="684592" y="1289546"/>
            <a:ext cx="5287334" cy="553145"/>
          </a:xfrm>
          <a:prstGeom prst="rect">
            <a:avLst/>
          </a:prstGeom>
          <a:noFill/>
          <a:ln/>
        </p:spPr>
        <p:txBody>
          <a:bodyPr wrap="square" lIns="0" tIns="33078" rIns="0" bIns="0" rtlCol="0" anchor="t">
            <a:normAutofit/>
          </a:bodyPr>
          <a:lstStyle/>
          <a:p>
            <a:pPr marL="132080" indent="-132080" algn="l">
              <a:lnSpc>
                <a:spcPct val="100000"/>
              </a:lnSpc>
              <a:buSzPct val="100000"/>
              <a:buChar char="•"/>
            </a:pPr>
            <a:r>
              <a:rPr lang="en-US" sz="650" dirty="0">
                <a:solidFill>
                  <a:srgbClr val="DCD7E5"/>
                </a:solidFill>
                <a:highlight>
                  <a:srgbClr val="5529AB"/>
                </a:highlight>
                <a:latin typeface="Consolas" pitchFamily="34" charset="0"/>
                <a:ea typeface="Consolas" pitchFamily="34" charset="-122"/>
                <a:cs typeface="Consolas" pitchFamily="34" charset="-120"/>
              </a:rPr>
              <a:t>Arrangement.SpaceBetween</a:t>
            </a:r>
            <a:r>
              <a:rPr lang="en-US" sz="650" dirty="0">
                <a:solidFill>
                  <a:srgbClr val="DCD7E5"/>
                </a:solidFill>
                <a:latin typeface="Heebo Light" pitchFamily="34" charset="0"/>
                <a:ea typeface="Heebo Light" pitchFamily="34" charset="-122"/>
                <a:cs typeface="Heebo Light" pitchFamily="34" charset="-120"/>
              </a:rPr>
              <a:t> — jarak merata antar elemen, tanpa jarak di tepi</a:t>
            </a:r>
            <a:endParaRPr lang="en-US" sz="650" dirty="0"/>
          </a:p>
          <a:p>
            <a:pPr marL="132080" indent="-132080" algn="l">
              <a:lnSpc>
                <a:spcPct val="100000"/>
              </a:lnSpc>
              <a:buSzPct val="100000"/>
              <a:buChar char="•"/>
            </a:pPr>
            <a:r>
              <a:rPr lang="en-US" sz="650" dirty="0">
                <a:solidFill>
                  <a:srgbClr val="DCD7E5"/>
                </a:solidFill>
                <a:highlight>
                  <a:srgbClr val="5529AB"/>
                </a:highlight>
                <a:latin typeface="Consolas" pitchFamily="34" charset="0"/>
                <a:ea typeface="Consolas" pitchFamily="34" charset="-122"/>
                <a:cs typeface="Consolas" pitchFamily="34" charset="-120"/>
              </a:rPr>
              <a:t>Arrangement.SpaceAround</a:t>
            </a:r>
            <a:r>
              <a:rPr lang="en-US" sz="650" dirty="0">
                <a:solidFill>
                  <a:srgbClr val="DCD7E5"/>
                </a:solidFill>
                <a:latin typeface="Heebo Light" pitchFamily="34" charset="0"/>
                <a:ea typeface="Heebo Light" pitchFamily="34" charset="-122"/>
                <a:cs typeface="Heebo Light" pitchFamily="34" charset="-120"/>
              </a:rPr>
              <a:t> — jarak merata termasuk setengah jarak di tepi</a:t>
            </a:r>
            <a:endParaRPr lang="en-US" sz="650" dirty="0"/>
          </a:p>
          <a:p>
            <a:pPr marL="132080" indent="-132080" algn="l">
              <a:lnSpc>
                <a:spcPct val="100000"/>
              </a:lnSpc>
              <a:buSzPct val="100000"/>
              <a:buChar char="•"/>
            </a:pPr>
            <a:r>
              <a:rPr lang="en-US" sz="650" dirty="0">
                <a:solidFill>
                  <a:srgbClr val="DCD7E5"/>
                </a:solidFill>
                <a:highlight>
                  <a:srgbClr val="5529AB"/>
                </a:highlight>
                <a:latin typeface="Consolas" pitchFamily="34" charset="0"/>
                <a:ea typeface="Consolas" pitchFamily="34" charset="-122"/>
                <a:cs typeface="Consolas" pitchFamily="34" charset="-120"/>
              </a:rPr>
              <a:t>Arrangement.SpaceEvenly</a:t>
            </a:r>
            <a:r>
              <a:rPr lang="en-US" sz="650" dirty="0">
                <a:solidFill>
                  <a:srgbClr val="DCD7E5"/>
                </a:solidFill>
                <a:latin typeface="Heebo Light" pitchFamily="34" charset="0"/>
                <a:ea typeface="Heebo Light" pitchFamily="34" charset="-122"/>
                <a:cs typeface="Heebo Light" pitchFamily="34" charset="-120"/>
              </a:rPr>
              <a:t> — jarak merata penuh termasuk tepi</a:t>
            </a:r>
            <a:endParaRPr lang="en-US" sz="650" dirty="0"/>
          </a:p>
          <a:p>
            <a:pPr marL="132080" indent="-132080" algn="l">
              <a:lnSpc>
                <a:spcPct val="100000"/>
              </a:lnSpc>
              <a:buSzPct val="100000"/>
              <a:buChar char="•"/>
            </a:pPr>
            <a:r>
              <a:rPr lang="en-US" sz="650" dirty="0">
                <a:solidFill>
                  <a:srgbClr val="DCD7E5"/>
                </a:solidFill>
                <a:highlight>
                  <a:srgbClr val="5529AB"/>
                </a:highlight>
                <a:latin typeface="Consolas" pitchFamily="34" charset="0"/>
                <a:ea typeface="Consolas" pitchFamily="34" charset="-122"/>
                <a:cs typeface="Consolas" pitchFamily="34" charset="-120"/>
              </a:rPr>
              <a:t>Arrangement.Center</a:t>
            </a:r>
            <a:r>
              <a:rPr lang="en-US" sz="650" dirty="0">
                <a:solidFill>
                  <a:srgbClr val="DCD7E5"/>
                </a:solidFill>
                <a:latin typeface="Heebo Light" pitchFamily="34" charset="0"/>
                <a:ea typeface="Heebo Light" pitchFamily="34" charset="-122"/>
                <a:cs typeface="Heebo Light" pitchFamily="34" charset="-120"/>
              </a:rPr>
              <a:t> — semua elemen di tengah</a:t>
            </a:r>
            <a:endParaRPr lang="en-US" sz="650" dirty="0"/>
          </a:p>
          <a:p>
            <a:pPr marL="132080" indent="-132080" algn="l">
              <a:lnSpc>
                <a:spcPct val="100000"/>
              </a:lnSpc>
              <a:buSzPct val="100000"/>
              <a:buChar char="•"/>
            </a:pPr>
            <a:r>
              <a:rPr lang="en-US" sz="650" dirty="0">
                <a:solidFill>
                  <a:srgbClr val="DCD7E5"/>
                </a:solidFill>
                <a:highlight>
                  <a:srgbClr val="5529AB"/>
                </a:highlight>
                <a:latin typeface="Consolas" pitchFamily="34" charset="0"/>
                <a:ea typeface="Consolas" pitchFamily="34" charset="-122"/>
                <a:cs typeface="Consolas" pitchFamily="34" charset="-120"/>
              </a:rPr>
              <a:t>Arrangement.Start / End</a:t>
            </a:r>
            <a:r>
              <a:rPr lang="en-US" sz="650" dirty="0">
                <a:solidFill>
                  <a:srgbClr val="DCD7E5"/>
                </a:solidFill>
                <a:latin typeface="Heebo Light" pitchFamily="34" charset="0"/>
                <a:ea typeface="Heebo Light" pitchFamily="34" charset="-122"/>
                <a:cs typeface="Heebo Light" pitchFamily="34" charset="-120"/>
              </a:rPr>
              <a:t> — rata kiri / kanan</a:t>
            </a:r>
            <a:endParaRPr lang="en-US" sz="650" dirty="0"/>
          </a:p>
        </p:txBody>
      </p:sp>
      <p:sp>
        <p:nvSpPr>
          <p:cNvPr id="8" name="Text 6"/>
          <p:cNvSpPr/>
          <p:nvPr/>
        </p:nvSpPr>
        <p:spPr>
          <a:xfrm>
            <a:off x="6203001" y="982762"/>
            <a:ext cx="5333569" cy="129183"/>
          </a:xfrm>
          <a:prstGeom prst="rect">
            <a:avLst/>
          </a:prstGeom>
          <a:noFill/>
          <a:ln/>
        </p:spPr>
        <p:txBody>
          <a:bodyPr wrap="none" lIns="0" tIns="0" rIns="0" bIns="0" rtlCol="0" anchor="t"/>
          <a:lstStyle/>
          <a:p>
            <a:pPr marL="0" indent="0" algn="l">
              <a:lnSpc>
                <a:spcPct val="104000"/>
              </a:lnSpc>
              <a:buNone/>
            </a:pPr>
            <a:r>
              <a:rPr lang="en-US" sz="800" dirty="0">
                <a:solidFill>
                  <a:srgbClr val="F2F0F4"/>
                </a:solidFill>
                <a:latin typeface="Montserrat" pitchFamily="34" charset="0"/>
                <a:ea typeface="Montserrat" pitchFamily="34" charset="-122"/>
                <a:cs typeface="Montserrat" pitchFamily="34" charset="-120"/>
              </a:rPr>
              <a:t>Alignment — Cross Axis</a:t>
            </a:r>
            <a:endParaRPr lang="en-US" sz="800" dirty="0"/>
          </a:p>
        </p:txBody>
      </p:sp>
      <p:sp>
        <p:nvSpPr>
          <p:cNvPr id="9" name="Text 7"/>
          <p:cNvSpPr/>
          <p:nvPr/>
        </p:nvSpPr>
        <p:spPr>
          <a:xfrm>
            <a:off x="6203001" y="1153220"/>
            <a:ext cx="5943154" cy="99120"/>
          </a:xfrm>
          <a:prstGeom prst="rect">
            <a:avLst/>
          </a:prstGeom>
          <a:noFill/>
          <a:ln/>
        </p:spPr>
        <p:txBody>
          <a:bodyPr wrap="none" lIns="0" tIns="0" rIns="0" bIns="0" rtlCol="0" anchor="t"/>
          <a:lstStyle/>
          <a:p>
            <a:pPr marL="0" indent="0" algn="l">
              <a:lnSpc>
                <a:spcPct val="100000"/>
              </a:lnSpc>
              <a:buNone/>
            </a:pPr>
            <a:r>
              <a:rPr lang="en-US" sz="650" dirty="0">
                <a:solidFill>
                  <a:srgbClr val="DCD7E5"/>
                </a:solidFill>
                <a:latin typeface="Heebo Light" pitchFamily="34" charset="0"/>
                <a:ea typeface="Heebo Light" pitchFamily="34" charset="-122"/>
                <a:cs typeface="Heebo Light" pitchFamily="34" charset="-120"/>
              </a:rPr>
              <a:t>Mengatur </a:t>
            </a:r>
            <a:r>
              <a:rPr lang="en-US" sz="650" b="1" dirty="0">
                <a:solidFill>
                  <a:srgbClr val="DCD7E5"/>
                </a:solidFill>
                <a:latin typeface="Heebo Bold" pitchFamily="34" charset="0"/>
                <a:ea typeface="Heebo Bold" pitchFamily="34" charset="-122"/>
                <a:cs typeface="Heebo Bold" pitchFamily="34" charset="-120"/>
              </a:rPr>
              <a:t>posisi elemen</a:t>
            </a:r>
            <a:r>
              <a:rPr lang="en-US" sz="650" dirty="0">
                <a:solidFill>
                  <a:srgbClr val="DCD7E5"/>
                </a:solidFill>
                <a:latin typeface="Heebo Light" pitchFamily="34" charset="0"/>
                <a:ea typeface="Heebo Light" pitchFamily="34" charset="-122"/>
                <a:cs typeface="Heebo Light" pitchFamily="34" charset="-120"/>
              </a:rPr>
              <a:t> pada sumbu silang (horizontal untuk Column, vertikal untuk Row).</a:t>
            </a:r>
            <a:endParaRPr lang="en-US" sz="650" dirty="0"/>
          </a:p>
        </p:txBody>
      </p:sp>
      <p:sp>
        <p:nvSpPr>
          <p:cNvPr id="10" name="Text 8"/>
          <p:cNvSpPr/>
          <p:nvPr/>
        </p:nvSpPr>
        <p:spPr>
          <a:xfrm>
            <a:off x="6203001" y="1289546"/>
            <a:ext cx="5333569" cy="439638"/>
          </a:xfrm>
          <a:prstGeom prst="rect">
            <a:avLst/>
          </a:prstGeom>
          <a:noFill/>
          <a:ln/>
        </p:spPr>
        <p:txBody>
          <a:bodyPr wrap="square" lIns="0" tIns="33078" rIns="0" bIns="0" rtlCol="0" anchor="t">
            <a:normAutofit/>
          </a:bodyPr>
          <a:lstStyle/>
          <a:p>
            <a:pPr marL="132080" indent="-132080" algn="l">
              <a:lnSpc>
                <a:spcPct val="100000"/>
              </a:lnSpc>
              <a:buSzPct val="100000"/>
              <a:buChar char="•"/>
            </a:pPr>
            <a:r>
              <a:rPr lang="en-US" sz="650" dirty="0">
                <a:solidFill>
                  <a:srgbClr val="DCD7E5"/>
                </a:solidFill>
                <a:highlight>
                  <a:srgbClr val="1A1739"/>
                </a:highlight>
                <a:latin typeface="Consolas" pitchFamily="34" charset="0"/>
                <a:ea typeface="Consolas" pitchFamily="34" charset="-122"/>
                <a:cs typeface="Consolas" pitchFamily="34" charset="-120"/>
              </a:rPr>
              <a:t>Alignment.CenterHorizontally</a:t>
            </a:r>
            <a:r>
              <a:rPr lang="en-US" sz="650" dirty="0">
                <a:solidFill>
                  <a:srgbClr val="DCD7E5"/>
                </a:solidFill>
                <a:latin typeface="Heebo Light" pitchFamily="34" charset="0"/>
                <a:ea typeface="Heebo Light" pitchFamily="34" charset="-122"/>
                <a:cs typeface="Heebo Light" pitchFamily="34" charset="-120"/>
              </a:rPr>
              <a:t> — untuk Column (cross axis = horizontal)</a:t>
            </a:r>
            <a:endParaRPr lang="en-US" sz="650" dirty="0"/>
          </a:p>
          <a:p>
            <a:pPr marL="132080" indent="-132080" algn="l">
              <a:lnSpc>
                <a:spcPct val="100000"/>
              </a:lnSpc>
              <a:buSzPct val="100000"/>
              <a:buChar char="•"/>
            </a:pPr>
            <a:r>
              <a:rPr lang="en-US" sz="650" dirty="0">
                <a:solidFill>
                  <a:srgbClr val="DCD7E5"/>
                </a:solidFill>
                <a:highlight>
                  <a:srgbClr val="1A1739"/>
                </a:highlight>
                <a:latin typeface="Consolas" pitchFamily="34" charset="0"/>
                <a:ea typeface="Consolas" pitchFamily="34" charset="-122"/>
                <a:cs typeface="Consolas" pitchFamily="34" charset="-120"/>
              </a:rPr>
              <a:t>Alignment.CenterVertically</a:t>
            </a:r>
            <a:r>
              <a:rPr lang="en-US" sz="650" dirty="0">
                <a:solidFill>
                  <a:srgbClr val="DCD7E5"/>
                </a:solidFill>
                <a:latin typeface="Heebo Light" pitchFamily="34" charset="0"/>
                <a:ea typeface="Heebo Light" pitchFamily="34" charset="-122"/>
                <a:cs typeface="Heebo Light" pitchFamily="34" charset="-120"/>
              </a:rPr>
              <a:t> — untuk Row (cross axis = vertikal)</a:t>
            </a:r>
            <a:endParaRPr lang="en-US" sz="650" dirty="0"/>
          </a:p>
          <a:p>
            <a:pPr marL="132080" indent="-132080" algn="l">
              <a:lnSpc>
                <a:spcPct val="100000"/>
              </a:lnSpc>
              <a:buSzPct val="100000"/>
              <a:buChar char="•"/>
            </a:pPr>
            <a:r>
              <a:rPr lang="en-US" sz="650" dirty="0">
                <a:solidFill>
                  <a:srgbClr val="DCD7E5"/>
                </a:solidFill>
                <a:highlight>
                  <a:srgbClr val="1A1739"/>
                </a:highlight>
                <a:latin typeface="Consolas" pitchFamily="34" charset="0"/>
                <a:ea typeface="Consolas" pitchFamily="34" charset="-122"/>
                <a:cs typeface="Consolas" pitchFamily="34" charset="-120"/>
              </a:rPr>
              <a:t>Alignment.Start</a:t>
            </a:r>
            <a:r>
              <a:rPr lang="en-US" sz="650" dirty="0">
                <a:solidFill>
                  <a:srgbClr val="DCD7E5"/>
                </a:solidFill>
                <a:latin typeface="Heebo Light" pitchFamily="34" charset="0"/>
                <a:ea typeface="Heebo Light" pitchFamily="34" charset="-122"/>
                <a:cs typeface="Heebo Light" pitchFamily="34" charset="-120"/>
              </a:rPr>
              <a:t> — rata kiri pada cross axis</a:t>
            </a:r>
            <a:endParaRPr lang="en-US" sz="650" dirty="0"/>
          </a:p>
          <a:p>
            <a:pPr marL="132080" indent="-132080" algn="l">
              <a:lnSpc>
                <a:spcPct val="100000"/>
              </a:lnSpc>
              <a:buSzPct val="100000"/>
              <a:buChar char="•"/>
            </a:pPr>
            <a:r>
              <a:rPr lang="en-US" sz="650" dirty="0">
                <a:solidFill>
                  <a:srgbClr val="DCD7E5"/>
                </a:solidFill>
                <a:highlight>
                  <a:srgbClr val="1A1739"/>
                </a:highlight>
                <a:latin typeface="Consolas" pitchFamily="34" charset="0"/>
                <a:ea typeface="Consolas" pitchFamily="34" charset="-122"/>
                <a:cs typeface="Consolas" pitchFamily="34" charset="-120"/>
              </a:rPr>
              <a:t>Alignment.End</a:t>
            </a:r>
            <a:r>
              <a:rPr lang="en-US" sz="650" dirty="0">
                <a:solidFill>
                  <a:srgbClr val="DCD7E5"/>
                </a:solidFill>
                <a:latin typeface="Heebo Light" pitchFamily="34" charset="0"/>
                <a:ea typeface="Heebo Light" pitchFamily="34" charset="-122"/>
                <a:cs typeface="Heebo Light" pitchFamily="34" charset="-120"/>
              </a:rPr>
              <a:t> — rata kanan pada cross axis</a:t>
            </a:r>
            <a:endParaRPr lang="en-US" sz="650" dirty="0"/>
          </a:p>
        </p:txBody>
      </p:sp>
      <p:pic>
        <p:nvPicPr>
          <p:cNvPr id="11" name="Image 0" descr="preencoded.png"/>
          <p:cNvPicPr>
            <a:picLocks noChangeAspect="1"/>
          </p:cNvPicPr>
          <p:nvPr/>
        </p:nvPicPr>
        <p:blipFill>
          <a:blip r:embed="rId3"/>
          <a:stretch>
            <a:fillRect/>
          </a:stretch>
        </p:blipFill>
        <p:spPr>
          <a:xfrm>
            <a:off x="661475" y="1903512"/>
            <a:ext cx="9753356" cy="54864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661475" y="558105"/>
            <a:ext cx="846811" cy="251420"/>
          </a:xfrm>
          <a:prstGeom prst="roundRect">
            <a:avLst>
              <a:gd name="adj" fmla="val 22103"/>
            </a:avLst>
          </a:prstGeom>
          <a:noFill/>
          <a:ln w="6350">
            <a:solidFill>
              <a:srgbClr val="481C9E"/>
            </a:solidFill>
            <a:prstDash val="solid"/>
          </a:ln>
        </p:spPr>
        <p:txBody>
          <a:bodyPr/>
          <a:lstStyle/>
          <a:p>
            <a:endParaRPr lang="en-US"/>
          </a:p>
        </p:txBody>
      </p:sp>
      <p:sp>
        <p:nvSpPr>
          <p:cNvPr id="3" name="Text 1"/>
          <p:cNvSpPr/>
          <p:nvPr/>
        </p:nvSpPr>
        <p:spPr>
          <a:xfrm>
            <a:off x="760691" y="607715"/>
            <a:ext cx="1257963" cy="152202"/>
          </a:xfrm>
          <a:prstGeom prst="rect">
            <a:avLst/>
          </a:prstGeom>
          <a:noFill/>
          <a:ln/>
        </p:spPr>
        <p:txBody>
          <a:bodyPr wrap="none" lIns="0" tIns="0" rIns="0" bIns="0" rtlCol="0" anchor="t"/>
          <a:lstStyle/>
          <a:p>
            <a:pPr marL="0" indent="0" algn="l">
              <a:lnSpc>
                <a:spcPct val="96000"/>
              </a:lnSpc>
              <a:buNone/>
            </a:pPr>
            <a:r>
              <a:rPr lang="en-US" sz="1000" dirty="0">
                <a:solidFill>
                  <a:srgbClr val="481C9E"/>
                </a:solidFill>
                <a:latin typeface="Heebo Light" pitchFamily="34" charset="0"/>
                <a:ea typeface="Heebo Light" pitchFamily="34" charset="-122"/>
                <a:cs typeface="Heebo Light" pitchFamily="34" charset="-120"/>
              </a:rPr>
              <a:t>BAGIAN 03</a:t>
            </a:r>
            <a:endParaRPr lang="en-US" sz="1000" dirty="0"/>
          </a:p>
        </p:txBody>
      </p:sp>
      <p:sp>
        <p:nvSpPr>
          <p:cNvPr id="4" name="Text 2"/>
          <p:cNvSpPr/>
          <p:nvPr/>
        </p:nvSpPr>
        <p:spPr>
          <a:xfrm>
            <a:off x="661475" y="875605"/>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F2F0F4"/>
                </a:solidFill>
                <a:latin typeface="Montserrat" pitchFamily="34" charset="0"/>
                <a:ea typeface="Montserrat" pitchFamily="34" charset="-122"/>
                <a:cs typeface="Montserrat" pitchFamily="34" charset="-120"/>
              </a:rPr>
              <a:t>Menguasai Modifiers</a:t>
            </a:r>
            <a:endParaRPr lang="en-US" sz="3250" dirty="0"/>
          </a:p>
        </p:txBody>
      </p:sp>
      <p:sp>
        <p:nvSpPr>
          <p:cNvPr id="5" name="Text 3"/>
          <p:cNvSpPr/>
          <p:nvPr/>
        </p:nvSpPr>
        <p:spPr>
          <a:xfrm>
            <a:off x="661475" y="1640384"/>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Modifier adalah mekanisme utama Jetpack Compose untuk mengubah </a:t>
            </a:r>
            <a:r>
              <a:rPr lang="en-US" sz="1300" b="1" dirty="0">
                <a:solidFill>
                  <a:srgbClr val="DCD7E5"/>
                </a:solidFill>
                <a:latin typeface="Heebo Bold" pitchFamily="34" charset="0"/>
                <a:ea typeface="Heebo Bold" pitchFamily="34" charset="-122"/>
                <a:cs typeface="Heebo Bold" pitchFamily="34" charset="-120"/>
              </a:rPr>
              <a:t>penampilan, tata letak, dan interaktivitas</a:t>
            </a:r>
            <a:r>
              <a:rPr lang="en-US" sz="1300" dirty="0">
                <a:solidFill>
                  <a:srgbClr val="DCD7E5"/>
                </a:solidFill>
                <a:latin typeface="Heebo Light" pitchFamily="34" charset="0"/>
                <a:ea typeface="Heebo Light" pitchFamily="34" charset="-122"/>
                <a:cs typeface="Heebo Light" pitchFamily="34" charset="-120"/>
              </a:rPr>
              <a:t> komponen UI secara berantai dan komposabel.</a:t>
            </a:r>
            <a:endParaRPr lang="en-US" sz="13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355652"/>
            <a:ext cx="413434" cy="413445"/>
          </a:xfrm>
          <a:prstGeom prst="rect">
            <a:avLst/>
          </a:prstGeom>
        </p:spPr>
      </p:pic>
      <p:sp>
        <p:nvSpPr>
          <p:cNvPr id="7" name="Text 4"/>
          <p:cNvSpPr/>
          <p:nvPr/>
        </p:nvSpPr>
        <p:spPr>
          <a:xfrm>
            <a:off x="1281577" y="2355652"/>
            <a:ext cx="4710888" cy="258465"/>
          </a:xfrm>
          <a:prstGeom prst="rect">
            <a:avLst/>
          </a:prstGeom>
          <a:noFill/>
          <a:ln/>
        </p:spPr>
        <p:txBody>
          <a:bodyPr wrap="none" lIns="0" tIns="0" rIns="0" bIns="0" rtlCol="0" anchor="t"/>
          <a:lstStyle/>
          <a:p>
            <a:pPr marL="0" indent="0" algn="l">
              <a:lnSpc>
                <a:spcPct val="104000"/>
              </a:lnSpc>
              <a:buNone/>
            </a:pPr>
            <a:r>
              <a:rPr lang="en-US" sz="1600" dirty="0">
                <a:solidFill>
                  <a:srgbClr val="DCD7E5"/>
                </a:solidFill>
                <a:latin typeface="Montserrat" pitchFamily="34" charset="0"/>
                <a:ea typeface="Montserrat" pitchFamily="34" charset="-122"/>
                <a:cs typeface="Montserrat" pitchFamily="34" charset="-120"/>
              </a:rPr>
              <a:t>Dekorasi Visual</a:t>
            </a:r>
            <a:endParaRPr lang="en-US" sz="1600" dirty="0"/>
          </a:p>
        </p:txBody>
      </p:sp>
      <p:sp>
        <p:nvSpPr>
          <p:cNvPr id="8" name="Text 5"/>
          <p:cNvSpPr/>
          <p:nvPr/>
        </p:nvSpPr>
        <p:spPr>
          <a:xfrm>
            <a:off x="1281577" y="2713335"/>
            <a:ext cx="471088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Mengubah warna latar, bentuk, border, dan efek visual lainnya pada komponen.</a:t>
            </a:r>
            <a:endParaRPr lang="en-US" sz="13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99132" y="2355652"/>
            <a:ext cx="413434" cy="413445"/>
          </a:xfrm>
          <a:prstGeom prst="rect">
            <a:avLst/>
          </a:prstGeom>
        </p:spPr>
      </p:pic>
      <p:sp>
        <p:nvSpPr>
          <p:cNvPr id="10" name="Text 6"/>
          <p:cNvSpPr/>
          <p:nvPr/>
        </p:nvSpPr>
        <p:spPr>
          <a:xfrm>
            <a:off x="6819233" y="2355652"/>
            <a:ext cx="4710987" cy="258465"/>
          </a:xfrm>
          <a:prstGeom prst="rect">
            <a:avLst/>
          </a:prstGeom>
          <a:noFill/>
          <a:ln/>
        </p:spPr>
        <p:txBody>
          <a:bodyPr wrap="none" lIns="0" tIns="0" rIns="0" bIns="0" rtlCol="0" anchor="t"/>
          <a:lstStyle/>
          <a:p>
            <a:pPr marL="0" indent="0" algn="l">
              <a:lnSpc>
                <a:spcPct val="104000"/>
              </a:lnSpc>
              <a:buNone/>
            </a:pPr>
            <a:r>
              <a:rPr lang="en-US" sz="1600" dirty="0">
                <a:solidFill>
                  <a:srgbClr val="DCD7E5"/>
                </a:solidFill>
                <a:latin typeface="Montserrat" pitchFamily="34" charset="0"/>
                <a:ea typeface="Montserrat" pitchFamily="34" charset="-122"/>
                <a:cs typeface="Montserrat" pitchFamily="34" charset="-120"/>
              </a:rPr>
              <a:t>Tata Letak &amp; Ukuran</a:t>
            </a:r>
            <a:endParaRPr lang="en-US" sz="1600" dirty="0"/>
          </a:p>
        </p:txBody>
      </p:sp>
      <p:sp>
        <p:nvSpPr>
          <p:cNvPr id="11" name="Text 7"/>
          <p:cNvSpPr/>
          <p:nvPr/>
        </p:nvSpPr>
        <p:spPr>
          <a:xfrm>
            <a:off x="6819233" y="2713335"/>
            <a:ext cx="471098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Mengatur padding, margin, ukuran, dan cara komponen mengisi ruang yang tersedia.</a:t>
            </a:r>
            <a:endParaRPr lang="en-US" sz="13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3573264"/>
            <a:ext cx="413434" cy="413445"/>
          </a:xfrm>
          <a:prstGeom prst="rect">
            <a:avLst/>
          </a:prstGeom>
        </p:spPr>
      </p:pic>
      <p:sp>
        <p:nvSpPr>
          <p:cNvPr id="13" name="Text 8"/>
          <p:cNvSpPr/>
          <p:nvPr/>
        </p:nvSpPr>
        <p:spPr>
          <a:xfrm>
            <a:off x="1281577" y="3573264"/>
            <a:ext cx="4710888" cy="258465"/>
          </a:xfrm>
          <a:prstGeom prst="rect">
            <a:avLst/>
          </a:prstGeom>
          <a:noFill/>
          <a:ln/>
        </p:spPr>
        <p:txBody>
          <a:bodyPr wrap="none" lIns="0" tIns="0" rIns="0" bIns="0" rtlCol="0" anchor="t"/>
          <a:lstStyle/>
          <a:p>
            <a:pPr marL="0" indent="0" algn="l">
              <a:lnSpc>
                <a:spcPct val="104000"/>
              </a:lnSpc>
              <a:buNone/>
            </a:pPr>
            <a:r>
              <a:rPr lang="en-US" sz="1600" dirty="0">
                <a:solidFill>
                  <a:srgbClr val="DCD7E5"/>
                </a:solidFill>
                <a:latin typeface="Montserrat" pitchFamily="34" charset="0"/>
                <a:ea typeface="Montserrat" pitchFamily="34" charset="-122"/>
                <a:cs typeface="Montserrat" pitchFamily="34" charset="-120"/>
              </a:rPr>
              <a:t>Interaktivitas</a:t>
            </a:r>
            <a:endParaRPr lang="en-US" sz="1600" dirty="0"/>
          </a:p>
        </p:txBody>
      </p:sp>
      <p:sp>
        <p:nvSpPr>
          <p:cNvPr id="14" name="Text 9"/>
          <p:cNvSpPr/>
          <p:nvPr/>
        </p:nvSpPr>
        <p:spPr>
          <a:xfrm>
            <a:off x="1281577" y="3930948"/>
            <a:ext cx="471088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Menambahkan respons terhadap gestur pengguna seperti klik, scroll, dan drag.</a:t>
            </a:r>
            <a:endParaRPr lang="en-US" sz="130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99132" y="3573264"/>
            <a:ext cx="413434" cy="413445"/>
          </a:xfrm>
          <a:prstGeom prst="rect">
            <a:avLst/>
          </a:prstGeom>
        </p:spPr>
      </p:pic>
      <p:sp>
        <p:nvSpPr>
          <p:cNvPr id="16" name="Text 10"/>
          <p:cNvSpPr/>
          <p:nvPr/>
        </p:nvSpPr>
        <p:spPr>
          <a:xfrm>
            <a:off x="6819233" y="3573264"/>
            <a:ext cx="4710987" cy="258465"/>
          </a:xfrm>
          <a:prstGeom prst="rect">
            <a:avLst/>
          </a:prstGeom>
          <a:noFill/>
          <a:ln/>
        </p:spPr>
        <p:txBody>
          <a:bodyPr wrap="none" lIns="0" tIns="0" rIns="0" bIns="0" rtlCol="0" anchor="t"/>
          <a:lstStyle/>
          <a:p>
            <a:pPr marL="0" indent="0" algn="l">
              <a:lnSpc>
                <a:spcPct val="104000"/>
              </a:lnSpc>
              <a:buNone/>
            </a:pPr>
            <a:r>
              <a:rPr lang="en-US" sz="1600" dirty="0">
                <a:solidFill>
                  <a:srgbClr val="DCD7E5"/>
                </a:solidFill>
                <a:latin typeface="Montserrat" pitchFamily="34" charset="0"/>
                <a:ea typeface="Montserrat" pitchFamily="34" charset="-122"/>
                <a:cs typeface="Montserrat" pitchFamily="34" charset="-120"/>
              </a:rPr>
              <a:t>Chaining (Berantai)</a:t>
            </a:r>
            <a:endParaRPr lang="en-US" sz="1600" dirty="0"/>
          </a:p>
        </p:txBody>
      </p:sp>
      <p:sp>
        <p:nvSpPr>
          <p:cNvPr id="17" name="Text 11"/>
          <p:cNvSpPr/>
          <p:nvPr/>
        </p:nvSpPr>
        <p:spPr>
          <a:xfrm>
            <a:off x="6819233" y="3930948"/>
            <a:ext cx="471098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CD7E5"/>
                </a:solidFill>
                <a:latin typeface="Heebo Light" pitchFamily="34" charset="0"/>
                <a:ea typeface="Heebo Light" pitchFamily="34" charset="-122"/>
                <a:cs typeface="Heebo Light" pitchFamily="34" charset="-120"/>
              </a:rPr>
              <a:t>Modifier dapat dirantai secara berurutan — setiap modifier diterapkan di atas hasil modifier sebelumnya.</a:t>
            </a:r>
            <a:endParaRPr lang="en-US" sz="1300" dirty="0"/>
          </a:p>
        </p:txBody>
      </p:sp>
      <p:sp>
        <p:nvSpPr>
          <p:cNvPr id="18" name="Shape 12"/>
          <p:cNvSpPr/>
          <p:nvPr/>
        </p:nvSpPr>
        <p:spPr>
          <a:xfrm>
            <a:off x="661475" y="4646216"/>
            <a:ext cx="10868745" cy="1653679"/>
          </a:xfrm>
          <a:prstGeom prst="roundRect">
            <a:avLst>
              <a:gd name="adj" fmla="val 4201"/>
            </a:avLst>
          </a:prstGeom>
          <a:solidFill>
            <a:srgbClr val="1A1739"/>
          </a:solidFill>
          <a:ln/>
        </p:spPr>
        <p:txBody>
          <a:bodyPr/>
          <a:lstStyle/>
          <a:p>
            <a:endParaRPr lang="en-US"/>
          </a:p>
        </p:txBody>
      </p:sp>
      <p:sp>
        <p:nvSpPr>
          <p:cNvPr id="19" name="Text 13"/>
          <p:cNvSpPr/>
          <p:nvPr/>
        </p:nvSpPr>
        <p:spPr>
          <a:xfrm>
            <a:off x="859907" y="4811514"/>
            <a:ext cx="10471880"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E6EDF3"/>
                </a:solidFill>
                <a:latin typeface="Consolas" pitchFamily="34" charset="0"/>
                <a:ea typeface="Consolas" pitchFamily="34" charset="-122"/>
                <a:cs typeface="Consolas" pitchFamily="34" charset="-120"/>
              </a:rPr>
              <a:t>Modifier</a:t>
            </a:r>
            <a:endParaRPr lang="en-US" sz="1300" dirty="0"/>
          </a:p>
          <a:p>
            <a:pPr marL="0" indent="0" algn="l">
              <a:lnSpc>
                <a:spcPct val="133000"/>
              </a:lnSpc>
              <a:buNone/>
            </a:pPr>
            <a:r>
              <a:rPr lang="en-US" sz="1300" dirty="0">
                <a:solidFill>
                  <a:srgbClr val="E6EDF3"/>
                </a:solidFill>
                <a:latin typeface="Consolas" pitchFamily="34" charset="0"/>
                <a:ea typeface="Consolas" pitchFamily="34" charset="-122"/>
                <a:cs typeface="Consolas" pitchFamily="34" charset="-120"/>
              </a:rPr>
              <a:t> .padding(16.dp)</a:t>
            </a:r>
            <a:endParaRPr lang="en-US" sz="1300" dirty="0"/>
          </a:p>
          <a:p>
            <a:pPr marL="0" indent="0" algn="l">
              <a:lnSpc>
                <a:spcPct val="133000"/>
              </a:lnSpc>
              <a:buNone/>
            </a:pPr>
            <a:r>
              <a:rPr lang="en-US" sz="1300" dirty="0">
                <a:solidFill>
                  <a:srgbClr val="E6EDF3"/>
                </a:solidFill>
                <a:latin typeface="Consolas" pitchFamily="34" charset="0"/>
                <a:ea typeface="Consolas" pitchFamily="34" charset="-122"/>
                <a:cs typeface="Consolas" pitchFamily="34" charset="-120"/>
              </a:rPr>
              <a:t> .size(100.dp)</a:t>
            </a:r>
            <a:endParaRPr lang="en-US" sz="1300" dirty="0"/>
          </a:p>
          <a:p>
            <a:pPr marL="0" indent="0" algn="l">
              <a:lnSpc>
                <a:spcPct val="133000"/>
              </a:lnSpc>
              <a:buNone/>
            </a:pPr>
            <a:r>
              <a:rPr lang="en-US" sz="1300" dirty="0">
                <a:solidFill>
                  <a:srgbClr val="E6EDF3"/>
                </a:solidFill>
                <a:latin typeface="Consolas" pitchFamily="34" charset="0"/>
                <a:ea typeface="Consolas" pitchFamily="34" charset="-122"/>
                <a:cs typeface="Consolas" pitchFamily="34" charset="-120"/>
              </a:rPr>
              <a:t> .background(Color.Blue)</a:t>
            </a:r>
            <a:endParaRPr lang="en-US" sz="1300" dirty="0"/>
          </a:p>
          <a:p>
            <a:pPr marL="0" indent="0" algn="l">
              <a:lnSpc>
                <a:spcPct val="133000"/>
              </a:lnSpc>
              <a:buNone/>
            </a:pPr>
            <a:r>
              <a:rPr lang="en-US" sz="1300" dirty="0">
                <a:solidFill>
                  <a:srgbClr val="E6EDF3"/>
                </a:solidFill>
                <a:latin typeface="Consolas" pitchFamily="34" charset="0"/>
                <a:ea typeface="Consolas" pitchFamily="34" charset="-122"/>
                <a:cs typeface="Consolas" pitchFamily="34" charset="-120"/>
              </a:rPr>
              <a:t> .clickable { /* aksi */ }</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61475" y="542925"/>
            <a:ext cx="10868745" cy="460375"/>
          </a:xfrm>
          <a:prstGeom prst="rect">
            <a:avLst/>
          </a:prstGeom>
          <a:noFill/>
          <a:ln/>
        </p:spPr>
        <p:txBody>
          <a:bodyPr wrap="none" lIns="0" tIns="0" rIns="0" bIns="0" rtlCol="0" anchor="t"/>
          <a:lstStyle/>
          <a:p>
            <a:pPr marL="0" indent="0" algn="l">
              <a:lnSpc>
                <a:spcPct val="104000"/>
              </a:lnSpc>
              <a:buNone/>
            </a:pPr>
            <a:r>
              <a:rPr lang="en-US" sz="2850" dirty="0">
                <a:solidFill>
                  <a:srgbClr val="F2F0F4"/>
                </a:solidFill>
                <a:latin typeface="Montserrat" pitchFamily="34" charset="0"/>
                <a:ea typeface="Montserrat" pitchFamily="34" charset="-122"/>
                <a:cs typeface="Montserrat" pitchFamily="34" charset="-120"/>
              </a:rPr>
              <a:t>Peran &amp; Urutan Modifier</a:t>
            </a:r>
            <a:endParaRPr lang="en-US" sz="2850" dirty="0"/>
          </a:p>
        </p:txBody>
      </p:sp>
      <p:sp>
        <p:nvSpPr>
          <p:cNvPr id="3" name="Text 1"/>
          <p:cNvSpPr/>
          <p:nvPr/>
        </p:nvSpPr>
        <p:spPr>
          <a:xfrm>
            <a:off x="661475" y="1265634"/>
            <a:ext cx="10868745" cy="445691"/>
          </a:xfrm>
          <a:prstGeom prst="rect">
            <a:avLst/>
          </a:prstGeom>
          <a:noFill/>
          <a:ln/>
        </p:spPr>
        <p:txBody>
          <a:bodyPr wrap="square" lIns="0" tIns="0" rIns="0" bIns="0" rtlCol="0" anchor="t">
            <a:normAutofit/>
          </a:bodyPr>
          <a:lstStyle/>
          <a:p>
            <a:pPr marL="0" indent="0" algn="l">
              <a:lnSpc>
                <a:spcPct val="126000"/>
              </a:lnSpc>
              <a:buNone/>
            </a:pPr>
            <a:r>
              <a:rPr lang="en-US" sz="1150" dirty="0">
                <a:solidFill>
                  <a:srgbClr val="DCD7E5"/>
                </a:solidFill>
                <a:latin typeface="Heebo Light" pitchFamily="34" charset="0"/>
                <a:ea typeface="Heebo Light" pitchFamily="34" charset="-122"/>
                <a:cs typeface="Heebo Light" pitchFamily="34" charset="-120"/>
              </a:rPr>
              <a:t>Urutan penulisan modifier bersifat </a:t>
            </a:r>
            <a:r>
              <a:rPr lang="en-US" sz="1150" b="1" dirty="0">
                <a:solidFill>
                  <a:srgbClr val="DCD7E5"/>
                </a:solidFill>
                <a:latin typeface="Heebo Bold" pitchFamily="34" charset="0"/>
                <a:ea typeface="Heebo Bold" pitchFamily="34" charset="-122"/>
                <a:cs typeface="Heebo Bold" pitchFamily="34" charset="-120"/>
              </a:rPr>
              <a:t>kritis</a:t>
            </a:r>
            <a:r>
              <a:rPr lang="en-US" sz="1150" dirty="0">
                <a:solidFill>
                  <a:srgbClr val="DCD7E5"/>
                </a:solidFill>
                <a:latin typeface="Heebo Light" pitchFamily="34" charset="0"/>
                <a:ea typeface="Heebo Light" pitchFamily="34" charset="-122"/>
                <a:cs typeface="Heebo Light" pitchFamily="34" charset="-120"/>
              </a:rPr>
              <a:t> — menentukan hasil visual secara langsung. Ini adalah salah satu konsep yang paling sering menyebabkan bug visual pada pemula Compose.</a:t>
            </a:r>
            <a:endParaRPr lang="en-US" sz="1150" dirty="0"/>
          </a:p>
        </p:txBody>
      </p:sp>
      <p:sp>
        <p:nvSpPr>
          <p:cNvPr id="4" name="Shape 2"/>
          <p:cNvSpPr/>
          <p:nvPr/>
        </p:nvSpPr>
        <p:spPr>
          <a:xfrm>
            <a:off x="661475" y="2006402"/>
            <a:ext cx="636472" cy="223838"/>
          </a:xfrm>
          <a:prstGeom prst="roundRect">
            <a:avLst>
              <a:gd name="adj" fmla="val 22111"/>
            </a:avLst>
          </a:prstGeom>
          <a:noFill/>
          <a:ln w="6350">
            <a:solidFill>
              <a:srgbClr val="481C9E"/>
            </a:solidFill>
            <a:prstDash val="solid"/>
          </a:ln>
        </p:spPr>
        <p:txBody>
          <a:bodyPr/>
          <a:lstStyle/>
          <a:p>
            <a:endParaRPr lang="en-US"/>
          </a:p>
        </p:txBody>
      </p:sp>
      <p:sp>
        <p:nvSpPr>
          <p:cNvPr id="5" name="Text 3"/>
          <p:cNvSpPr/>
          <p:nvPr/>
        </p:nvSpPr>
        <p:spPr>
          <a:xfrm>
            <a:off x="749777" y="2050554"/>
            <a:ext cx="1069452" cy="135533"/>
          </a:xfrm>
          <a:prstGeom prst="rect">
            <a:avLst/>
          </a:prstGeom>
          <a:noFill/>
          <a:ln/>
        </p:spPr>
        <p:txBody>
          <a:bodyPr wrap="none" lIns="0" tIns="0" rIns="0" bIns="0" rtlCol="0" anchor="t"/>
          <a:lstStyle/>
          <a:p>
            <a:pPr marL="0" indent="0" algn="l">
              <a:lnSpc>
                <a:spcPct val="96000"/>
              </a:lnSpc>
              <a:buNone/>
            </a:pPr>
            <a:r>
              <a:rPr lang="en-US" sz="900" dirty="0">
                <a:solidFill>
                  <a:srgbClr val="481C9E"/>
                </a:solidFill>
                <a:latin typeface="Heebo Light" pitchFamily="34" charset="0"/>
                <a:ea typeface="Heebo Light" pitchFamily="34" charset="-122"/>
                <a:cs typeface="Heebo Light" pitchFamily="34" charset="-120"/>
              </a:rPr>
              <a:t>KASUS 1</a:t>
            </a:r>
            <a:endParaRPr lang="en-US" sz="900" dirty="0"/>
          </a:p>
        </p:txBody>
      </p:sp>
      <p:sp>
        <p:nvSpPr>
          <p:cNvPr id="6" name="Text 4"/>
          <p:cNvSpPr/>
          <p:nvPr/>
        </p:nvSpPr>
        <p:spPr>
          <a:xfrm>
            <a:off x="661475" y="2282627"/>
            <a:ext cx="5254692" cy="230187"/>
          </a:xfrm>
          <a:prstGeom prst="rect">
            <a:avLst/>
          </a:prstGeom>
          <a:noFill/>
          <a:ln/>
        </p:spPr>
        <p:txBody>
          <a:bodyPr wrap="none" lIns="0" tIns="0" rIns="0" bIns="0" rtlCol="0" anchor="t"/>
          <a:lstStyle/>
          <a:p>
            <a:pPr marL="0" indent="0" algn="l">
              <a:lnSpc>
                <a:spcPct val="104000"/>
              </a:lnSpc>
              <a:buNone/>
            </a:pPr>
            <a:r>
              <a:rPr lang="en-US" sz="1400" dirty="0">
                <a:solidFill>
                  <a:srgbClr val="F2F0F4"/>
                </a:solidFill>
                <a:latin typeface="Montserrat" pitchFamily="34" charset="0"/>
                <a:ea typeface="Montserrat" pitchFamily="34" charset="-122"/>
                <a:cs typeface="Montserrat" pitchFamily="34" charset="-120"/>
              </a:rPr>
              <a:t>padding → background</a:t>
            </a:r>
            <a:endParaRPr lang="en-US" sz="1400" dirty="0"/>
          </a:p>
        </p:txBody>
      </p:sp>
      <p:sp>
        <p:nvSpPr>
          <p:cNvPr id="7" name="Shape 5"/>
          <p:cNvSpPr/>
          <p:nvPr/>
        </p:nvSpPr>
        <p:spPr>
          <a:xfrm>
            <a:off x="661475" y="2660352"/>
            <a:ext cx="5254692" cy="1473200"/>
          </a:xfrm>
          <a:prstGeom prst="roundRect">
            <a:avLst>
              <a:gd name="adj" fmla="val 4199"/>
            </a:avLst>
          </a:prstGeom>
          <a:solidFill>
            <a:srgbClr val="1A1739"/>
          </a:solidFill>
          <a:ln/>
        </p:spPr>
        <p:txBody>
          <a:bodyPr/>
          <a:lstStyle/>
          <a:p>
            <a:endParaRPr lang="en-US"/>
          </a:p>
        </p:txBody>
      </p:sp>
      <p:sp>
        <p:nvSpPr>
          <p:cNvPr id="8" name="Text 6"/>
          <p:cNvSpPr/>
          <p:nvPr/>
        </p:nvSpPr>
        <p:spPr>
          <a:xfrm>
            <a:off x="838179" y="2807593"/>
            <a:ext cx="4901284" cy="1178719"/>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padding SEBELUM background</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 padding di LUAR area warna</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Modifier</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.padding(16.dp)</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.background(Color.Red)</a:t>
            </a:r>
            <a:endParaRPr lang="en-US" sz="1150" dirty="0"/>
          </a:p>
        </p:txBody>
      </p:sp>
      <p:sp>
        <p:nvSpPr>
          <p:cNvPr id="9" name="Text 7"/>
          <p:cNvSpPr/>
          <p:nvPr/>
        </p:nvSpPr>
        <p:spPr>
          <a:xfrm>
            <a:off x="661475" y="4281091"/>
            <a:ext cx="5254692" cy="668536"/>
          </a:xfrm>
          <a:prstGeom prst="rect">
            <a:avLst/>
          </a:prstGeom>
          <a:noFill/>
          <a:ln/>
        </p:spPr>
        <p:txBody>
          <a:bodyPr wrap="square" lIns="0" tIns="0" rIns="0" bIns="0" rtlCol="0" anchor="t">
            <a:normAutofit/>
          </a:bodyPr>
          <a:lstStyle/>
          <a:p>
            <a:pPr marL="0" indent="0" algn="l">
              <a:lnSpc>
                <a:spcPct val="126000"/>
              </a:lnSpc>
              <a:buNone/>
            </a:pPr>
            <a:r>
              <a:rPr lang="en-US" sz="1150" dirty="0">
                <a:solidFill>
                  <a:srgbClr val="DCD7E5"/>
                </a:solidFill>
                <a:latin typeface="Heebo Light" pitchFamily="34" charset="0"/>
                <a:ea typeface="Heebo Light" pitchFamily="34" charset="-122"/>
                <a:cs typeface="Heebo Light" pitchFamily="34" charset="-120"/>
              </a:rPr>
              <a:t>Padding diterapkan terlebih dahulu, memperkecil area yang tersedia. Background merah hanya mengisi area setelah padding — sehingga terdapat ruang transparan di luar kotak merah.</a:t>
            </a:r>
            <a:endParaRPr lang="en-US" sz="1150" dirty="0"/>
          </a:p>
        </p:txBody>
      </p:sp>
      <p:sp>
        <p:nvSpPr>
          <p:cNvPr id="10" name="Shape 8"/>
          <p:cNvSpPr/>
          <p:nvPr/>
        </p:nvSpPr>
        <p:spPr>
          <a:xfrm>
            <a:off x="6175816" y="1858863"/>
            <a:ext cx="5466816" cy="3208834"/>
          </a:xfrm>
          <a:prstGeom prst="roundRect">
            <a:avLst>
              <a:gd name="adj" fmla="val 3305"/>
            </a:avLst>
          </a:prstGeom>
          <a:solidFill>
            <a:srgbClr val="481C9E">
              <a:alpha val="95000"/>
            </a:srgbClr>
          </a:solidFill>
          <a:ln/>
        </p:spPr>
        <p:txBody>
          <a:bodyPr/>
          <a:lstStyle/>
          <a:p>
            <a:endParaRPr lang="en-US"/>
          </a:p>
        </p:txBody>
      </p:sp>
      <p:sp>
        <p:nvSpPr>
          <p:cNvPr id="11" name="Shape 9"/>
          <p:cNvSpPr/>
          <p:nvPr/>
        </p:nvSpPr>
        <p:spPr>
          <a:xfrm>
            <a:off x="6323053" y="2006402"/>
            <a:ext cx="636472" cy="223838"/>
          </a:xfrm>
          <a:prstGeom prst="roundRect">
            <a:avLst>
              <a:gd name="adj" fmla="val 22111"/>
            </a:avLst>
          </a:prstGeom>
          <a:solidFill>
            <a:srgbClr val="1E0C41"/>
          </a:solidFill>
          <a:ln/>
        </p:spPr>
        <p:txBody>
          <a:bodyPr/>
          <a:lstStyle/>
          <a:p>
            <a:endParaRPr lang="en-US"/>
          </a:p>
        </p:txBody>
      </p:sp>
      <p:sp>
        <p:nvSpPr>
          <p:cNvPr id="12" name="Text 10"/>
          <p:cNvSpPr/>
          <p:nvPr/>
        </p:nvSpPr>
        <p:spPr>
          <a:xfrm>
            <a:off x="6411355" y="2050554"/>
            <a:ext cx="1069452" cy="135533"/>
          </a:xfrm>
          <a:prstGeom prst="rect">
            <a:avLst/>
          </a:prstGeom>
          <a:noFill/>
          <a:ln/>
        </p:spPr>
        <p:txBody>
          <a:bodyPr wrap="none" lIns="0" tIns="0" rIns="0" bIns="0" rtlCol="0" anchor="t"/>
          <a:lstStyle/>
          <a:p>
            <a:pPr marL="0" indent="0" algn="l">
              <a:lnSpc>
                <a:spcPct val="96000"/>
              </a:lnSpc>
              <a:buNone/>
            </a:pPr>
            <a:r>
              <a:rPr lang="en-US" sz="900" dirty="0">
                <a:solidFill>
                  <a:srgbClr val="DCD7E5"/>
                </a:solidFill>
                <a:latin typeface="Heebo Light" pitchFamily="34" charset="0"/>
                <a:ea typeface="Heebo Light" pitchFamily="34" charset="-122"/>
                <a:cs typeface="Heebo Light" pitchFamily="34" charset="-120"/>
              </a:rPr>
              <a:t>KASUS 2</a:t>
            </a:r>
            <a:endParaRPr lang="en-US" sz="900" dirty="0"/>
          </a:p>
        </p:txBody>
      </p:sp>
      <p:sp>
        <p:nvSpPr>
          <p:cNvPr id="13" name="Text 11"/>
          <p:cNvSpPr/>
          <p:nvPr/>
        </p:nvSpPr>
        <p:spPr>
          <a:xfrm>
            <a:off x="6323053" y="2282627"/>
            <a:ext cx="5172342" cy="230187"/>
          </a:xfrm>
          <a:prstGeom prst="rect">
            <a:avLst/>
          </a:prstGeom>
          <a:noFill/>
          <a:ln/>
        </p:spPr>
        <p:txBody>
          <a:bodyPr wrap="none" lIns="0" tIns="0" rIns="0" bIns="0" rtlCol="0" anchor="t"/>
          <a:lstStyle/>
          <a:p>
            <a:pPr marL="0" indent="0" algn="l">
              <a:lnSpc>
                <a:spcPct val="104000"/>
              </a:lnSpc>
              <a:buNone/>
            </a:pPr>
            <a:r>
              <a:rPr lang="en-US" sz="1400" dirty="0">
                <a:solidFill>
                  <a:srgbClr val="F2F0F4"/>
                </a:solidFill>
                <a:latin typeface="Montserrat" pitchFamily="34" charset="0"/>
                <a:ea typeface="Montserrat" pitchFamily="34" charset="-122"/>
                <a:cs typeface="Montserrat" pitchFamily="34" charset="-120"/>
              </a:rPr>
              <a:t>background → padding</a:t>
            </a:r>
            <a:endParaRPr lang="en-US" sz="1400" dirty="0"/>
          </a:p>
        </p:txBody>
      </p:sp>
      <p:sp>
        <p:nvSpPr>
          <p:cNvPr id="14" name="Shape 12"/>
          <p:cNvSpPr/>
          <p:nvPr/>
        </p:nvSpPr>
        <p:spPr>
          <a:xfrm>
            <a:off x="6323053" y="2660352"/>
            <a:ext cx="5172342" cy="1473200"/>
          </a:xfrm>
          <a:prstGeom prst="roundRect">
            <a:avLst>
              <a:gd name="adj" fmla="val 4199"/>
            </a:avLst>
          </a:prstGeom>
          <a:solidFill>
            <a:srgbClr val="5529AB"/>
          </a:solidFill>
          <a:ln/>
        </p:spPr>
        <p:txBody>
          <a:bodyPr/>
          <a:lstStyle/>
          <a:p>
            <a:endParaRPr lang="en-US"/>
          </a:p>
        </p:txBody>
      </p:sp>
      <p:sp>
        <p:nvSpPr>
          <p:cNvPr id="15" name="Text 13"/>
          <p:cNvSpPr/>
          <p:nvPr/>
        </p:nvSpPr>
        <p:spPr>
          <a:xfrm>
            <a:off x="6499757" y="2807593"/>
            <a:ext cx="4818934" cy="1178719"/>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background SEBELUM padding</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 padding di DALAM area warna</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Modifier</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.background(Color.Red)</a:t>
            </a:r>
            <a:endParaRPr lang="en-US" sz="1150" dirty="0"/>
          </a:p>
          <a:p>
            <a:pPr marL="0" indent="0" algn="l">
              <a:lnSpc>
                <a:spcPct val="133000"/>
              </a:lnSpc>
              <a:buNone/>
            </a:pPr>
            <a:r>
              <a:rPr lang="en-US" sz="1150" dirty="0">
                <a:solidFill>
                  <a:srgbClr val="E6EDF3"/>
                </a:solidFill>
                <a:latin typeface="Consolas" pitchFamily="34" charset="0"/>
                <a:ea typeface="Consolas" pitchFamily="34" charset="-122"/>
                <a:cs typeface="Consolas" pitchFamily="34" charset="-120"/>
              </a:rPr>
              <a:t>    .padding(16.dp)</a:t>
            </a:r>
            <a:endParaRPr lang="en-US" sz="1150" dirty="0"/>
          </a:p>
        </p:txBody>
      </p:sp>
      <p:sp>
        <p:nvSpPr>
          <p:cNvPr id="16" name="Text 14"/>
          <p:cNvSpPr/>
          <p:nvPr/>
        </p:nvSpPr>
        <p:spPr>
          <a:xfrm>
            <a:off x="6323053" y="4281091"/>
            <a:ext cx="5172342" cy="668536"/>
          </a:xfrm>
          <a:prstGeom prst="rect">
            <a:avLst/>
          </a:prstGeom>
          <a:noFill/>
          <a:ln/>
        </p:spPr>
        <p:txBody>
          <a:bodyPr wrap="square" lIns="0" tIns="0" rIns="0" bIns="0" rtlCol="0" anchor="t">
            <a:normAutofit/>
          </a:bodyPr>
          <a:lstStyle/>
          <a:p>
            <a:pPr marL="0" indent="0" algn="l">
              <a:lnSpc>
                <a:spcPct val="126000"/>
              </a:lnSpc>
              <a:buNone/>
            </a:pPr>
            <a:r>
              <a:rPr lang="en-US" sz="1150" dirty="0">
                <a:solidFill>
                  <a:srgbClr val="DCD7E5"/>
                </a:solidFill>
                <a:latin typeface="Heebo Light" pitchFamily="34" charset="0"/>
                <a:ea typeface="Heebo Light" pitchFamily="34" charset="-122"/>
                <a:cs typeface="Heebo Light" pitchFamily="34" charset="-120"/>
              </a:rPr>
              <a:t>Background merah diterapkan terlebih dahulu pada seluruh area. Padding kemudian mendorong konten ke dalam — sehingga padding berada </a:t>
            </a:r>
            <a:r>
              <a:rPr lang="en-US" sz="1150" i="1" dirty="0">
                <a:solidFill>
                  <a:srgbClr val="DCD7E5"/>
                </a:solidFill>
                <a:latin typeface="Heebo Light" pitchFamily="34" charset="0"/>
                <a:ea typeface="Heebo Light" pitchFamily="34" charset="-122"/>
                <a:cs typeface="Heebo Light" pitchFamily="34" charset="-120"/>
              </a:rPr>
              <a:t>di dalam</a:t>
            </a:r>
            <a:r>
              <a:rPr lang="en-US" sz="1150" dirty="0">
                <a:solidFill>
                  <a:srgbClr val="DCD7E5"/>
                </a:solidFill>
                <a:latin typeface="Heebo Light" pitchFamily="34" charset="0"/>
                <a:ea typeface="Heebo Light" pitchFamily="34" charset="-122"/>
                <a:cs typeface="Heebo Light" pitchFamily="34" charset="-120"/>
              </a:rPr>
              <a:t> area merah.</a:t>
            </a:r>
            <a:endParaRPr lang="en-US" sz="1150" dirty="0"/>
          </a:p>
        </p:txBody>
      </p:sp>
      <p:pic>
        <p:nvPicPr>
          <p:cNvPr id="1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5215235"/>
            <a:ext cx="5368791" cy="1099840"/>
          </a:xfrm>
          <a:prstGeom prst="rect">
            <a:avLst/>
          </a:prstGeom>
        </p:spPr>
      </p:pic>
      <p:sp>
        <p:nvSpPr>
          <p:cNvPr id="18" name="Text 15"/>
          <p:cNvSpPr/>
          <p:nvPr/>
        </p:nvSpPr>
        <p:spPr>
          <a:xfrm>
            <a:off x="903959" y="5381526"/>
            <a:ext cx="4960020" cy="230187"/>
          </a:xfrm>
          <a:prstGeom prst="rect">
            <a:avLst/>
          </a:prstGeom>
          <a:noFill/>
          <a:ln/>
        </p:spPr>
        <p:txBody>
          <a:bodyPr wrap="none" lIns="0" tIns="0" rIns="0" bIns="0" rtlCol="0" anchor="t"/>
          <a:lstStyle/>
          <a:p>
            <a:pPr marL="0" indent="0" algn="l">
              <a:lnSpc>
                <a:spcPct val="104000"/>
              </a:lnSpc>
              <a:buNone/>
            </a:pPr>
            <a:r>
              <a:rPr lang="en-US" sz="1400" dirty="0">
                <a:solidFill>
                  <a:srgbClr val="DCD7E5"/>
                </a:solidFill>
                <a:latin typeface="Montserrat" pitchFamily="34" charset="0"/>
                <a:ea typeface="Montserrat" pitchFamily="34" charset="-122"/>
                <a:cs typeface="Montserrat" pitchFamily="34" charset="-120"/>
              </a:rPr>
              <a:t>Scope Safety — weight()</a:t>
            </a:r>
            <a:endParaRPr lang="en-US" sz="1400" dirty="0"/>
          </a:p>
        </p:txBody>
      </p:sp>
      <p:sp>
        <p:nvSpPr>
          <p:cNvPr id="19" name="Text 16"/>
          <p:cNvSpPr/>
          <p:nvPr/>
        </p:nvSpPr>
        <p:spPr>
          <a:xfrm>
            <a:off x="903959" y="5690394"/>
            <a:ext cx="4960020" cy="458391"/>
          </a:xfrm>
          <a:prstGeom prst="rect">
            <a:avLst/>
          </a:prstGeom>
          <a:noFill/>
          <a:ln/>
        </p:spPr>
        <p:txBody>
          <a:bodyPr wrap="square" lIns="0" tIns="0" rIns="0" bIns="0" rtlCol="0" anchor="t">
            <a:normAutofit/>
          </a:bodyPr>
          <a:lstStyle/>
          <a:p>
            <a:pPr marL="0" indent="0" algn="l">
              <a:lnSpc>
                <a:spcPct val="126000"/>
              </a:lnSpc>
              <a:buNone/>
            </a:pPr>
            <a:r>
              <a:rPr lang="en-US" sz="1150" dirty="0">
                <a:solidFill>
                  <a:srgbClr val="DCD7E5"/>
                </a:solidFill>
                <a:highlight>
                  <a:srgbClr val="1A1739"/>
                </a:highlight>
                <a:latin typeface="Consolas" pitchFamily="34" charset="0"/>
                <a:ea typeface="Consolas" pitchFamily="34" charset="-122"/>
                <a:cs typeface="Consolas" pitchFamily="34" charset="-120"/>
              </a:rPr>
              <a:t>weight()</a:t>
            </a:r>
            <a:r>
              <a:rPr lang="en-US" sz="1150" dirty="0">
                <a:solidFill>
                  <a:srgbClr val="DCD7E5"/>
                </a:solidFill>
                <a:latin typeface="Heebo Light" pitchFamily="34" charset="0"/>
                <a:ea typeface="Heebo Light" pitchFamily="34" charset="-122"/>
                <a:cs typeface="Heebo Light" pitchFamily="34" charset="-120"/>
              </a:rPr>
              <a:t> hanya tersedia dalam </a:t>
            </a:r>
            <a:r>
              <a:rPr lang="en-US" sz="1150" dirty="0">
                <a:solidFill>
                  <a:srgbClr val="DCD7E5"/>
                </a:solidFill>
                <a:highlight>
                  <a:srgbClr val="1A1739"/>
                </a:highlight>
                <a:latin typeface="Consolas" pitchFamily="34" charset="0"/>
                <a:ea typeface="Consolas" pitchFamily="34" charset="-122"/>
                <a:cs typeface="Consolas" pitchFamily="34" charset="-120"/>
              </a:rPr>
              <a:t>RowScope</a:t>
            </a:r>
            <a:r>
              <a:rPr lang="en-US" sz="1150" dirty="0">
                <a:solidFill>
                  <a:srgbClr val="DCD7E5"/>
                </a:solidFill>
                <a:latin typeface="Heebo Light" pitchFamily="34" charset="0"/>
                <a:ea typeface="Heebo Light" pitchFamily="34" charset="-122"/>
                <a:cs typeface="Heebo Light" pitchFamily="34" charset="-120"/>
              </a:rPr>
              <a:t> / </a:t>
            </a:r>
            <a:r>
              <a:rPr lang="en-US" sz="1150" dirty="0">
                <a:solidFill>
                  <a:srgbClr val="DCD7E5"/>
                </a:solidFill>
                <a:highlight>
                  <a:srgbClr val="1A1739"/>
                </a:highlight>
                <a:latin typeface="Consolas" pitchFamily="34" charset="0"/>
                <a:ea typeface="Consolas" pitchFamily="34" charset="-122"/>
                <a:cs typeface="Consolas" pitchFamily="34" charset="-120"/>
              </a:rPr>
              <a:t>ColumnScope</a:t>
            </a:r>
            <a:r>
              <a:rPr lang="en-US" sz="1150" dirty="0">
                <a:solidFill>
                  <a:srgbClr val="DCD7E5"/>
                </a:solidFill>
                <a:latin typeface="Heebo Light" pitchFamily="34" charset="0"/>
                <a:ea typeface="Heebo Light" pitchFamily="34" charset="-122"/>
                <a:cs typeface="Heebo Light" pitchFamily="34" charset="-120"/>
              </a:rPr>
              <a:t>. Memanggil modifier ini di luar konteks tersebut akan menyebabkan compile error.</a:t>
            </a:r>
            <a:endParaRPr lang="en-US" sz="1150" dirty="0"/>
          </a:p>
        </p:txBody>
      </p:sp>
      <p:pic>
        <p:nvPicPr>
          <p:cNvPr id="20"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61429" y="5215235"/>
            <a:ext cx="5368791" cy="1099840"/>
          </a:xfrm>
          <a:prstGeom prst="rect">
            <a:avLst/>
          </a:prstGeom>
        </p:spPr>
      </p:pic>
      <p:sp>
        <p:nvSpPr>
          <p:cNvPr id="21" name="Text 17"/>
          <p:cNvSpPr/>
          <p:nvPr/>
        </p:nvSpPr>
        <p:spPr>
          <a:xfrm>
            <a:off x="6403914" y="5381526"/>
            <a:ext cx="4960020" cy="230187"/>
          </a:xfrm>
          <a:prstGeom prst="rect">
            <a:avLst/>
          </a:prstGeom>
          <a:noFill/>
          <a:ln/>
        </p:spPr>
        <p:txBody>
          <a:bodyPr wrap="none" lIns="0" tIns="0" rIns="0" bIns="0" rtlCol="0" anchor="t"/>
          <a:lstStyle/>
          <a:p>
            <a:pPr marL="0" indent="0" algn="l">
              <a:lnSpc>
                <a:spcPct val="104000"/>
              </a:lnSpc>
              <a:buNone/>
            </a:pPr>
            <a:r>
              <a:rPr lang="en-US" sz="1400" dirty="0">
                <a:solidFill>
                  <a:srgbClr val="DCD7E5"/>
                </a:solidFill>
                <a:latin typeface="Montserrat" pitchFamily="34" charset="0"/>
                <a:ea typeface="Montserrat" pitchFamily="34" charset="-122"/>
                <a:cs typeface="Montserrat" pitchFamily="34" charset="-120"/>
              </a:rPr>
              <a:t>Scope Safety — align()</a:t>
            </a:r>
            <a:endParaRPr lang="en-US" sz="1400" dirty="0"/>
          </a:p>
        </p:txBody>
      </p:sp>
      <p:sp>
        <p:nvSpPr>
          <p:cNvPr id="22" name="Text 18"/>
          <p:cNvSpPr/>
          <p:nvPr/>
        </p:nvSpPr>
        <p:spPr>
          <a:xfrm>
            <a:off x="6403914" y="5690394"/>
            <a:ext cx="4960020" cy="458391"/>
          </a:xfrm>
          <a:prstGeom prst="rect">
            <a:avLst/>
          </a:prstGeom>
          <a:noFill/>
          <a:ln/>
        </p:spPr>
        <p:txBody>
          <a:bodyPr wrap="square" lIns="0" tIns="0" rIns="0" bIns="0" rtlCol="0" anchor="t">
            <a:normAutofit/>
          </a:bodyPr>
          <a:lstStyle/>
          <a:p>
            <a:pPr marL="0" indent="0" algn="l">
              <a:lnSpc>
                <a:spcPct val="126000"/>
              </a:lnSpc>
              <a:buNone/>
            </a:pPr>
            <a:r>
              <a:rPr lang="en-US" sz="1150" dirty="0">
                <a:solidFill>
                  <a:srgbClr val="DCD7E5"/>
                </a:solidFill>
                <a:highlight>
                  <a:srgbClr val="1A1739"/>
                </a:highlight>
                <a:latin typeface="Consolas" pitchFamily="34" charset="0"/>
                <a:ea typeface="Consolas" pitchFamily="34" charset="-122"/>
                <a:cs typeface="Consolas" pitchFamily="34" charset="-120"/>
              </a:rPr>
              <a:t>align()</a:t>
            </a:r>
            <a:r>
              <a:rPr lang="en-US" sz="1150" dirty="0">
                <a:solidFill>
                  <a:srgbClr val="DCD7E5"/>
                </a:solidFill>
                <a:latin typeface="Heebo Light" pitchFamily="34" charset="0"/>
                <a:ea typeface="Heebo Light" pitchFamily="34" charset="-122"/>
                <a:cs typeface="Heebo Light" pitchFamily="34" charset="-120"/>
              </a:rPr>
              <a:t> dengan parameter </a:t>
            </a:r>
            <a:r>
              <a:rPr lang="en-US" sz="1150" dirty="0">
                <a:solidFill>
                  <a:srgbClr val="DCD7E5"/>
                </a:solidFill>
                <a:highlight>
                  <a:srgbClr val="1A1739"/>
                </a:highlight>
                <a:latin typeface="Consolas" pitchFamily="34" charset="0"/>
                <a:ea typeface="Consolas" pitchFamily="34" charset="-122"/>
                <a:cs typeface="Consolas" pitchFamily="34" charset="-120"/>
              </a:rPr>
              <a:t>Alignment.*</a:t>
            </a:r>
            <a:r>
              <a:rPr lang="en-US" sz="1150" dirty="0">
                <a:solidFill>
                  <a:srgbClr val="DCD7E5"/>
                </a:solidFill>
                <a:latin typeface="Heebo Light" pitchFamily="34" charset="0"/>
                <a:ea typeface="Heebo Light" pitchFamily="34" charset="-122"/>
                <a:cs typeface="Heebo Light" pitchFamily="34" charset="-120"/>
              </a:rPr>
              <a:t> hanya tersedia dalam </a:t>
            </a:r>
            <a:r>
              <a:rPr lang="en-US" sz="1150" dirty="0">
                <a:solidFill>
                  <a:srgbClr val="DCD7E5"/>
                </a:solidFill>
                <a:highlight>
                  <a:srgbClr val="1A1739"/>
                </a:highlight>
                <a:latin typeface="Consolas" pitchFamily="34" charset="0"/>
                <a:ea typeface="Consolas" pitchFamily="34" charset="-122"/>
                <a:cs typeface="Consolas" pitchFamily="34" charset="-120"/>
              </a:rPr>
              <a:t>BoxScope</a:t>
            </a:r>
            <a:r>
              <a:rPr lang="en-US" sz="1150" dirty="0">
                <a:solidFill>
                  <a:srgbClr val="DCD7E5"/>
                </a:solidFill>
                <a:latin typeface="Heebo Light" pitchFamily="34" charset="0"/>
                <a:ea typeface="Heebo Light" pitchFamily="34" charset="-122"/>
                <a:cs typeface="Heebo Light" pitchFamily="34" charset="-120"/>
              </a:rPr>
              <a:t>. Setiap scope menyediakan modifier khusus yang relevan dengan layout-nya.</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61475" y="530820"/>
            <a:ext cx="10868745" cy="331093"/>
          </a:xfrm>
          <a:prstGeom prst="rect">
            <a:avLst/>
          </a:prstGeom>
          <a:noFill/>
          <a:ln/>
        </p:spPr>
        <p:txBody>
          <a:bodyPr wrap="none" lIns="0" tIns="0" rIns="0" bIns="0" rtlCol="0" anchor="t"/>
          <a:lstStyle/>
          <a:p>
            <a:pPr marL="0" indent="0" algn="l">
              <a:lnSpc>
                <a:spcPct val="104000"/>
              </a:lnSpc>
              <a:buNone/>
            </a:pPr>
            <a:r>
              <a:rPr lang="en-US" sz="2050" dirty="0">
                <a:solidFill>
                  <a:srgbClr val="F2F0F4"/>
                </a:solidFill>
                <a:latin typeface="Montserrat" pitchFamily="34" charset="0"/>
                <a:ea typeface="Montserrat" pitchFamily="34" charset="-122"/>
                <a:cs typeface="Montserrat" pitchFamily="34" charset="-120"/>
              </a:rPr>
              <a:t>Size, Weight &amp; Alignment Modifier</a:t>
            </a:r>
            <a:endParaRPr lang="en-US" sz="2050" dirty="0"/>
          </a:p>
        </p:txBody>
      </p:sp>
      <p:sp>
        <p:nvSpPr>
          <p:cNvPr id="3" name="Text 1"/>
          <p:cNvSpPr/>
          <p:nvPr/>
        </p:nvSpPr>
        <p:spPr>
          <a:xfrm>
            <a:off x="661475" y="1031577"/>
            <a:ext cx="4748788" cy="165497"/>
          </a:xfrm>
          <a:prstGeom prst="rect">
            <a:avLst/>
          </a:prstGeom>
          <a:noFill/>
          <a:ln/>
        </p:spPr>
        <p:txBody>
          <a:bodyPr wrap="none" lIns="0" tIns="0" rIns="0" bIns="0" rtlCol="0" anchor="t"/>
          <a:lstStyle/>
          <a:p>
            <a:pPr marL="0" indent="0" algn="l">
              <a:lnSpc>
                <a:spcPct val="104000"/>
              </a:lnSpc>
              <a:buNone/>
            </a:pPr>
            <a:r>
              <a:rPr lang="en-US" sz="1000" dirty="0">
                <a:solidFill>
                  <a:srgbClr val="F2F0F4"/>
                </a:solidFill>
                <a:latin typeface="Montserrat" pitchFamily="34" charset="0"/>
                <a:ea typeface="Montserrat" pitchFamily="34" charset="-122"/>
                <a:cs typeface="Montserrat" pitchFamily="34" charset="-120"/>
              </a:rPr>
              <a:t>Size &amp; Fill Modifiers</a:t>
            </a:r>
            <a:endParaRPr lang="en-US" sz="10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286570"/>
            <a:ext cx="105864" cy="105866"/>
          </a:xfrm>
          <a:prstGeom prst="rect">
            <a:avLst/>
          </a:prstGeom>
        </p:spPr>
      </p:pic>
      <p:sp>
        <p:nvSpPr>
          <p:cNvPr id="5" name="Shape 2"/>
          <p:cNvSpPr/>
          <p:nvPr/>
        </p:nvSpPr>
        <p:spPr>
          <a:xfrm>
            <a:off x="661475" y="1440557"/>
            <a:ext cx="4748788" cy="12700"/>
          </a:xfrm>
          <a:prstGeom prst="rect">
            <a:avLst/>
          </a:prstGeom>
          <a:solidFill>
            <a:srgbClr val="581CA0"/>
          </a:solidFill>
          <a:ln/>
        </p:spPr>
        <p:txBody>
          <a:bodyPr/>
          <a:lstStyle/>
          <a:p>
            <a:endParaRPr lang="en-US"/>
          </a:p>
        </p:txBody>
      </p:sp>
      <p:sp>
        <p:nvSpPr>
          <p:cNvPr id="6" name="Text 3"/>
          <p:cNvSpPr/>
          <p:nvPr/>
        </p:nvSpPr>
        <p:spPr>
          <a:xfrm>
            <a:off x="661475" y="1518841"/>
            <a:ext cx="4748788" cy="165497"/>
          </a:xfrm>
          <a:prstGeom prst="rect">
            <a:avLst/>
          </a:prstGeom>
          <a:noFill/>
          <a:ln/>
        </p:spPr>
        <p:txBody>
          <a:bodyPr wrap="none" lIns="0" tIns="0" rIns="0" bIns="0" rtlCol="0" anchor="t"/>
          <a:lstStyle/>
          <a:p>
            <a:pPr marL="0" indent="0" algn="l">
              <a:lnSpc>
                <a:spcPct val="104000"/>
              </a:lnSpc>
              <a:buNone/>
            </a:pPr>
            <a:r>
              <a:rPr lang="en-US" sz="1000" dirty="0">
                <a:solidFill>
                  <a:srgbClr val="DCD7E5"/>
                </a:solidFill>
                <a:latin typeface="Montserrat" pitchFamily="34" charset="0"/>
                <a:ea typeface="Montserrat" pitchFamily="34" charset="-122"/>
                <a:cs typeface="Montserrat" pitchFamily="34" charset="-120"/>
              </a:rPr>
              <a:t>Modifier.padding(dp)</a:t>
            </a:r>
            <a:endParaRPr lang="en-US" sz="1000" dirty="0"/>
          </a:p>
        </p:txBody>
      </p:sp>
      <p:sp>
        <p:nvSpPr>
          <p:cNvPr id="7" name="Text 4"/>
          <p:cNvSpPr/>
          <p:nvPr/>
        </p:nvSpPr>
        <p:spPr>
          <a:xfrm>
            <a:off x="661475" y="1752203"/>
            <a:ext cx="4748788" cy="151705"/>
          </a:xfrm>
          <a:prstGeom prst="rect">
            <a:avLst/>
          </a:prstGeom>
          <a:noFill/>
          <a:ln/>
        </p:spPr>
        <p:txBody>
          <a:bodyPr wrap="none" lIns="0" tIns="0" rIns="0" bIns="0" rtlCol="0" anchor="t"/>
          <a:lstStyle/>
          <a:p>
            <a:pPr marL="0" indent="0" algn="l">
              <a:lnSpc>
                <a:spcPct val="109000"/>
              </a:lnSpc>
              <a:buNone/>
            </a:pPr>
            <a:r>
              <a:rPr lang="en-US" sz="800" dirty="0">
                <a:solidFill>
                  <a:srgbClr val="DCD7E5"/>
                </a:solidFill>
                <a:latin typeface="Heebo Light" pitchFamily="34" charset="0"/>
                <a:ea typeface="Heebo Light" pitchFamily="34" charset="-122"/>
                <a:cs typeface="Heebo Light" pitchFamily="34" charset="-120"/>
              </a:rPr>
              <a:t>Jarak dalam/luar elemen — dapat diatur per sisi: </a:t>
            </a:r>
            <a:r>
              <a:rPr lang="en-US" sz="800" dirty="0">
                <a:solidFill>
                  <a:srgbClr val="DCD7E5"/>
                </a:solidFill>
                <a:highlight>
                  <a:srgbClr val="1A1739"/>
                </a:highlight>
                <a:latin typeface="Consolas" pitchFamily="34" charset="0"/>
                <a:ea typeface="Consolas" pitchFamily="34" charset="-122"/>
                <a:cs typeface="Consolas" pitchFamily="34" charset="-120"/>
              </a:rPr>
              <a:t>start</a:t>
            </a:r>
            <a:r>
              <a:rPr lang="en-US" sz="800" dirty="0">
                <a:solidFill>
                  <a:srgbClr val="DCD7E5"/>
                </a:solidFill>
                <a:latin typeface="Heebo Light" pitchFamily="34" charset="0"/>
                <a:ea typeface="Heebo Light" pitchFamily="34" charset="-122"/>
                <a:cs typeface="Heebo Light" pitchFamily="34" charset="-120"/>
              </a:rPr>
              <a:t>, </a:t>
            </a:r>
            <a:r>
              <a:rPr lang="en-US" sz="800" dirty="0">
                <a:solidFill>
                  <a:srgbClr val="DCD7E5"/>
                </a:solidFill>
                <a:highlight>
                  <a:srgbClr val="1A1739"/>
                </a:highlight>
                <a:latin typeface="Consolas" pitchFamily="34" charset="0"/>
                <a:ea typeface="Consolas" pitchFamily="34" charset="-122"/>
                <a:cs typeface="Consolas" pitchFamily="34" charset="-120"/>
              </a:rPr>
              <a:t>end</a:t>
            </a:r>
            <a:r>
              <a:rPr lang="en-US" sz="800" dirty="0">
                <a:solidFill>
                  <a:srgbClr val="DCD7E5"/>
                </a:solidFill>
                <a:latin typeface="Heebo Light" pitchFamily="34" charset="0"/>
                <a:ea typeface="Heebo Light" pitchFamily="34" charset="-122"/>
                <a:cs typeface="Heebo Light" pitchFamily="34" charset="-120"/>
              </a:rPr>
              <a:t>, </a:t>
            </a:r>
            <a:r>
              <a:rPr lang="en-US" sz="800" dirty="0">
                <a:solidFill>
                  <a:srgbClr val="DCD7E5"/>
                </a:solidFill>
                <a:highlight>
                  <a:srgbClr val="1A1739"/>
                </a:highlight>
                <a:latin typeface="Consolas" pitchFamily="34" charset="0"/>
                <a:ea typeface="Consolas" pitchFamily="34" charset="-122"/>
                <a:cs typeface="Consolas" pitchFamily="34" charset="-120"/>
              </a:rPr>
              <a:t>top</a:t>
            </a:r>
            <a:r>
              <a:rPr lang="en-US" sz="800" dirty="0">
                <a:solidFill>
                  <a:srgbClr val="DCD7E5"/>
                </a:solidFill>
                <a:latin typeface="Heebo Light" pitchFamily="34" charset="0"/>
                <a:ea typeface="Heebo Light" pitchFamily="34" charset="-122"/>
                <a:cs typeface="Heebo Light" pitchFamily="34" charset="-120"/>
              </a:rPr>
              <a:t>, </a:t>
            </a:r>
            <a:r>
              <a:rPr lang="en-US" sz="800" dirty="0">
                <a:solidFill>
                  <a:srgbClr val="DCD7E5"/>
                </a:solidFill>
                <a:highlight>
                  <a:srgbClr val="1A1739"/>
                </a:highlight>
                <a:latin typeface="Consolas" pitchFamily="34" charset="0"/>
                <a:ea typeface="Consolas" pitchFamily="34" charset="-122"/>
                <a:cs typeface="Consolas" pitchFamily="34" charset="-120"/>
              </a:rPr>
              <a:t>bottom</a:t>
            </a:r>
            <a:r>
              <a:rPr lang="en-US" sz="800" dirty="0">
                <a:solidFill>
                  <a:srgbClr val="DCD7E5"/>
                </a:solidFill>
                <a:latin typeface="Heebo Light" pitchFamily="34" charset="0"/>
                <a:ea typeface="Heebo Light" pitchFamily="34" charset="-122"/>
                <a:cs typeface="Heebo Light" pitchFamily="34" charset="-120"/>
              </a:rPr>
              <a:t>.</a:t>
            </a:r>
            <a:endParaRPr lang="en-US" sz="8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2043212"/>
            <a:ext cx="105864" cy="105866"/>
          </a:xfrm>
          <a:prstGeom prst="rect">
            <a:avLst/>
          </a:prstGeom>
        </p:spPr>
      </p:pic>
      <p:sp>
        <p:nvSpPr>
          <p:cNvPr id="9" name="Shape 5"/>
          <p:cNvSpPr/>
          <p:nvPr/>
        </p:nvSpPr>
        <p:spPr>
          <a:xfrm>
            <a:off x="661475" y="2197199"/>
            <a:ext cx="4748788" cy="12700"/>
          </a:xfrm>
          <a:prstGeom prst="rect">
            <a:avLst/>
          </a:prstGeom>
          <a:solidFill>
            <a:srgbClr val="581CA0"/>
          </a:solidFill>
          <a:ln/>
        </p:spPr>
        <p:txBody>
          <a:bodyPr/>
          <a:lstStyle/>
          <a:p>
            <a:endParaRPr lang="en-US"/>
          </a:p>
        </p:txBody>
      </p:sp>
      <p:sp>
        <p:nvSpPr>
          <p:cNvPr id="10" name="Text 6"/>
          <p:cNvSpPr/>
          <p:nvPr/>
        </p:nvSpPr>
        <p:spPr>
          <a:xfrm>
            <a:off x="661475" y="2296616"/>
            <a:ext cx="4748788" cy="165497"/>
          </a:xfrm>
          <a:prstGeom prst="rect">
            <a:avLst/>
          </a:prstGeom>
          <a:noFill/>
          <a:ln/>
        </p:spPr>
        <p:txBody>
          <a:bodyPr wrap="none" lIns="0" tIns="0" rIns="0" bIns="0" rtlCol="0" anchor="t"/>
          <a:lstStyle/>
          <a:p>
            <a:pPr marL="0" indent="0" algn="l">
              <a:lnSpc>
                <a:spcPct val="104000"/>
              </a:lnSpc>
              <a:buNone/>
            </a:pPr>
            <a:r>
              <a:rPr lang="en-US" sz="1000" dirty="0">
                <a:solidFill>
                  <a:srgbClr val="DCD7E5"/>
                </a:solidFill>
                <a:latin typeface="Montserrat" pitchFamily="34" charset="0"/>
                <a:ea typeface="Montserrat" pitchFamily="34" charset="-122"/>
                <a:cs typeface="Montserrat" pitchFamily="34" charset="-120"/>
              </a:rPr>
              <a:t>Modifier.size(dp)</a:t>
            </a:r>
            <a:endParaRPr lang="en-US" sz="1000" dirty="0"/>
          </a:p>
        </p:txBody>
      </p:sp>
      <p:sp>
        <p:nvSpPr>
          <p:cNvPr id="11" name="Text 7"/>
          <p:cNvSpPr/>
          <p:nvPr/>
        </p:nvSpPr>
        <p:spPr>
          <a:xfrm>
            <a:off x="661475" y="2529979"/>
            <a:ext cx="4748788" cy="151705"/>
          </a:xfrm>
          <a:prstGeom prst="rect">
            <a:avLst/>
          </a:prstGeom>
          <a:noFill/>
          <a:ln/>
        </p:spPr>
        <p:txBody>
          <a:bodyPr wrap="none" lIns="0" tIns="0" rIns="0" bIns="0" rtlCol="0" anchor="t"/>
          <a:lstStyle/>
          <a:p>
            <a:pPr marL="0" indent="0" algn="l">
              <a:lnSpc>
                <a:spcPct val="109000"/>
              </a:lnSpc>
              <a:buNone/>
            </a:pPr>
            <a:r>
              <a:rPr lang="en-US" sz="800" dirty="0">
                <a:solidFill>
                  <a:srgbClr val="DCD7E5"/>
                </a:solidFill>
                <a:latin typeface="Heebo Light" pitchFamily="34" charset="0"/>
                <a:ea typeface="Heebo Light" pitchFamily="34" charset="-122"/>
                <a:cs typeface="Heebo Light" pitchFamily="34" charset="-120"/>
              </a:rPr>
              <a:t>Lebar &amp; tinggi tetap. Gunakan </a:t>
            </a:r>
            <a:r>
              <a:rPr lang="en-US" sz="800" dirty="0">
                <a:solidFill>
                  <a:srgbClr val="DCD7E5"/>
                </a:solidFill>
                <a:highlight>
                  <a:srgbClr val="1A1739"/>
                </a:highlight>
                <a:latin typeface="Consolas" pitchFamily="34" charset="0"/>
                <a:ea typeface="Consolas" pitchFamily="34" charset="-122"/>
                <a:cs typeface="Consolas" pitchFamily="34" charset="-120"/>
              </a:rPr>
              <a:t>width()</a:t>
            </a:r>
            <a:r>
              <a:rPr lang="en-US" sz="800" dirty="0">
                <a:solidFill>
                  <a:srgbClr val="DCD7E5"/>
                </a:solidFill>
                <a:latin typeface="Heebo Light" pitchFamily="34" charset="0"/>
                <a:ea typeface="Heebo Light" pitchFamily="34" charset="-122"/>
                <a:cs typeface="Heebo Light" pitchFamily="34" charset="-120"/>
              </a:rPr>
              <a:t> atau </a:t>
            </a:r>
            <a:r>
              <a:rPr lang="en-US" sz="800" dirty="0">
                <a:solidFill>
                  <a:srgbClr val="DCD7E5"/>
                </a:solidFill>
                <a:highlight>
                  <a:srgbClr val="1A1739"/>
                </a:highlight>
                <a:latin typeface="Consolas" pitchFamily="34" charset="0"/>
                <a:ea typeface="Consolas" pitchFamily="34" charset="-122"/>
                <a:cs typeface="Consolas" pitchFamily="34" charset="-120"/>
              </a:rPr>
              <a:t>height()</a:t>
            </a:r>
            <a:r>
              <a:rPr lang="en-US" sz="800" dirty="0">
                <a:solidFill>
                  <a:srgbClr val="DCD7E5"/>
                </a:solidFill>
                <a:latin typeface="Heebo Light" pitchFamily="34" charset="0"/>
                <a:ea typeface="Heebo Light" pitchFamily="34" charset="-122"/>
                <a:cs typeface="Heebo Light" pitchFamily="34" charset="-120"/>
              </a:rPr>
              <a:t> untuk satu dimensi saja.</a:t>
            </a:r>
            <a:endParaRPr lang="en-US" sz="8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2799854"/>
            <a:ext cx="105864" cy="105866"/>
          </a:xfrm>
          <a:prstGeom prst="rect">
            <a:avLst/>
          </a:prstGeom>
        </p:spPr>
      </p:pic>
      <p:sp>
        <p:nvSpPr>
          <p:cNvPr id="13" name="Shape 8"/>
          <p:cNvSpPr/>
          <p:nvPr/>
        </p:nvSpPr>
        <p:spPr>
          <a:xfrm>
            <a:off x="661475" y="2953841"/>
            <a:ext cx="4748788" cy="12700"/>
          </a:xfrm>
          <a:prstGeom prst="rect">
            <a:avLst/>
          </a:prstGeom>
          <a:solidFill>
            <a:srgbClr val="581CA0"/>
          </a:solidFill>
          <a:ln/>
        </p:spPr>
        <p:txBody>
          <a:bodyPr/>
          <a:lstStyle/>
          <a:p>
            <a:endParaRPr lang="en-US"/>
          </a:p>
        </p:txBody>
      </p:sp>
      <p:sp>
        <p:nvSpPr>
          <p:cNvPr id="14" name="Text 9"/>
          <p:cNvSpPr/>
          <p:nvPr/>
        </p:nvSpPr>
        <p:spPr>
          <a:xfrm>
            <a:off x="661475" y="3074392"/>
            <a:ext cx="4748788" cy="165497"/>
          </a:xfrm>
          <a:prstGeom prst="rect">
            <a:avLst/>
          </a:prstGeom>
          <a:noFill/>
          <a:ln/>
        </p:spPr>
        <p:txBody>
          <a:bodyPr wrap="none" lIns="0" tIns="0" rIns="0" bIns="0" rtlCol="0" anchor="t"/>
          <a:lstStyle/>
          <a:p>
            <a:pPr marL="0" indent="0" algn="l">
              <a:lnSpc>
                <a:spcPct val="104000"/>
              </a:lnSpc>
              <a:buNone/>
            </a:pPr>
            <a:r>
              <a:rPr lang="en-US" sz="1000" dirty="0">
                <a:solidFill>
                  <a:srgbClr val="DCD7E5"/>
                </a:solidFill>
                <a:latin typeface="Montserrat" pitchFamily="34" charset="0"/>
                <a:ea typeface="Montserrat" pitchFamily="34" charset="-122"/>
                <a:cs typeface="Montserrat" pitchFamily="34" charset="-120"/>
              </a:rPr>
              <a:t>Modifier.fillMaxWidth()</a:t>
            </a:r>
            <a:endParaRPr lang="en-US" sz="1000" dirty="0"/>
          </a:p>
        </p:txBody>
      </p:sp>
      <p:sp>
        <p:nvSpPr>
          <p:cNvPr id="15" name="Text 10"/>
          <p:cNvSpPr/>
          <p:nvPr/>
        </p:nvSpPr>
        <p:spPr>
          <a:xfrm>
            <a:off x="661475" y="3307755"/>
            <a:ext cx="4748788" cy="151705"/>
          </a:xfrm>
          <a:prstGeom prst="rect">
            <a:avLst/>
          </a:prstGeom>
          <a:noFill/>
          <a:ln/>
        </p:spPr>
        <p:txBody>
          <a:bodyPr wrap="none" lIns="0" tIns="0" rIns="0" bIns="0" rtlCol="0" anchor="t"/>
          <a:lstStyle/>
          <a:p>
            <a:pPr marL="0" indent="0" algn="l">
              <a:lnSpc>
                <a:spcPct val="109000"/>
              </a:lnSpc>
              <a:buNone/>
            </a:pPr>
            <a:r>
              <a:rPr lang="en-US" sz="800" dirty="0">
                <a:solidFill>
                  <a:srgbClr val="DCD7E5"/>
                </a:solidFill>
                <a:latin typeface="Heebo Light" pitchFamily="34" charset="0"/>
                <a:ea typeface="Heebo Light" pitchFamily="34" charset="-122"/>
                <a:cs typeface="Heebo Light" pitchFamily="34" charset="-120"/>
              </a:rPr>
              <a:t>Melebar penuh kontainer. </a:t>
            </a:r>
            <a:r>
              <a:rPr lang="en-US" sz="800" dirty="0">
                <a:solidFill>
                  <a:srgbClr val="DCD7E5"/>
                </a:solidFill>
                <a:highlight>
                  <a:srgbClr val="1A1739"/>
                </a:highlight>
                <a:latin typeface="Consolas" pitchFamily="34" charset="0"/>
                <a:ea typeface="Consolas" pitchFamily="34" charset="-122"/>
                <a:cs typeface="Consolas" pitchFamily="34" charset="-120"/>
              </a:rPr>
              <a:t>fillMaxHeight()</a:t>
            </a:r>
            <a:r>
              <a:rPr lang="en-US" sz="800" dirty="0">
                <a:solidFill>
                  <a:srgbClr val="DCD7E5"/>
                </a:solidFill>
                <a:latin typeface="Heebo Light" pitchFamily="34" charset="0"/>
                <a:ea typeface="Heebo Light" pitchFamily="34" charset="-122"/>
                <a:cs typeface="Heebo Light" pitchFamily="34" charset="-120"/>
              </a:rPr>
              <a:t> untuk vertikal, </a:t>
            </a:r>
            <a:r>
              <a:rPr lang="en-US" sz="800" dirty="0">
                <a:solidFill>
                  <a:srgbClr val="DCD7E5"/>
                </a:solidFill>
                <a:highlight>
                  <a:srgbClr val="1A1739"/>
                </a:highlight>
                <a:latin typeface="Consolas" pitchFamily="34" charset="0"/>
                <a:ea typeface="Consolas" pitchFamily="34" charset="-122"/>
                <a:cs typeface="Consolas" pitchFamily="34" charset="-120"/>
              </a:rPr>
              <a:t>fillMaxSize()</a:t>
            </a:r>
            <a:r>
              <a:rPr lang="en-US" sz="800" dirty="0">
                <a:solidFill>
                  <a:srgbClr val="DCD7E5"/>
                </a:solidFill>
                <a:latin typeface="Heebo Light" pitchFamily="34" charset="0"/>
                <a:ea typeface="Heebo Light" pitchFamily="34" charset="-122"/>
                <a:cs typeface="Heebo Light" pitchFamily="34" charset="-120"/>
              </a:rPr>
              <a:t> untuk keduanya.</a:t>
            </a:r>
            <a:endParaRPr lang="en-US" sz="80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475" y="3556496"/>
            <a:ext cx="105864" cy="105866"/>
          </a:xfrm>
          <a:prstGeom prst="rect">
            <a:avLst/>
          </a:prstGeom>
        </p:spPr>
      </p:pic>
      <p:sp>
        <p:nvSpPr>
          <p:cNvPr id="17" name="Shape 11"/>
          <p:cNvSpPr/>
          <p:nvPr/>
        </p:nvSpPr>
        <p:spPr>
          <a:xfrm>
            <a:off x="661475" y="3710484"/>
            <a:ext cx="4748788" cy="12700"/>
          </a:xfrm>
          <a:prstGeom prst="rect">
            <a:avLst/>
          </a:prstGeom>
          <a:solidFill>
            <a:srgbClr val="581CA0"/>
          </a:solidFill>
          <a:ln/>
        </p:spPr>
        <p:txBody>
          <a:bodyPr/>
          <a:lstStyle/>
          <a:p>
            <a:endParaRPr lang="en-US"/>
          </a:p>
        </p:txBody>
      </p:sp>
      <p:sp>
        <p:nvSpPr>
          <p:cNvPr id="18" name="Text 12"/>
          <p:cNvSpPr/>
          <p:nvPr/>
        </p:nvSpPr>
        <p:spPr>
          <a:xfrm>
            <a:off x="661475" y="3852168"/>
            <a:ext cx="4748788" cy="165497"/>
          </a:xfrm>
          <a:prstGeom prst="rect">
            <a:avLst/>
          </a:prstGeom>
          <a:noFill/>
          <a:ln/>
        </p:spPr>
        <p:txBody>
          <a:bodyPr wrap="none" lIns="0" tIns="0" rIns="0" bIns="0" rtlCol="0" anchor="t"/>
          <a:lstStyle/>
          <a:p>
            <a:pPr marL="0" indent="0" algn="l">
              <a:lnSpc>
                <a:spcPct val="104000"/>
              </a:lnSpc>
              <a:buNone/>
            </a:pPr>
            <a:r>
              <a:rPr lang="en-US" sz="1000" dirty="0">
                <a:solidFill>
                  <a:srgbClr val="DCD7E5"/>
                </a:solidFill>
                <a:latin typeface="Montserrat" pitchFamily="34" charset="0"/>
                <a:ea typeface="Montserrat" pitchFamily="34" charset="-122"/>
                <a:cs typeface="Montserrat" pitchFamily="34" charset="-120"/>
              </a:rPr>
              <a:t>Modifier.wrapContentSize()</a:t>
            </a:r>
            <a:endParaRPr lang="en-US" sz="1000" dirty="0"/>
          </a:p>
        </p:txBody>
      </p:sp>
      <p:sp>
        <p:nvSpPr>
          <p:cNvPr id="19" name="Text 13"/>
          <p:cNvSpPr/>
          <p:nvPr/>
        </p:nvSpPr>
        <p:spPr>
          <a:xfrm>
            <a:off x="661475" y="4085530"/>
            <a:ext cx="4748788" cy="139005"/>
          </a:xfrm>
          <a:prstGeom prst="rect">
            <a:avLst/>
          </a:prstGeom>
          <a:noFill/>
          <a:ln/>
        </p:spPr>
        <p:txBody>
          <a:bodyPr wrap="none" lIns="0" tIns="0" rIns="0" bIns="0" rtlCol="0" anchor="t"/>
          <a:lstStyle/>
          <a:p>
            <a:pPr marL="0" indent="0" algn="l">
              <a:lnSpc>
                <a:spcPct val="109000"/>
              </a:lnSpc>
              <a:buNone/>
            </a:pPr>
            <a:r>
              <a:rPr lang="en-US" sz="800" dirty="0">
                <a:solidFill>
                  <a:srgbClr val="DCD7E5"/>
                </a:solidFill>
                <a:latin typeface="Heebo Light" pitchFamily="34" charset="0"/>
                <a:ea typeface="Heebo Light" pitchFamily="34" charset="-122"/>
                <a:cs typeface="Heebo Light" pitchFamily="34" charset="-120"/>
              </a:rPr>
              <a:t>Menyesuaikan ukuran dengan konten — tidak lebih besar dari yang dibutuhkan.</a:t>
            </a:r>
            <a:endParaRPr lang="en-US" sz="800" dirty="0"/>
          </a:p>
        </p:txBody>
      </p:sp>
      <p:sp>
        <p:nvSpPr>
          <p:cNvPr id="20" name="Text 14"/>
          <p:cNvSpPr/>
          <p:nvPr/>
        </p:nvSpPr>
        <p:spPr>
          <a:xfrm>
            <a:off x="5674972" y="1031577"/>
            <a:ext cx="5861499" cy="165497"/>
          </a:xfrm>
          <a:prstGeom prst="rect">
            <a:avLst/>
          </a:prstGeom>
          <a:noFill/>
          <a:ln/>
        </p:spPr>
        <p:txBody>
          <a:bodyPr wrap="none" lIns="0" tIns="0" rIns="0" bIns="0" rtlCol="0" anchor="t"/>
          <a:lstStyle/>
          <a:p>
            <a:pPr marL="0" indent="0" algn="l">
              <a:lnSpc>
                <a:spcPct val="104000"/>
              </a:lnSpc>
              <a:buNone/>
            </a:pPr>
            <a:r>
              <a:rPr lang="en-US" sz="1000" dirty="0">
                <a:solidFill>
                  <a:srgbClr val="F2F0F4"/>
                </a:solidFill>
                <a:latin typeface="Montserrat" pitchFamily="34" charset="0"/>
                <a:ea typeface="Montserrat" pitchFamily="34" charset="-122"/>
                <a:cs typeface="Montserrat" pitchFamily="34" charset="-120"/>
              </a:rPr>
              <a:t>Weight &amp; Alignment dalam Praktik</a:t>
            </a:r>
            <a:endParaRPr lang="en-US" sz="1000" dirty="0"/>
          </a:p>
        </p:txBody>
      </p:sp>
      <p:sp>
        <p:nvSpPr>
          <p:cNvPr id="21" name="Shape 15"/>
          <p:cNvSpPr/>
          <p:nvPr/>
        </p:nvSpPr>
        <p:spPr>
          <a:xfrm>
            <a:off x="5674972" y="1273373"/>
            <a:ext cx="5861499" cy="4448373"/>
          </a:xfrm>
          <a:prstGeom prst="roundRect">
            <a:avLst>
              <a:gd name="adj" fmla="val 1000"/>
            </a:avLst>
          </a:prstGeom>
          <a:solidFill>
            <a:srgbClr val="1A1739"/>
          </a:solidFill>
          <a:ln/>
        </p:spPr>
        <p:txBody>
          <a:bodyPr/>
          <a:lstStyle/>
          <a:p>
            <a:endParaRPr lang="en-US"/>
          </a:p>
        </p:txBody>
      </p:sp>
      <p:sp>
        <p:nvSpPr>
          <p:cNvPr id="22" name="Text 16"/>
          <p:cNvSpPr/>
          <p:nvPr/>
        </p:nvSpPr>
        <p:spPr>
          <a:xfrm>
            <a:off x="5802068" y="1379240"/>
            <a:ext cx="5607307" cy="4236641"/>
          </a:xfrm>
          <a:prstGeom prst="rect">
            <a:avLst/>
          </a:prstGeom>
          <a:noFill/>
          <a:ln/>
        </p:spPr>
        <p:txBody>
          <a:bodyPr wrap="square" lIns="0" tIns="0" rIns="0" bIns="0" rtlCol="0" anchor="t">
            <a:normAutofit/>
          </a:bodyPr>
          <a:lstStyle/>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Row {</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Text(</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"Kiri",</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modifier = Modifier.weight(1f)</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Text(</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"Kanan",</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modifier = Modifier.weight(2f)</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 "Kanan" mendapat 2x ruang dari "Kiri"</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 Kiri = 1/3 lebar, Kanan = 2/3 lebar</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a:t>
            </a:r>
            <a:endParaRPr lang="en-US" sz="800" dirty="0"/>
          </a:p>
          <a:p>
            <a:pPr marL="0" indent="0" algn="l">
              <a:lnSpc>
                <a:spcPct val="133000"/>
              </a:lnSpc>
              <a:buNone/>
            </a:pP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Box {</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Text(</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"Tengah",</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modifier = Modifier</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.align(Alignment.Center)</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Text(</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"Pojok",</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modifier = Modifier</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.align(Alignment.BottomEnd)</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    )</a:t>
            </a:r>
            <a:endParaRPr lang="en-US" sz="800" dirty="0"/>
          </a:p>
          <a:p>
            <a:pPr marL="0" indent="0" algn="l">
              <a:lnSpc>
                <a:spcPct val="133000"/>
              </a:lnSpc>
              <a:buNone/>
            </a:pPr>
            <a:r>
              <a:rPr lang="en-US" sz="800" dirty="0">
                <a:solidFill>
                  <a:srgbClr val="7EE787"/>
                </a:solidFill>
                <a:latin typeface="Consolas" pitchFamily="34" charset="0"/>
                <a:ea typeface="Consolas" pitchFamily="34" charset="-122"/>
                <a:cs typeface="Consolas" pitchFamily="34" charset="-120"/>
              </a:rPr>
              <a:t>}</a:t>
            </a:r>
            <a:endParaRPr lang="en-US" sz="800" dirty="0"/>
          </a:p>
        </p:txBody>
      </p:sp>
      <p:sp>
        <p:nvSpPr>
          <p:cNvPr id="23" name="Shape 17"/>
          <p:cNvSpPr/>
          <p:nvPr/>
        </p:nvSpPr>
        <p:spPr>
          <a:xfrm>
            <a:off x="5674972" y="5798046"/>
            <a:ext cx="5861499" cy="452834"/>
          </a:xfrm>
          <a:prstGeom prst="roundRect">
            <a:avLst>
              <a:gd name="adj" fmla="val 9827"/>
            </a:avLst>
          </a:prstGeom>
          <a:solidFill>
            <a:srgbClr val="31136C"/>
          </a:solidFill>
          <a:ln/>
        </p:spPr>
        <p:txBody>
          <a:bodyPr/>
          <a:lstStyle/>
          <a:p>
            <a:endParaRPr lang="en-US"/>
          </a:p>
        </p:txBody>
      </p:sp>
      <p:pic>
        <p:nvPicPr>
          <p:cNvPr id="24" name="Image 4" descr="preencoded.png"/>
          <p:cNvPicPr>
            <a:picLocks noChangeAspect="1"/>
          </p:cNvPicPr>
          <p:nvPr/>
        </p:nvPicPr>
        <p:blipFill>
          <a:blip r:embed="rId7"/>
          <a:stretch>
            <a:fillRect/>
          </a:stretch>
        </p:blipFill>
        <p:spPr>
          <a:xfrm>
            <a:off x="5780836" y="5894884"/>
            <a:ext cx="132355" cy="105866"/>
          </a:xfrm>
          <a:prstGeom prst="rect">
            <a:avLst/>
          </a:prstGeom>
        </p:spPr>
      </p:pic>
      <p:sp>
        <p:nvSpPr>
          <p:cNvPr id="25" name="Text 18"/>
          <p:cNvSpPr/>
          <p:nvPr/>
        </p:nvSpPr>
        <p:spPr>
          <a:xfrm>
            <a:off x="6019054" y="5885458"/>
            <a:ext cx="5411553" cy="278011"/>
          </a:xfrm>
          <a:prstGeom prst="rect">
            <a:avLst/>
          </a:prstGeom>
          <a:noFill/>
          <a:ln/>
        </p:spPr>
        <p:txBody>
          <a:bodyPr wrap="square" lIns="0" tIns="0" rIns="0" bIns="0" rtlCol="0" anchor="t">
            <a:normAutofit/>
          </a:bodyPr>
          <a:lstStyle/>
          <a:p>
            <a:pPr marL="0" indent="0" algn="l">
              <a:lnSpc>
                <a:spcPct val="109000"/>
              </a:lnSpc>
              <a:buNone/>
            </a:pPr>
            <a:r>
              <a:rPr lang="en-US" sz="800" b="1" dirty="0">
                <a:solidFill>
                  <a:srgbClr val="FFFFFF"/>
                </a:solidFill>
                <a:latin typeface="Heebo Bold" pitchFamily="34" charset="0"/>
                <a:ea typeface="Heebo Bold" pitchFamily="34" charset="-122"/>
                <a:cs typeface="Heebo Bold" pitchFamily="34" charset="-120"/>
              </a:rPr>
              <a:t>weight()</a:t>
            </a:r>
            <a:r>
              <a:rPr lang="en-US" sz="800" dirty="0">
                <a:solidFill>
                  <a:srgbClr val="FFFFFF"/>
                </a:solidFill>
                <a:latin typeface="Heebo Light" pitchFamily="34" charset="0"/>
                <a:ea typeface="Heebo Light" pitchFamily="34" charset="-122"/>
                <a:cs typeface="Heebo Light" pitchFamily="34" charset="-120"/>
              </a:rPr>
              <a:t> mendistribusikan ruang yang tersisa secara proporsional setelah elemen tanpa weight mendapat ukuran yang mereka butuhkan.</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7B2EFBC-5EFD-F9BA-A384-C140B0AFC3F4}"/>
              </a:ext>
            </a:extLst>
          </p:cNvPr>
          <p:cNvSpPr/>
          <p:nvPr/>
        </p:nvSpPr>
        <p:spPr>
          <a:xfrm>
            <a:off x="661475" y="530820"/>
            <a:ext cx="10868745" cy="331093"/>
          </a:xfrm>
          <a:prstGeom prst="rect">
            <a:avLst/>
          </a:prstGeom>
          <a:noFill/>
          <a:ln/>
        </p:spPr>
        <p:txBody>
          <a:bodyPr wrap="none" lIns="0" tIns="0" rIns="0" bIns="0" rtlCol="0" anchor="t"/>
          <a:lstStyle/>
          <a:p>
            <a:pPr marL="0" indent="0" algn="l">
              <a:lnSpc>
                <a:spcPct val="104000"/>
              </a:lnSpc>
              <a:buNone/>
            </a:pPr>
            <a:r>
              <a:rPr lang="en-US" sz="2050" dirty="0" err="1">
                <a:solidFill>
                  <a:srgbClr val="F2F0F4"/>
                </a:solidFill>
                <a:latin typeface="Montserrat" pitchFamily="34" charset="0"/>
              </a:rPr>
              <a:t>Contoh</a:t>
            </a:r>
            <a:r>
              <a:rPr lang="en-US" sz="2050" dirty="0">
                <a:solidFill>
                  <a:srgbClr val="F2F0F4"/>
                </a:solidFill>
                <a:latin typeface="Montserrat" pitchFamily="34" charset="0"/>
              </a:rPr>
              <a:t> </a:t>
            </a:r>
            <a:r>
              <a:rPr lang="en-US" sz="2050" i="1" dirty="0">
                <a:solidFill>
                  <a:srgbClr val="F2F0F4"/>
                </a:solidFill>
                <a:latin typeface="Montserrat" pitchFamily="34" charset="0"/>
              </a:rPr>
              <a:t>Source Code </a:t>
            </a:r>
            <a:endParaRPr lang="en-US" sz="2050" dirty="0"/>
          </a:p>
        </p:txBody>
      </p:sp>
      <p:sp>
        <p:nvSpPr>
          <p:cNvPr id="5" name="TextBox 4">
            <a:extLst>
              <a:ext uri="{FF2B5EF4-FFF2-40B4-BE49-F238E27FC236}">
                <a16:creationId xmlns:a16="http://schemas.microsoft.com/office/drawing/2014/main" id="{949BBE5B-5125-3397-3585-CA740115B956}"/>
              </a:ext>
            </a:extLst>
          </p:cNvPr>
          <p:cNvSpPr txBox="1"/>
          <p:nvPr/>
        </p:nvSpPr>
        <p:spPr>
          <a:xfrm>
            <a:off x="3046556" y="5595977"/>
            <a:ext cx="6098582" cy="400110"/>
          </a:xfrm>
          <a:prstGeom prst="rect">
            <a:avLst/>
          </a:prstGeom>
          <a:noFill/>
        </p:spPr>
        <p:txBody>
          <a:bodyPr wrap="square">
            <a:spAutoFit/>
          </a:bodyPr>
          <a:lstStyle/>
          <a:p>
            <a:pPr algn="ctr"/>
            <a:r>
              <a:rPr lang="en-US" sz="2000" dirty="0">
                <a:solidFill>
                  <a:schemeClr val="bg1"/>
                </a:solidFill>
                <a:hlinkClick r:id="rId2"/>
              </a:rPr>
              <a:t>https://github.com/android/compose-samples.git</a:t>
            </a:r>
            <a:endParaRPr lang="en-US" sz="2000" dirty="0">
              <a:solidFill>
                <a:schemeClr val="bg1"/>
              </a:solidFill>
            </a:endParaRPr>
          </a:p>
        </p:txBody>
      </p:sp>
      <p:pic>
        <p:nvPicPr>
          <p:cNvPr id="7" name="Picture 6">
            <a:extLst>
              <a:ext uri="{FF2B5EF4-FFF2-40B4-BE49-F238E27FC236}">
                <a16:creationId xmlns:a16="http://schemas.microsoft.com/office/drawing/2014/main" id="{1C4F8E2B-6505-E044-F0DD-D850665F5296}"/>
              </a:ext>
            </a:extLst>
          </p:cNvPr>
          <p:cNvPicPr>
            <a:picLocks noChangeAspect="1"/>
          </p:cNvPicPr>
          <p:nvPr/>
        </p:nvPicPr>
        <p:blipFill>
          <a:blip r:embed="rId3"/>
          <a:stretch>
            <a:fillRect/>
          </a:stretch>
        </p:blipFill>
        <p:spPr>
          <a:xfrm>
            <a:off x="3562350" y="1803531"/>
            <a:ext cx="5067300" cy="3250938"/>
          </a:xfrm>
          <a:prstGeom prst="rect">
            <a:avLst/>
          </a:prstGeom>
        </p:spPr>
      </p:pic>
    </p:spTree>
    <p:extLst>
      <p:ext uri="{BB962C8B-B14F-4D97-AF65-F5344CB8AC3E}">
        <p14:creationId xmlns:p14="http://schemas.microsoft.com/office/powerpoint/2010/main" val="32264168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61475" y="572195"/>
            <a:ext cx="10868745" cy="436066"/>
          </a:xfrm>
          <a:prstGeom prst="rect">
            <a:avLst/>
          </a:prstGeom>
          <a:noFill/>
          <a:ln/>
        </p:spPr>
        <p:txBody>
          <a:bodyPr wrap="none" lIns="0" tIns="0" rIns="0" bIns="0" rtlCol="0" anchor="t"/>
          <a:lstStyle/>
          <a:p>
            <a:pPr marL="0" indent="0" algn="l">
              <a:lnSpc>
                <a:spcPct val="104000"/>
              </a:lnSpc>
              <a:buNone/>
            </a:pPr>
            <a:r>
              <a:rPr lang="en-US" sz="2700" dirty="0">
                <a:solidFill>
                  <a:srgbClr val="F2F0F4"/>
                </a:solidFill>
                <a:latin typeface="Montserrat" pitchFamily="34" charset="0"/>
                <a:ea typeface="Montserrat" pitchFamily="34" charset="-122"/>
                <a:cs typeface="Montserrat" pitchFamily="34" charset="-120"/>
              </a:rPr>
              <a:t>Kesimpulan</a:t>
            </a:r>
            <a:endParaRPr lang="en-US" sz="2700" dirty="0"/>
          </a:p>
        </p:txBody>
      </p:sp>
      <p:sp>
        <p:nvSpPr>
          <p:cNvPr id="3" name="Text 1"/>
          <p:cNvSpPr/>
          <p:nvPr/>
        </p:nvSpPr>
        <p:spPr>
          <a:xfrm>
            <a:off x="661475" y="1243707"/>
            <a:ext cx="11478330" cy="205879"/>
          </a:xfrm>
          <a:prstGeom prst="rect">
            <a:avLst/>
          </a:prstGeom>
          <a:noFill/>
          <a:ln/>
        </p:spPr>
        <p:txBody>
          <a:bodyPr wrap="none" lIns="0" tIns="0" rIns="0" bIns="0" rtlCol="0" anchor="t"/>
          <a:lstStyle/>
          <a:p>
            <a:pPr marL="0" indent="0" algn="l">
              <a:lnSpc>
                <a:spcPct val="123000"/>
              </a:lnSpc>
              <a:buNone/>
            </a:pPr>
            <a:r>
              <a:rPr lang="en-US" sz="1050" dirty="0">
                <a:solidFill>
                  <a:srgbClr val="DCD7E5"/>
                </a:solidFill>
                <a:latin typeface="Heebo Light" pitchFamily="34" charset="0"/>
                <a:ea typeface="Heebo Light" pitchFamily="34" charset="-122"/>
                <a:cs typeface="Heebo Light" pitchFamily="34" charset="-120"/>
              </a:rPr>
              <a:t>Lima konsep inti yang harus dikuasai dari Pertemuan 2 — fondasi untuk membangun UI Android modern dengan Jetpack Compose.</a:t>
            </a:r>
            <a:endParaRPr lang="en-US" sz="1050" dirty="0"/>
          </a:p>
        </p:txBody>
      </p:sp>
      <p:sp>
        <p:nvSpPr>
          <p:cNvPr id="4" name="Shape 2"/>
          <p:cNvSpPr/>
          <p:nvPr/>
        </p:nvSpPr>
        <p:spPr>
          <a:xfrm>
            <a:off x="661475" y="1582043"/>
            <a:ext cx="313920" cy="313928"/>
          </a:xfrm>
          <a:prstGeom prst="roundRect">
            <a:avLst>
              <a:gd name="adj" fmla="val 18671"/>
            </a:avLst>
          </a:prstGeom>
          <a:solidFill>
            <a:srgbClr val="31136C"/>
          </a:solidFill>
          <a:ln w="6350">
            <a:solidFill>
              <a:srgbClr val="4A2C85"/>
            </a:solidFill>
            <a:prstDash val="solid"/>
          </a:ln>
        </p:spPr>
        <p:txBody>
          <a:bodyPr/>
          <a:lstStyle/>
          <a:p>
            <a:endParaRPr lang="en-US"/>
          </a:p>
        </p:txBody>
      </p:sp>
      <p:sp>
        <p:nvSpPr>
          <p:cNvPr id="5" name="Text 3"/>
          <p:cNvSpPr/>
          <p:nvPr/>
        </p:nvSpPr>
        <p:spPr>
          <a:xfrm>
            <a:off x="713811" y="1608187"/>
            <a:ext cx="209247" cy="261640"/>
          </a:xfrm>
          <a:prstGeom prst="rect">
            <a:avLst/>
          </a:prstGeom>
          <a:noFill/>
          <a:ln/>
        </p:spPr>
        <p:txBody>
          <a:bodyPr wrap="none" lIns="0" tIns="0" rIns="0" bIns="0" rtlCol="0" anchor="ctr"/>
          <a:lstStyle/>
          <a:p>
            <a:pPr marL="0" indent="0" algn="ctr">
              <a:lnSpc>
                <a:spcPct val="100000"/>
              </a:lnSpc>
              <a:buNone/>
            </a:pPr>
            <a:r>
              <a:rPr lang="en-US" sz="1600" dirty="0">
                <a:solidFill>
                  <a:srgbClr val="DCD7E5"/>
                </a:solidFill>
                <a:latin typeface="Montserrat" pitchFamily="34" charset="0"/>
                <a:ea typeface="Montserrat" pitchFamily="34" charset="-122"/>
                <a:cs typeface="Montserrat" pitchFamily="34" charset="-120"/>
              </a:rPr>
              <a:t>1</a:t>
            </a:r>
            <a:endParaRPr lang="en-US" sz="1600" dirty="0"/>
          </a:p>
        </p:txBody>
      </p:sp>
      <p:sp>
        <p:nvSpPr>
          <p:cNvPr id="6" name="Text 4"/>
          <p:cNvSpPr/>
          <p:nvPr/>
        </p:nvSpPr>
        <p:spPr>
          <a:xfrm>
            <a:off x="1093066" y="1629966"/>
            <a:ext cx="10437155" cy="217984"/>
          </a:xfrm>
          <a:prstGeom prst="rect">
            <a:avLst/>
          </a:prstGeom>
          <a:noFill/>
          <a:ln/>
        </p:spPr>
        <p:txBody>
          <a:bodyPr wrap="none" lIns="0" tIns="0" rIns="0" bIns="0" rtlCol="0" anchor="t"/>
          <a:lstStyle/>
          <a:p>
            <a:pPr marL="0" indent="0" algn="l">
              <a:lnSpc>
                <a:spcPct val="104000"/>
              </a:lnSpc>
              <a:buNone/>
            </a:pPr>
            <a:r>
              <a:rPr lang="en-US" sz="1350" dirty="0">
                <a:solidFill>
                  <a:srgbClr val="DCD7E5"/>
                </a:solidFill>
                <a:latin typeface="Montserrat" pitchFamily="34" charset="0"/>
                <a:ea typeface="Montserrat" pitchFamily="34" charset="-122"/>
                <a:cs typeface="Montserrat" pitchFamily="34" charset="-120"/>
              </a:rPr>
              <a:t>Paradigma Deklaratif</a:t>
            </a:r>
            <a:endParaRPr lang="en-US" sz="1350" dirty="0"/>
          </a:p>
        </p:txBody>
      </p:sp>
      <p:sp>
        <p:nvSpPr>
          <p:cNvPr id="7" name="Text 5"/>
          <p:cNvSpPr/>
          <p:nvPr/>
        </p:nvSpPr>
        <p:spPr>
          <a:xfrm>
            <a:off x="1093066" y="1918593"/>
            <a:ext cx="10437155"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DCD7E5"/>
                </a:solidFill>
                <a:latin typeface="Heebo Light" pitchFamily="34" charset="0"/>
                <a:ea typeface="Heebo Light" pitchFamily="34" charset="-122"/>
                <a:cs typeface="Heebo Light" pitchFamily="34" charset="-120"/>
              </a:rPr>
              <a:t>Compose mengadopsi </a:t>
            </a:r>
            <a:r>
              <a:rPr lang="en-US" sz="1050" b="1" dirty="0">
                <a:solidFill>
                  <a:srgbClr val="DCD7E5"/>
                </a:solidFill>
                <a:latin typeface="Heebo Bold" pitchFamily="34" charset="0"/>
                <a:ea typeface="Heebo Bold" pitchFamily="34" charset="-122"/>
                <a:cs typeface="Heebo Bold" pitchFamily="34" charset="-120"/>
              </a:rPr>
              <a:t>UI = f(State)</a:t>
            </a:r>
            <a:r>
              <a:rPr lang="en-US" sz="1050" dirty="0">
                <a:solidFill>
                  <a:srgbClr val="DCD7E5"/>
                </a:solidFill>
                <a:latin typeface="Heebo Light" pitchFamily="34" charset="0"/>
                <a:ea typeface="Heebo Light" pitchFamily="34" charset="-122"/>
                <a:cs typeface="Heebo Light" pitchFamily="34" charset="-120"/>
              </a:rPr>
              <a:t> — lebih prediktif dan mudah di-maintain dibanding XML imperatif. State berubah, UI menyesuaikan secara otomatis tanpa manipulasi manual.</a:t>
            </a:r>
            <a:endParaRPr lang="en-US" sz="1050" dirty="0"/>
          </a:p>
        </p:txBody>
      </p:sp>
      <p:sp>
        <p:nvSpPr>
          <p:cNvPr id="8" name="Shape 6"/>
          <p:cNvSpPr/>
          <p:nvPr/>
        </p:nvSpPr>
        <p:spPr>
          <a:xfrm>
            <a:off x="661475" y="2565797"/>
            <a:ext cx="313920" cy="313928"/>
          </a:xfrm>
          <a:prstGeom prst="roundRect">
            <a:avLst>
              <a:gd name="adj" fmla="val 18671"/>
            </a:avLst>
          </a:prstGeom>
          <a:solidFill>
            <a:srgbClr val="31136C"/>
          </a:solidFill>
          <a:ln w="6350">
            <a:solidFill>
              <a:srgbClr val="4A2C85"/>
            </a:solidFill>
            <a:prstDash val="solid"/>
          </a:ln>
        </p:spPr>
        <p:txBody>
          <a:bodyPr/>
          <a:lstStyle/>
          <a:p>
            <a:endParaRPr lang="en-US"/>
          </a:p>
        </p:txBody>
      </p:sp>
      <p:sp>
        <p:nvSpPr>
          <p:cNvPr id="9" name="Text 7"/>
          <p:cNvSpPr/>
          <p:nvPr/>
        </p:nvSpPr>
        <p:spPr>
          <a:xfrm>
            <a:off x="713811" y="2591941"/>
            <a:ext cx="209247" cy="261640"/>
          </a:xfrm>
          <a:prstGeom prst="rect">
            <a:avLst/>
          </a:prstGeom>
          <a:noFill/>
          <a:ln/>
        </p:spPr>
        <p:txBody>
          <a:bodyPr wrap="none" lIns="0" tIns="0" rIns="0" bIns="0" rtlCol="0" anchor="ctr"/>
          <a:lstStyle/>
          <a:p>
            <a:pPr marL="0" indent="0" algn="ctr">
              <a:lnSpc>
                <a:spcPct val="100000"/>
              </a:lnSpc>
              <a:buNone/>
            </a:pPr>
            <a:r>
              <a:rPr lang="en-US" sz="1600" dirty="0">
                <a:solidFill>
                  <a:srgbClr val="DCD7E5"/>
                </a:solidFill>
                <a:latin typeface="Montserrat" pitchFamily="34" charset="0"/>
                <a:ea typeface="Montserrat" pitchFamily="34" charset="-122"/>
                <a:cs typeface="Montserrat" pitchFamily="34" charset="-120"/>
              </a:rPr>
              <a:t>2</a:t>
            </a:r>
            <a:endParaRPr lang="en-US" sz="1600" dirty="0"/>
          </a:p>
        </p:txBody>
      </p:sp>
      <p:sp>
        <p:nvSpPr>
          <p:cNvPr id="10" name="Text 8"/>
          <p:cNvSpPr/>
          <p:nvPr/>
        </p:nvSpPr>
        <p:spPr>
          <a:xfrm>
            <a:off x="1093066" y="2613720"/>
            <a:ext cx="10437155" cy="217984"/>
          </a:xfrm>
          <a:prstGeom prst="rect">
            <a:avLst/>
          </a:prstGeom>
          <a:noFill/>
          <a:ln/>
        </p:spPr>
        <p:txBody>
          <a:bodyPr wrap="none" lIns="0" tIns="0" rIns="0" bIns="0" rtlCol="0" anchor="t"/>
          <a:lstStyle/>
          <a:p>
            <a:pPr marL="0" indent="0" algn="l">
              <a:lnSpc>
                <a:spcPct val="104000"/>
              </a:lnSpc>
              <a:buNone/>
            </a:pPr>
            <a:r>
              <a:rPr lang="en-US" sz="1350" dirty="0">
                <a:solidFill>
                  <a:srgbClr val="DCD7E5"/>
                </a:solidFill>
                <a:latin typeface="Montserrat" pitchFamily="34" charset="0"/>
                <a:ea typeface="Montserrat" pitchFamily="34" charset="-122"/>
                <a:cs typeface="Montserrat" pitchFamily="34" charset="-120"/>
              </a:rPr>
              <a:t>@Composable &amp; Recomposition</a:t>
            </a:r>
            <a:endParaRPr lang="en-US" sz="1350" dirty="0"/>
          </a:p>
        </p:txBody>
      </p:sp>
      <p:sp>
        <p:nvSpPr>
          <p:cNvPr id="11" name="Text 9"/>
          <p:cNvSpPr/>
          <p:nvPr/>
        </p:nvSpPr>
        <p:spPr>
          <a:xfrm>
            <a:off x="1093066" y="2902347"/>
            <a:ext cx="10437155"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DCD7E5"/>
                </a:solidFill>
                <a:latin typeface="Heebo Light" pitchFamily="34" charset="0"/>
                <a:ea typeface="Heebo Light" pitchFamily="34" charset="-122"/>
                <a:cs typeface="Heebo Light" pitchFamily="34" charset="-120"/>
              </a:rPr>
              <a:t>Fungsi UI yang cerdas — hanya bagian yang terpengaruh perubahan state yang dieksekusi ulang. Ini menjadikan Compose efisien secara performa dibanding invalidasi pohon view penuh.</a:t>
            </a:r>
            <a:endParaRPr lang="en-US" sz="1050" dirty="0"/>
          </a:p>
        </p:txBody>
      </p:sp>
      <p:sp>
        <p:nvSpPr>
          <p:cNvPr id="12" name="Shape 10"/>
          <p:cNvSpPr/>
          <p:nvPr/>
        </p:nvSpPr>
        <p:spPr>
          <a:xfrm>
            <a:off x="661475" y="3549551"/>
            <a:ext cx="313920" cy="313928"/>
          </a:xfrm>
          <a:prstGeom prst="roundRect">
            <a:avLst>
              <a:gd name="adj" fmla="val 18671"/>
            </a:avLst>
          </a:prstGeom>
          <a:solidFill>
            <a:srgbClr val="31136C"/>
          </a:solidFill>
          <a:ln w="6350">
            <a:solidFill>
              <a:srgbClr val="4A2C85"/>
            </a:solidFill>
            <a:prstDash val="solid"/>
          </a:ln>
        </p:spPr>
        <p:txBody>
          <a:bodyPr/>
          <a:lstStyle/>
          <a:p>
            <a:endParaRPr lang="en-US"/>
          </a:p>
        </p:txBody>
      </p:sp>
      <p:sp>
        <p:nvSpPr>
          <p:cNvPr id="13" name="Text 11"/>
          <p:cNvSpPr/>
          <p:nvPr/>
        </p:nvSpPr>
        <p:spPr>
          <a:xfrm>
            <a:off x="713811" y="3575695"/>
            <a:ext cx="209247" cy="261640"/>
          </a:xfrm>
          <a:prstGeom prst="rect">
            <a:avLst/>
          </a:prstGeom>
          <a:noFill/>
          <a:ln/>
        </p:spPr>
        <p:txBody>
          <a:bodyPr wrap="none" lIns="0" tIns="0" rIns="0" bIns="0" rtlCol="0" anchor="ctr"/>
          <a:lstStyle/>
          <a:p>
            <a:pPr marL="0" indent="0" algn="ctr">
              <a:lnSpc>
                <a:spcPct val="100000"/>
              </a:lnSpc>
              <a:buNone/>
            </a:pPr>
            <a:r>
              <a:rPr lang="en-US" sz="1600" dirty="0">
                <a:solidFill>
                  <a:srgbClr val="DCD7E5"/>
                </a:solidFill>
                <a:latin typeface="Montserrat" pitchFamily="34" charset="0"/>
                <a:ea typeface="Montserrat" pitchFamily="34" charset="-122"/>
                <a:cs typeface="Montserrat" pitchFamily="34" charset="-120"/>
              </a:rPr>
              <a:t>3</a:t>
            </a:r>
            <a:endParaRPr lang="en-US" sz="1600" dirty="0"/>
          </a:p>
        </p:txBody>
      </p:sp>
      <p:sp>
        <p:nvSpPr>
          <p:cNvPr id="14" name="Text 12"/>
          <p:cNvSpPr/>
          <p:nvPr/>
        </p:nvSpPr>
        <p:spPr>
          <a:xfrm>
            <a:off x="1093066" y="3597473"/>
            <a:ext cx="10437155" cy="217984"/>
          </a:xfrm>
          <a:prstGeom prst="rect">
            <a:avLst/>
          </a:prstGeom>
          <a:noFill/>
          <a:ln/>
        </p:spPr>
        <p:txBody>
          <a:bodyPr wrap="none" lIns="0" tIns="0" rIns="0" bIns="0" rtlCol="0" anchor="t"/>
          <a:lstStyle/>
          <a:p>
            <a:pPr marL="0" indent="0" algn="l">
              <a:lnSpc>
                <a:spcPct val="104000"/>
              </a:lnSpc>
              <a:buNone/>
            </a:pPr>
            <a:r>
              <a:rPr lang="en-US" sz="1350" dirty="0">
                <a:solidFill>
                  <a:srgbClr val="DCD7E5"/>
                </a:solidFill>
                <a:latin typeface="Montserrat" pitchFamily="34" charset="0"/>
                <a:ea typeface="Montserrat" pitchFamily="34" charset="-122"/>
                <a:cs typeface="Montserrat" pitchFamily="34" charset="-120"/>
              </a:rPr>
              <a:t>Column, Row, Box</a:t>
            </a:r>
            <a:endParaRPr lang="en-US" sz="1350" dirty="0"/>
          </a:p>
        </p:txBody>
      </p:sp>
      <p:sp>
        <p:nvSpPr>
          <p:cNvPr id="15" name="Text 13"/>
          <p:cNvSpPr/>
          <p:nvPr/>
        </p:nvSpPr>
        <p:spPr>
          <a:xfrm>
            <a:off x="1093066" y="3886101"/>
            <a:ext cx="10437155" cy="205879"/>
          </a:xfrm>
          <a:prstGeom prst="rect">
            <a:avLst/>
          </a:prstGeom>
          <a:noFill/>
          <a:ln/>
        </p:spPr>
        <p:txBody>
          <a:bodyPr wrap="none" lIns="0" tIns="0" rIns="0" bIns="0" rtlCol="0" anchor="t"/>
          <a:lstStyle/>
          <a:p>
            <a:pPr marL="0" indent="0" algn="l">
              <a:lnSpc>
                <a:spcPct val="123000"/>
              </a:lnSpc>
              <a:buNone/>
            </a:pPr>
            <a:r>
              <a:rPr lang="en-US" sz="1050" dirty="0">
                <a:solidFill>
                  <a:srgbClr val="DCD7E5"/>
                </a:solidFill>
                <a:latin typeface="Heebo Light" pitchFamily="34" charset="0"/>
                <a:ea typeface="Heebo Light" pitchFamily="34" charset="-122"/>
                <a:cs typeface="Heebo Light" pitchFamily="34" charset="-120"/>
              </a:rPr>
              <a:t>Tiga pilar layout yang mencakup ~75% kebutuhan tata letak UI Android. Column untuk vertikal, Row untuk horizontal, Box untuk overlay dan tumpukan Z-axis.</a:t>
            </a:r>
            <a:endParaRPr lang="en-US" sz="1050" dirty="0"/>
          </a:p>
        </p:txBody>
      </p:sp>
      <p:sp>
        <p:nvSpPr>
          <p:cNvPr id="16" name="Shape 14"/>
          <p:cNvSpPr/>
          <p:nvPr/>
        </p:nvSpPr>
        <p:spPr>
          <a:xfrm>
            <a:off x="661475" y="4327426"/>
            <a:ext cx="313920" cy="313928"/>
          </a:xfrm>
          <a:prstGeom prst="roundRect">
            <a:avLst>
              <a:gd name="adj" fmla="val 18671"/>
            </a:avLst>
          </a:prstGeom>
          <a:solidFill>
            <a:srgbClr val="31136C"/>
          </a:solidFill>
          <a:ln w="6350">
            <a:solidFill>
              <a:srgbClr val="4A2C85"/>
            </a:solidFill>
            <a:prstDash val="solid"/>
          </a:ln>
        </p:spPr>
        <p:txBody>
          <a:bodyPr/>
          <a:lstStyle/>
          <a:p>
            <a:endParaRPr lang="en-US"/>
          </a:p>
        </p:txBody>
      </p:sp>
      <p:sp>
        <p:nvSpPr>
          <p:cNvPr id="17" name="Text 15"/>
          <p:cNvSpPr/>
          <p:nvPr/>
        </p:nvSpPr>
        <p:spPr>
          <a:xfrm>
            <a:off x="713811" y="4353570"/>
            <a:ext cx="209247" cy="261640"/>
          </a:xfrm>
          <a:prstGeom prst="rect">
            <a:avLst/>
          </a:prstGeom>
          <a:noFill/>
          <a:ln/>
        </p:spPr>
        <p:txBody>
          <a:bodyPr wrap="none" lIns="0" tIns="0" rIns="0" bIns="0" rtlCol="0" anchor="ctr"/>
          <a:lstStyle/>
          <a:p>
            <a:pPr marL="0" indent="0" algn="ctr">
              <a:lnSpc>
                <a:spcPct val="100000"/>
              </a:lnSpc>
              <a:buNone/>
            </a:pPr>
            <a:r>
              <a:rPr lang="en-US" sz="1600" dirty="0">
                <a:solidFill>
                  <a:srgbClr val="DCD7E5"/>
                </a:solidFill>
                <a:latin typeface="Montserrat" pitchFamily="34" charset="0"/>
                <a:ea typeface="Montserrat" pitchFamily="34" charset="-122"/>
                <a:cs typeface="Montserrat" pitchFamily="34" charset="-120"/>
              </a:rPr>
              <a:t>4</a:t>
            </a:r>
            <a:endParaRPr lang="en-US" sz="1600" dirty="0"/>
          </a:p>
        </p:txBody>
      </p:sp>
      <p:sp>
        <p:nvSpPr>
          <p:cNvPr id="18" name="Text 16"/>
          <p:cNvSpPr/>
          <p:nvPr/>
        </p:nvSpPr>
        <p:spPr>
          <a:xfrm>
            <a:off x="1093066" y="4375348"/>
            <a:ext cx="10437155" cy="217984"/>
          </a:xfrm>
          <a:prstGeom prst="rect">
            <a:avLst/>
          </a:prstGeom>
          <a:noFill/>
          <a:ln/>
        </p:spPr>
        <p:txBody>
          <a:bodyPr wrap="none" lIns="0" tIns="0" rIns="0" bIns="0" rtlCol="0" anchor="t"/>
          <a:lstStyle/>
          <a:p>
            <a:pPr marL="0" indent="0" algn="l">
              <a:lnSpc>
                <a:spcPct val="104000"/>
              </a:lnSpc>
              <a:buNone/>
            </a:pPr>
            <a:r>
              <a:rPr lang="en-US" sz="1350" dirty="0">
                <a:solidFill>
                  <a:srgbClr val="DCD7E5"/>
                </a:solidFill>
                <a:latin typeface="Montserrat" pitchFamily="34" charset="0"/>
                <a:ea typeface="Montserrat" pitchFamily="34" charset="-122"/>
                <a:cs typeface="Montserrat" pitchFamily="34" charset="-120"/>
              </a:rPr>
              <a:t>Arrangement vs Alignment</a:t>
            </a:r>
            <a:endParaRPr lang="en-US" sz="1350" dirty="0"/>
          </a:p>
        </p:txBody>
      </p:sp>
      <p:sp>
        <p:nvSpPr>
          <p:cNvPr id="19" name="Text 17"/>
          <p:cNvSpPr/>
          <p:nvPr/>
        </p:nvSpPr>
        <p:spPr>
          <a:xfrm>
            <a:off x="1093066" y="4663976"/>
            <a:ext cx="10437155" cy="205879"/>
          </a:xfrm>
          <a:prstGeom prst="rect">
            <a:avLst/>
          </a:prstGeom>
          <a:noFill/>
          <a:ln/>
        </p:spPr>
        <p:txBody>
          <a:bodyPr wrap="none" lIns="0" tIns="0" rIns="0" bIns="0" rtlCol="0" anchor="t"/>
          <a:lstStyle/>
          <a:p>
            <a:pPr marL="0" indent="0" algn="l">
              <a:lnSpc>
                <a:spcPct val="123000"/>
              </a:lnSpc>
              <a:buNone/>
            </a:pPr>
            <a:r>
              <a:rPr lang="en-US" sz="1050" dirty="0">
                <a:solidFill>
                  <a:srgbClr val="DCD7E5"/>
                </a:solidFill>
                <a:latin typeface="Heebo Light" pitchFamily="34" charset="0"/>
                <a:ea typeface="Heebo Light" pitchFamily="34" charset="-122"/>
                <a:cs typeface="Heebo Light" pitchFamily="34" charset="-120"/>
              </a:rPr>
              <a:t>Arrangement mengatur sebaran pada </a:t>
            </a:r>
            <a:r>
              <a:rPr lang="en-US" sz="1050" i="1" dirty="0">
                <a:solidFill>
                  <a:srgbClr val="DCD7E5"/>
                </a:solidFill>
                <a:latin typeface="Heebo Light" pitchFamily="34" charset="0"/>
                <a:ea typeface="Heebo Light" pitchFamily="34" charset="-122"/>
                <a:cs typeface="Heebo Light" pitchFamily="34" charset="-120"/>
              </a:rPr>
              <a:t>main axis</a:t>
            </a:r>
            <a:r>
              <a:rPr lang="en-US" sz="1050" dirty="0">
                <a:solidFill>
                  <a:srgbClr val="DCD7E5"/>
                </a:solidFill>
                <a:latin typeface="Heebo Light" pitchFamily="34" charset="0"/>
                <a:ea typeface="Heebo Light" pitchFamily="34" charset="-122"/>
                <a:cs typeface="Heebo Light" pitchFamily="34" charset="-120"/>
              </a:rPr>
              <a:t>; Alignment mengatur posisi pada </a:t>
            </a:r>
            <a:r>
              <a:rPr lang="en-US" sz="1050" i="1" dirty="0">
                <a:solidFill>
                  <a:srgbClr val="DCD7E5"/>
                </a:solidFill>
                <a:latin typeface="Heebo Light" pitchFamily="34" charset="0"/>
                <a:ea typeface="Heebo Light" pitchFamily="34" charset="-122"/>
                <a:cs typeface="Heebo Light" pitchFamily="34" charset="-120"/>
              </a:rPr>
              <a:t>cross axis</a:t>
            </a:r>
            <a:r>
              <a:rPr lang="en-US" sz="1050" dirty="0">
                <a:solidFill>
                  <a:srgbClr val="DCD7E5"/>
                </a:solidFill>
                <a:latin typeface="Heebo Light" pitchFamily="34" charset="0"/>
                <a:ea typeface="Heebo Light" pitchFamily="34" charset="-122"/>
                <a:cs typeface="Heebo Light" pitchFamily="34" charset="-120"/>
              </a:rPr>
              <a:t>. Keduanya bekerja bersama untuk kontrol tata letak yang presisi.</a:t>
            </a:r>
            <a:endParaRPr lang="en-US" sz="1050" dirty="0"/>
          </a:p>
        </p:txBody>
      </p:sp>
      <p:sp>
        <p:nvSpPr>
          <p:cNvPr id="20" name="Shape 18"/>
          <p:cNvSpPr/>
          <p:nvPr/>
        </p:nvSpPr>
        <p:spPr>
          <a:xfrm>
            <a:off x="661475" y="5105301"/>
            <a:ext cx="313920" cy="313928"/>
          </a:xfrm>
          <a:prstGeom prst="roundRect">
            <a:avLst>
              <a:gd name="adj" fmla="val 18671"/>
            </a:avLst>
          </a:prstGeom>
          <a:solidFill>
            <a:srgbClr val="31136C"/>
          </a:solidFill>
          <a:ln w="6350">
            <a:solidFill>
              <a:srgbClr val="4A2C85"/>
            </a:solidFill>
            <a:prstDash val="solid"/>
          </a:ln>
        </p:spPr>
        <p:txBody>
          <a:bodyPr/>
          <a:lstStyle/>
          <a:p>
            <a:endParaRPr lang="en-US"/>
          </a:p>
        </p:txBody>
      </p:sp>
      <p:sp>
        <p:nvSpPr>
          <p:cNvPr id="21" name="Text 19"/>
          <p:cNvSpPr/>
          <p:nvPr/>
        </p:nvSpPr>
        <p:spPr>
          <a:xfrm>
            <a:off x="713811" y="5131445"/>
            <a:ext cx="209247" cy="261640"/>
          </a:xfrm>
          <a:prstGeom prst="rect">
            <a:avLst/>
          </a:prstGeom>
          <a:noFill/>
          <a:ln/>
        </p:spPr>
        <p:txBody>
          <a:bodyPr wrap="none" lIns="0" tIns="0" rIns="0" bIns="0" rtlCol="0" anchor="ctr"/>
          <a:lstStyle/>
          <a:p>
            <a:pPr marL="0" indent="0" algn="ctr">
              <a:lnSpc>
                <a:spcPct val="100000"/>
              </a:lnSpc>
              <a:buNone/>
            </a:pPr>
            <a:r>
              <a:rPr lang="en-US" sz="1600" dirty="0">
                <a:solidFill>
                  <a:srgbClr val="DCD7E5"/>
                </a:solidFill>
                <a:latin typeface="Montserrat" pitchFamily="34" charset="0"/>
                <a:ea typeface="Montserrat" pitchFamily="34" charset="-122"/>
                <a:cs typeface="Montserrat" pitchFamily="34" charset="-120"/>
              </a:rPr>
              <a:t>5</a:t>
            </a:r>
            <a:endParaRPr lang="en-US" sz="1600" dirty="0"/>
          </a:p>
        </p:txBody>
      </p:sp>
      <p:sp>
        <p:nvSpPr>
          <p:cNvPr id="22" name="Text 20"/>
          <p:cNvSpPr/>
          <p:nvPr/>
        </p:nvSpPr>
        <p:spPr>
          <a:xfrm>
            <a:off x="1093066" y="5153223"/>
            <a:ext cx="10437155" cy="217984"/>
          </a:xfrm>
          <a:prstGeom prst="rect">
            <a:avLst/>
          </a:prstGeom>
          <a:noFill/>
          <a:ln/>
        </p:spPr>
        <p:txBody>
          <a:bodyPr wrap="none" lIns="0" tIns="0" rIns="0" bIns="0" rtlCol="0" anchor="t"/>
          <a:lstStyle/>
          <a:p>
            <a:pPr marL="0" indent="0" algn="l">
              <a:lnSpc>
                <a:spcPct val="104000"/>
              </a:lnSpc>
              <a:buNone/>
            </a:pPr>
            <a:r>
              <a:rPr lang="en-US" sz="1350" dirty="0">
                <a:solidFill>
                  <a:srgbClr val="DCD7E5"/>
                </a:solidFill>
                <a:latin typeface="Montserrat" pitchFamily="34" charset="0"/>
                <a:ea typeface="Montserrat" pitchFamily="34" charset="-122"/>
                <a:cs typeface="Montserrat" pitchFamily="34" charset="-120"/>
              </a:rPr>
              <a:t>Modifier &amp; Order</a:t>
            </a:r>
            <a:endParaRPr lang="en-US" sz="1350" dirty="0"/>
          </a:p>
        </p:txBody>
      </p:sp>
      <p:sp>
        <p:nvSpPr>
          <p:cNvPr id="23" name="Text 21"/>
          <p:cNvSpPr/>
          <p:nvPr/>
        </p:nvSpPr>
        <p:spPr>
          <a:xfrm>
            <a:off x="1093066" y="5441851"/>
            <a:ext cx="10437155" cy="205879"/>
          </a:xfrm>
          <a:prstGeom prst="rect">
            <a:avLst/>
          </a:prstGeom>
          <a:noFill/>
          <a:ln/>
        </p:spPr>
        <p:txBody>
          <a:bodyPr wrap="none" lIns="0" tIns="0" rIns="0" bIns="0" rtlCol="0" anchor="t"/>
          <a:lstStyle/>
          <a:p>
            <a:pPr marL="0" indent="0" algn="l">
              <a:lnSpc>
                <a:spcPct val="123000"/>
              </a:lnSpc>
              <a:buNone/>
            </a:pPr>
            <a:r>
              <a:rPr lang="en-US" sz="1050" dirty="0">
                <a:solidFill>
                  <a:srgbClr val="DCD7E5"/>
                </a:solidFill>
                <a:latin typeface="Heebo Light" pitchFamily="34" charset="0"/>
                <a:ea typeface="Heebo Light" pitchFamily="34" charset="-122"/>
                <a:cs typeface="Heebo Light" pitchFamily="34" charset="-120"/>
              </a:rPr>
              <a:t>Urutan penulisan modifier bersifat kritis — menentukan hasil visual secara langsung. Scope safety memastikan modifier hanya tersedia dalam konteks layout yang tepat.</a:t>
            </a:r>
            <a:endParaRPr lang="en-US" sz="1050" dirty="0"/>
          </a:p>
        </p:txBody>
      </p:sp>
      <p:sp>
        <p:nvSpPr>
          <p:cNvPr id="24" name="Shape 22"/>
          <p:cNvSpPr/>
          <p:nvPr/>
        </p:nvSpPr>
        <p:spPr>
          <a:xfrm>
            <a:off x="661475" y="5780187"/>
            <a:ext cx="10868745" cy="505520"/>
          </a:xfrm>
          <a:prstGeom prst="roundRect">
            <a:avLst>
              <a:gd name="adj" fmla="val 11594"/>
            </a:avLst>
          </a:prstGeom>
          <a:solidFill>
            <a:srgbClr val="31136C"/>
          </a:solidFill>
          <a:ln/>
        </p:spPr>
        <p:txBody>
          <a:bodyPr/>
          <a:lstStyle/>
          <a:p>
            <a:endParaRPr lang="en-US"/>
          </a:p>
        </p:txBody>
      </p:sp>
      <p:pic>
        <p:nvPicPr>
          <p:cNvPr id="25" name="Image 0" descr="preencoded.png"/>
          <p:cNvPicPr>
            <a:picLocks noChangeAspect="1"/>
          </p:cNvPicPr>
          <p:nvPr/>
        </p:nvPicPr>
        <p:blipFill>
          <a:blip r:embed="rId3"/>
          <a:stretch>
            <a:fillRect/>
          </a:stretch>
        </p:blipFill>
        <p:spPr>
          <a:xfrm>
            <a:off x="800973" y="5950248"/>
            <a:ext cx="174422" cy="139502"/>
          </a:xfrm>
          <a:prstGeom prst="rect">
            <a:avLst/>
          </a:prstGeom>
        </p:spPr>
      </p:pic>
      <p:sp>
        <p:nvSpPr>
          <p:cNvPr id="26" name="Text 23"/>
          <p:cNvSpPr/>
          <p:nvPr/>
        </p:nvSpPr>
        <p:spPr>
          <a:xfrm>
            <a:off x="1114893" y="5932686"/>
            <a:ext cx="10885414" cy="212229"/>
          </a:xfrm>
          <a:prstGeom prst="rect">
            <a:avLst/>
          </a:prstGeom>
          <a:noFill/>
          <a:ln/>
        </p:spPr>
        <p:txBody>
          <a:bodyPr wrap="none" lIns="0" tIns="0" rIns="0" bIns="0" rtlCol="0" anchor="t"/>
          <a:lstStyle/>
          <a:p>
            <a:pPr marL="0" indent="0" algn="l">
              <a:lnSpc>
                <a:spcPct val="123000"/>
              </a:lnSpc>
              <a:buNone/>
            </a:pPr>
            <a:r>
              <a:rPr lang="en-US" sz="1050" b="1" dirty="0">
                <a:solidFill>
                  <a:srgbClr val="FFFFFF"/>
                </a:solidFill>
                <a:latin typeface="Heebo Bold" pitchFamily="34" charset="0"/>
                <a:ea typeface="Heebo Bold" pitchFamily="34" charset="-122"/>
                <a:cs typeface="Heebo Bold" pitchFamily="34" charset="-120"/>
              </a:rPr>
              <a:t>Pertemuan Berikutnya:</a:t>
            </a:r>
            <a:r>
              <a:rPr lang="en-US" sz="1050" dirty="0">
                <a:solidFill>
                  <a:srgbClr val="FFFFFF"/>
                </a:solidFill>
                <a:latin typeface="Heebo Light" pitchFamily="34" charset="0"/>
                <a:ea typeface="Heebo Light" pitchFamily="34" charset="-122"/>
                <a:cs typeface="Heebo Light" pitchFamily="34" charset="-120"/>
              </a:rPr>
              <a:t> State Management &amp; </a:t>
            </a:r>
            <a:r>
              <a:rPr lang="en-US" sz="1050" dirty="0">
                <a:solidFill>
                  <a:srgbClr val="FFFFFF"/>
                </a:solidFill>
                <a:highlight>
                  <a:srgbClr val="1A1739"/>
                </a:highlight>
                <a:latin typeface="Consolas" pitchFamily="34" charset="0"/>
                <a:ea typeface="Consolas" pitchFamily="34" charset="-122"/>
                <a:cs typeface="Consolas" pitchFamily="34" charset="-120"/>
              </a:rPr>
              <a:t>remember</a:t>
            </a:r>
            <a:r>
              <a:rPr lang="en-US" sz="1050" dirty="0">
                <a:solidFill>
                  <a:srgbClr val="FFFFFF"/>
                </a:solidFill>
                <a:latin typeface="Heebo Light" pitchFamily="34" charset="0"/>
                <a:ea typeface="Heebo Light" pitchFamily="34" charset="-122"/>
                <a:cs typeface="Heebo Light" pitchFamily="34" charset="-120"/>
              </a:rPr>
              <a:t> — mengelola state lokal dan reaktivitas UI di Jetpack Compose.</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61475" y="478234"/>
            <a:ext cx="10868745" cy="419894"/>
          </a:xfrm>
          <a:prstGeom prst="rect">
            <a:avLst/>
          </a:prstGeom>
          <a:noFill/>
          <a:ln/>
        </p:spPr>
        <p:txBody>
          <a:bodyPr wrap="none" lIns="0" tIns="0" rIns="0" bIns="0" rtlCol="0" anchor="t"/>
          <a:lstStyle/>
          <a:p>
            <a:pPr marL="0" indent="0" algn="l">
              <a:lnSpc>
                <a:spcPct val="104000"/>
              </a:lnSpc>
              <a:buNone/>
            </a:pPr>
            <a:r>
              <a:rPr lang="en-US" sz="2600" dirty="0">
                <a:solidFill>
                  <a:srgbClr val="F2F0F4"/>
                </a:solidFill>
                <a:latin typeface="Montserrat" pitchFamily="34" charset="0"/>
                <a:ea typeface="Montserrat" pitchFamily="34" charset="-122"/>
                <a:cs typeface="Montserrat" pitchFamily="34" charset="-120"/>
              </a:rPr>
              <a:t>Penutup</a:t>
            </a:r>
            <a:endParaRPr lang="en-US" sz="2600" dirty="0"/>
          </a:p>
        </p:txBody>
      </p:sp>
      <p:sp>
        <p:nvSpPr>
          <p:cNvPr id="3" name="Shape 1"/>
          <p:cNvSpPr/>
          <p:nvPr/>
        </p:nvSpPr>
        <p:spPr>
          <a:xfrm>
            <a:off x="564739" y="1061839"/>
            <a:ext cx="6023717" cy="5317927"/>
          </a:xfrm>
          <a:prstGeom prst="roundRect">
            <a:avLst>
              <a:gd name="adj" fmla="val 1819"/>
            </a:avLst>
          </a:prstGeom>
          <a:solidFill>
            <a:srgbClr val="481C9E">
              <a:alpha val="95000"/>
            </a:srgbClr>
          </a:solidFill>
          <a:ln/>
        </p:spPr>
        <p:txBody>
          <a:bodyPr/>
          <a:lstStyle/>
          <a:p>
            <a:endParaRPr lang="en-US"/>
          </a:p>
        </p:txBody>
      </p:sp>
      <p:sp>
        <p:nvSpPr>
          <p:cNvPr id="4" name="Text 2"/>
          <p:cNvSpPr/>
          <p:nvPr/>
        </p:nvSpPr>
        <p:spPr>
          <a:xfrm>
            <a:off x="699078" y="1170980"/>
            <a:ext cx="5755040" cy="209947"/>
          </a:xfrm>
          <a:prstGeom prst="rect">
            <a:avLst/>
          </a:prstGeom>
          <a:noFill/>
          <a:ln/>
        </p:spPr>
        <p:txBody>
          <a:bodyPr wrap="none" lIns="0" tIns="0" rIns="0" bIns="0" rtlCol="0" anchor="t"/>
          <a:lstStyle/>
          <a:p>
            <a:pPr marL="0" indent="0" algn="l">
              <a:lnSpc>
                <a:spcPct val="104000"/>
              </a:lnSpc>
              <a:buNone/>
            </a:pPr>
            <a:r>
              <a:rPr lang="en-US" sz="1300" dirty="0">
                <a:solidFill>
                  <a:srgbClr val="F2F0F4"/>
                </a:solidFill>
                <a:latin typeface="Montserrat" pitchFamily="34" charset="0"/>
                <a:ea typeface="Montserrat" pitchFamily="34" charset="-122"/>
                <a:cs typeface="Montserrat" pitchFamily="34" charset="-120"/>
              </a:rPr>
              <a:t>Program Studi Informatika</a:t>
            </a:r>
            <a:endParaRPr lang="en-US" sz="1300" dirty="0"/>
          </a:p>
        </p:txBody>
      </p:sp>
      <p:sp>
        <p:nvSpPr>
          <p:cNvPr id="5" name="Text 3"/>
          <p:cNvSpPr/>
          <p:nvPr/>
        </p:nvSpPr>
        <p:spPr>
          <a:xfrm>
            <a:off x="699078" y="1490067"/>
            <a:ext cx="5755040" cy="389533"/>
          </a:xfrm>
          <a:prstGeom prst="rect">
            <a:avLst/>
          </a:prstGeom>
          <a:noFill/>
          <a:ln/>
        </p:spPr>
        <p:txBody>
          <a:bodyPr wrap="square" lIns="0" tIns="0" rIns="0" bIns="0" rtlCol="0" anchor="t">
            <a:normAutofit/>
          </a:bodyPr>
          <a:lstStyle/>
          <a:p>
            <a:pPr marL="0" indent="0" algn="l">
              <a:lnSpc>
                <a:spcPct val="121000"/>
              </a:lnSpc>
              <a:buNone/>
            </a:pPr>
            <a:r>
              <a:rPr lang="en-US" sz="1050" dirty="0">
                <a:solidFill>
                  <a:srgbClr val="DCD7E5"/>
                </a:solidFill>
                <a:latin typeface="Heebo Light" pitchFamily="34" charset="0"/>
                <a:ea typeface="Heebo Light" pitchFamily="34" charset="-122"/>
                <a:cs typeface="Heebo Light" pitchFamily="34" charset="-120"/>
              </a:rPr>
              <a:t>Fakultas Teknik</a:t>
            </a:r>
            <a:endParaRPr lang="en-US" sz="1050" dirty="0"/>
          </a:p>
          <a:p>
            <a:pPr marL="0" indent="0" algn="l">
              <a:lnSpc>
                <a:spcPct val="121000"/>
              </a:lnSpc>
              <a:buNone/>
            </a:pPr>
            <a:r>
              <a:rPr lang="en-US" sz="1050" dirty="0">
                <a:solidFill>
                  <a:srgbClr val="DCD7E5"/>
                </a:solidFill>
                <a:latin typeface="Heebo Light" pitchFamily="34" charset="0"/>
                <a:ea typeface="Heebo Light" pitchFamily="34" charset="-122"/>
                <a:cs typeface="Heebo Light" pitchFamily="34" charset="-120"/>
              </a:rPr>
              <a:t>Universitas Jenderal Soedirman</a:t>
            </a:r>
            <a:endParaRPr lang="en-US" sz="1050" dirty="0"/>
          </a:p>
        </p:txBody>
      </p:sp>
      <p:sp>
        <p:nvSpPr>
          <p:cNvPr id="6" name="Shape 4"/>
          <p:cNvSpPr/>
          <p:nvPr/>
        </p:nvSpPr>
        <p:spPr>
          <a:xfrm>
            <a:off x="699078" y="2035969"/>
            <a:ext cx="5755040" cy="19050"/>
          </a:xfrm>
          <a:prstGeom prst="roundRect">
            <a:avLst>
              <a:gd name="adj" fmla="val 49999"/>
            </a:avLst>
          </a:prstGeom>
          <a:solidFill>
            <a:srgbClr val="DCD7E5">
              <a:alpha val="50000"/>
            </a:srgbClr>
          </a:solidFill>
          <a:ln/>
        </p:spPr>
        <p:txBody>
          <a:bodyPr/>
          <a:lstStyle/>
          <a:p>
            <a:endParaRPr lang="en-US"/>
          </a:p>
        </p:txBody>
      </p:sp>
      <p:sp>
        <p:nvSpPr>
          <p:cNvPr id="7" name="Text 5"/>
          <p:cNvSpPr/>
          <p:nvPr/>
        </p:nvSpPr>
        <p:spPr>
          <a:xfrm>
            <a:off x="699078" y="2211388"/>
            <a:ext cx="5755040" cy="209947"/>
          </a:xfrm>
          <a:prstGeom prst="rect">
            <a:avLst/>
          </a:prstGeom>
          <a:noFill/>
          <a:ln/>
        </p:spPr>
        <p:txBody>
          <a:bodyPr wrap="none" lIns="0" tIns="0" rIns="0" bIns="0" rtlCol="0" anchor="t"/>
          <a:lstStyle/>
          <a:p>
            <a:pPr marL="0" indent="0" algn="l">
              <a:lnSpc>
                <a:spcPct val="104000"/>
              </a:lnSpc>
              <a:buNone/>
            </a:pPr>
            <a:r>
              <a:rPr lang="en-US" sz="1300" dirty="0">
                <a:solidFill>
                  <a:srgbClr val="F2F0F4"/>
                </a:solidFill>
                <a:latin typeface="Montserrat" pitchFamily="34" charset="0"/>
                <a:ea typeface="Montserrat" pitchFamily="34" charset="-122"/>
                <a:cs typeface="Montserrat" pitchFamily="34" charset="-120"/>
              </a:rPr>
              <a:t>Pengampu Mata Kuliah</a:t>
            </a:r>
            <a:endParaRPr lang="en-US" sz="1300" dirty="0"/>
          </a:p>
        </p:txBody>
      </p:sp>
      <p:sp>
        <p:nvSpPr>
          <p:cNvPr id="8" name="Text 6"/>
          <p:cNvSpPr/>
          <p:nvPr/>
        </p:nvSpPr>
        <p:spPr>
          <a:xfrm>
            <a:off x="699078" y="2530475"/>
            <a:ext cx="5755040" cy="487759"/>
          </a:xfrm>
          <a:prstGeom prst="rect">
            <a:avLst/>
          </a:prstGeom>
          <a:noFill/>
          <a:ln/>
        </p:spPr>
        <p:txBody>
          <a:bodyPr wrap="square" lIns="0" tIns="0" rIns="0" bIns="0" rtlCol="0" anchor="t"/>
          <a:lstStyle/>
          <a:p>
            <a:pPr marL="0" indent="0" algn="l">
              <a:lnSpc>
                <a:spcPct val="121000"/>
              </a:lnSpc>
              <a:spcAft>
                <a:spcPts val="750"/>
              </a:spcAft>
              <a:buNone/>
            </a:pPr>
            <a:r>
              <a:rPr lang="en-US" sz="1050" b="1" dirty="0">
                <a:solidFill>
                  <a:srgbClr val="DCD7E5"/>
                </a:solidFill>
                <a:latin typeface="Heebo Bold" pitchFamily="34" charset="0"/>
                <a:ea typeface="Heebo Bold" pitchFamily="34" charset="-122"/>
                <a:cs typeface="Heebo Bold" pitchFamily="34" charset="-120"/>
              </a:rPr>
              <a:t>Azis Amirulbahar, S.Pd., M.T.I.</a:t>
            </a:r>
            <a:endParaRPr lang="en-US" sz="1050" dirty="0"/>
          </a:p>
          <a:p>
            <a:pPr marL="0" indent="0" algn="l">
              <a:lnSpc>
                <a:spcPct val="121000"/>
              </a:lnSpc>
              <a:buNone/>
            </a:pPr>
            <a:r>
              <a:rPr lang="en-US" sz="1050" dirty="0">
                <a:solidFill>
                  <a:srgbClr val="DCD7E5"/>
                </a:solidFill>
                <a:latin typeface="Heebo Light" pitchFamily="34" charset="0"/>
                <a:ea typeface="Heebo Light" pitchFamily="34" charset="-122"/>
                <a:cs typeface="Heebo Light" pitchFamily="34" charset="-120"/>
              </a:rPr>
              <a:t>Pemrograman Mobile · IF21507 / 2 SKS</a:t>
            </a:r>
            <a:endParaRPr lang="en-US" sz="1050" dirty="0"/>
          </a:p>
        </p:txBody>
      </p:sp>
      <p:sp>
        <p:nvSpPr>
          <p:cNvPr id="9" name="Shape 7"/>
          <p:cNvSpPr/>
          <p:nvPr/>
        </p:nvSpPr>
        <p:spPr>
          <a:xfrm>
            <a:off x="699078" y="3174603"/>
            <a:ext cx="5755040" cy="19050"/>
          </a:xfrm>
          <a:prstGeom prst="roundRect">
            <a:avLst>
              <a:gd name="adj" fmla="val 49999"/>
            </a:avLst>
          </a:prstGeom>
          <a:solidFill>
            <a:srgbClr val="DCD7E5">
              <a:alpha val="50000"/>
            </a:srgbClr>
          </a:solidFill>
          <a:ln/>
        </p:spPr>
        <p:txBody>
          <a:bodyPr/>
          <a:lstStyle/>
          <a:p>
            <a:endParaRPr lang="en-US"/>
          </a:p>
        </p:txBody>
      </p:sp>
      <p:sp>
        <p:nvSpPr>
          <p:cNvPr id="10" name="Text 8"/>
          <p:cNvSpPr/>
          <p:nvPr/>
        </p:nvSpPr>
        <p:spPr>
          <a:xfrm>
            <a:off x="699078" y="3350022"/>
            <a:ext cx="6364624" cy="194766"/>
          </a:xfrm>
          <a:prstGeom prst="rect">
            <a:avLst/>
          </a:prstGeom>
          <a:noFill/>
          <a:ln/>
        </p:spPr>
        <p:txBody>
          <a:bodyPr wrap="none" lIns="0" tIns="0" rIns="0" bIns="0" rtlCol="0" anchor="t"/>
          <a:lstStyle/>
          <a:p>
            <a:pPr marL="0" indent="0" algn="l">
              <a:lnSpc>
                <a:spcPct val="121000"/>
              </a:lnSpc>
              <a:buNone/>
            </a:pPr>
            <a:r>
              <a:rPr lang="en-US" sz="1050" dirty="0">
                <a:solidFill>
                  <a:srgbClr val="DCD7E5"/>
                </a:solidFill>
                <a:latin typeface="Heebo Light" pitchFamily="34" charset="0"/>
                <a:ea typeface="Heebo Light" pitchFamily="34" charset="-122"/>
                <a:cs typeface="Heebo Light" pitchFamily="34" charset="-120"/>
              </a:rPr>
              <a:t>Pertemuan 2 — Pengenalan Compose &amp; Layout Dasar</a:t>
            </a:r>
            <a:endParaRPr lang="en-US" sz="1050" dirty="0"/>
          </a:p>
        </p:txBody>
      </p:sp>
      <p:sp>
        <p:nvSpPr>
          <p:cNvPr id="11" name="Text 9"/>
          <p:cNvSpPr/>
          <p:nvPr/>
        </p:nvSpPr>
        <p:spPr>
          <a:xfrm>
            <a:off x="6825881" y="1170980"/>
            <a:ext cx="4710590" cy="209947"/>
          </a:xfrm>
          <a:prstGeom prst="rect">
            <a:avLst/>
          </a:prstGeom>
          <a:noFill/>
          <a:ln/>
        </p:spPr>
        <p:txBody>
          <a:bodyPr wrap="none" lIns="0" tIns="0" rIns="0" bIns="0" rtlCol="0" anchor="t"/>
          <a:lstStyle/>
          <a:p>
            <a:pPr marL="0" indent="0" algn="l">
              <a:lnSpc>
                <a:spcPct val="104000"/>
              </a:lnSpc>
              <a:buNone/>
            </a:pPr>
            <a:r>
              <a:rPr lang="en-US" sz="1300" dirty="0">
                <a:solidFill>
                  <a:srgbClr val="F2F0F4"/>
                </a:solidFill>
                <a:latin typeface="Montserrat" pitchFamily="34" charset="0"/>
                <a:ea typeface="Montserrat" pitchFamily="34" charset="-122"/>
                <a:cs typeface="Montserrat" pitchFamily="34" charset="-120"/>
              </a:rPr>
              <a:t>Materi Pertemuan Ini</a:t>
            </a:r>
            <a:endParaRPr lang="en-US" sz="1300" dirty="0"/>
          </a:p>
        </p:txBody>
      </p:sp>
      <p:sp>
        <p:nvSpPr>
          <p:cNvPr id="12" name="Text 10"/>
          <p:cNvSpPr/>
          <p:nvPr/>
        </p:nvSpPr>
        <p:spPr>
          <a:xfrm>
            <a:off x="6825881" y="1503759"/>
            <a:ext cx="268678" cy="167977"/>
          </a:xfrm>
          <a:prstGeom prst="rect">
            <a:avLst/>
          </a:prstGeom>
          <a:noFill/>
          <a:ln/>
        </p:spPr>
        <p:txBody>
          <a:bodyPr wrap="none" lIns="0" tIns="0" rIns="0" bIns="0" rtlCol="0" anchor="ctr"/>
          <a:lstStyle/>
          <a:p>
            <a:pPr marL="0" indent="0" algn="l">
              <a:lnSpc>
                <a:spcPct val="100000"/>
              </a:lnSpc>
              <a:buNone/>
            </a:pPr>
            <a:r>
              <a:rPr lang="en-US" sz="1050" dirty="0">
                <a:solidFill>
                  <a:srgbClr val="DCD7E5"/>
                </a:solidFill>
                <a:latin typeface="Montserrat Light" pitchFamily="34" charset="0"/>
                <a:ea typeface="Montserrat Light" pitchFamily="34" charset="-122"/>
                <a:cs typeface="Montserrat Light" pitchFamily="34" charset="-120"/>
              </a:rPr>
              <a:t>01</a:t>
            </a:r>
            <a:endParaRPr lang="en-US" sz="1050" dirty="0"/>
          </a:p>
        </p:txBody>
      </p:sp>
      <p:sp>
        <p:nvSpPr>
          <p:cNvPr id="13" name="Shape 11"/>
          <p:cNvSpPr/>
          <p:nvPr/>
        </p:nvSpPr>
        <p:spPr>
          <a:xfrm>
            <a:off x="6825881" y="1713012"/>
            <a:ext cx="4710590" cy="19050"/>
          </a:xfrm>
          <a:prstGeom prst="rect">
            <a:avLst/>
          </a:prstGeom>
          <a:solidFill>
            <a:srgbClr val="581CA0"/>
          </a:solidFill>
          <a:ln/>
        </p:spPr>
        <p:txBody>
          <a:bodyPr/>
          <a:lstStyle/>
          <a:p>
            <a:endParaRPr lang="en-US"/>
          </a:p>
        </p:txBody>
      </p:sp>
      <p:sp>
        <p:nvSpPr>
          <p:cNvPr id="14" name="Text 12"/>
          <p:cNvSpPr/>
          <p:nvPr/>
        </p:nvSpPr>
        <p:spPr>
          <a:xfrm>
            <a:off x="6825881" y="1818283"/>
            <a:ext cx="4710590" cy="209947"/>
          </a:xfrm>
          <a:prstGeom prst="rect">
            <a:avLst/>
          </a:prstGeom>
          <a:noFill/>
          <a:ln/>
        </p:spPr>
        <p:txBody>
          <a:bodyPr wrap="none" lIns="0" tIns="0" rIns="0" bIns="0" rtlCol="0" anchor="t"/>
          <a:lstStyle/>
          <a:p>
            <a:pPr marL="0" indent="0" algn="l">
              <a:lnSpc>
                <a:spcPct val="104000"/>
              </a:lnSpc>
              <a:buNone/>
            </a:pPr>
            <a:r>
              <a:rPr lang="en-US" sz="1300" dirty="0">
                <a:solidFill>
                  <a:srgbClr val="DCD7E5"/>
                </a:solidFill>
                <a:latin typeface="Montserrat" pitchFamily="34" charset="0"/>
                <a:ea typeface="Montserrat" pitchFamily="34" charset="-122"/>
                <a:cs typeface="Montserrat" pitchFamily="34" charset="-120"/>
              </a:rPr>
              <a:t>UI Imperatif vs Deklaratif</a:t>
            </a:r>
            <a:endParaRPr lang="en-US" sz="1300" dirty="0"/>
          </a:p>
        </p:txBody>
      </p:sp>
      <p:sp>
        <p:nvSpPr>
          <p:cNvPr id="15" name="Text 13"/>
          <p:cNvSpPr/>
          <p:nvPr/>
        </p:nvSpPr>
        <p:spPr>
          <a:xfrm>
            <a:off x="6825881" y="2137370"/>
            <a:ext cx="4710590" cy="194766"/>
          </a:xfrm>
          <a:prstGeom prst="rect">
            <a:avLst/>
          </a:prstGeom>
          <a:noFill/>
          <a:ln/>
        </p:spPr>
        <p:txBody>
          <a:bodyPr wrap="none" lIns="0" tIns="0" rIns="0" bIns="0" rtlCol="0" anchor="t"/>
          <a:lstStyle/>
          <a:p>
            <a:pPr marL="0" indent="0" algn="l">
              <a:lnSpc>
                <a:spcPct val="121000"/>
              </a:lnSpc>
              <a:buNone/>
            </a:pPr>
            <a:r>
              <a:rPr lang="en-US" sz="1050" dirty="0">
                <a:solidFill>
                  <a:srgbClr val="DCD7E5"/>
                </a:solidFill>
                <a:latin typeface="Heebo Light" pitchFamily="34" charset="0"/>
                <a:ea typeface="Heebo Light" pitchFamily="34" charset="-122"/>
                <a:cs typeface="Heebo Light" pitchFamily="34" charset="-120"/>
              </a:rPr>
              <a:t>XML vs Jetpack Compose</a:t>
            </a:r>
            <a:endParaRPr lang="en-US" sz="1050" dirty="0"/>
          </a:p>
        </p:txBody>
      </p:sp>
      <p:sp>
        <p:nvSpPr>
          <p:cNvPr id="16" name="Text 14"/>
          <p:cNvSpPr/>
          <p:nvPr/>
        </p:nvSpPr>
        <p:spPr>
          <a:xfrm>
            <a:off x="6825881" y="2541984"/>
            <a:ext cx="268678" cy="167977"/>
          </a:xfrm>
          <a:prstGeom prst="rect">
            <a:avLst/>
          </a:prstGeom>
          <a:noFill/>
          <a:ln/>
        </p:spPr>
        <p:txBody>
          <a:bodyPr wrap="none" lIns="0" tIns="0" rIns="0" bIns="0" rtlCol="0" anchor="ctr"/>
          <a:lstStyle/>
          <a:p>
            <a:pPr marL="0" indent="0" algn="l">
              <a:lnSpc>
                <a:spcPct val="100000"/>
              </a:lnSpc>
              <a:buNone/>
            </a:pPr>
            <a:r>
              <a:rPr lang="en-US" sz="1050" dirty="0">
                <a:solidFill>
                  <a:srgbClr val="DCD7E5"/>
                </a:solidFill>
                <a:latin typeface="Montserrat Light" pitchFamily="34" charset="0"/>
                <a:ea typeface="Montserrat Light" pitchFamily="34" charset="-122"/>
                <a:cs typeface="Montserrat Light" pitchFamily="34" charset="-120"/>
              </a:rPr>
              <a:t>02</a:t>
            </a:r>
            <a:endParaRPr lang="en-US" sz="1050" dirty="0"/>
          </a:p>
        </p:txBody>
      </p:sp>
      <p:sp>
        <p:nvSpPr>
          <p:cNvPr id="17" name="Shape 15"/>
          <p:cNvSpPr/>
          <p:nvPr/>
        </p:nvSpPr>
        <p:spPr>
          <a:xfrm>
            <a:off x="6825881" y="2737842"/>
            <a:ext cx="4710590" cy="19050"/>
          </a:xfrm>
          <a:prstGeom prst="rect">
            <a:avLst/>
          </a:prstGeom>
          <a:solidFill>
            <a:srgbClr val="581CA0"/>
          </a:solidFill>
          <a:ln/>
        </p:spPr>
        <p:txBody>
          <a:bodyPr/>
          <a:lstStyle/>
          <a:p>
            <a:endParaRPr lang="en-US"/>
          </a:p>
        </p:txBody>
      </p:sp>
      <p:sp>
        <p:nvSpPr>
          <p:cNvPr id="18" name="Text 16"/>
          <p:cNvSpPr/>
          <p:nvPr/>
        </p:nvSpPr>
        <p:spPr>
          <a:xfrm>
            <a:off x="6825881" y="2856508"/>
            <a:ext cx="4710590" cy="209947"/>
          </a:xfrm>
          <a:prstGeom prst="rect">
            <a:avLst/>
          </a:prstGeom>
          <a:noFill/>
          <a:ln/>
        </p:spPr>
        <p:txBody>
          <a:bodyPr wrap="none" lIns="0" tIns="0" rIns="0" bIns="0" rtlCol="0" anchor="t"/>
          <a:lstStyle/>
          <a:p>
            <a:pPr marL="0" indent="0" algn="l">
              <a:lnSpc>
                <a:spcPct val="104000"/>
              </a:lnSpc>
              <a:buNone/>
            </a:pPr>
            <a:r>
              <a:rPr lang="en-US" sz="1300" dirty="0">
                <a:solidFill>
                  <a:srgbClr val="DCD7E5"/>
                </a:solidFill>
                <a:latin typeface="Montserrat" pitchFamily="34" charset="0"/>
                <a:ea typeface="Montserrat" pitchFamily="34" charset="-122"/>
                <a:cs typeface="Montserrat" pitchFamily="34" charset="-120"/>
              </a:rPr>
              <a:t>@Composable &amp; Recomposition</a:t>
            </a:r>
            <a:endParaRPr lang="en-US" sz="1300" dirty="0"/>
          </a:p>
        </p:txBody>
      </p:sp>
      <p:sp>
        <p:nvSpPr>
          <p:cNvPr id="19" name="Text 17"/>
          <p:cNvSpPr/>
          <p:nvPr/>
        </p:nvSpPr>
        <p:spPr>
          <a:xfrm>
            <a:off x="6825881" y="3175595"/>
            <a:ext cx="4710590" cy="194766"/>
          </a:xfrm>
          <a:prstGeom prst="rect">
            <a:avLst/>
          </a:prstGeom>
          <a:noFill/>
          <a:ln/>
        </p:spPr>
        <p:txBody>
          <a:bodyPr wrap="none" lIns="0" tIns="0" rIns="0" bIns="0" rtlCol="0" anchor="t"/>
          <a:lstStyle/>
          <a:p>
            <a:pPr marL="0" indent="0" algn="l">
              <a:lnSpc>
                <a:spcPct val="121000"/>
              </a:lnSpc>
              <a:buNone/>
            </a:pPr>
            <a:r>
              <a:rPr lang="en-US" sz="1050" dirty="0">
                <a:solidFill>
                  <a:srgbClr val="DCD7E5"/>
                </a:solidFill>
                <a:latin typeface="Heebo Light" pitchFamily="34" charset="0"/>
                <a:ea typeface="Heebo Light" pitchFamily="34" charset="-122"/>
                <a:cs typeface="Heebo Light" pitchFamily="34" charset="-120"/>
              </a:rPr>
              <a:t>Anatomi fungsi UI Compose</a:t>
            </a:r>
            <a:endParaRPr lang="en-US" sz="1050" dirty="0"/>
          </a:p>
        </p:txBody>
      </p:sp>
      <p:sp>
        <p:nvSpPr>
          <p:cNvPr id="20" name="Text 18"/>
          <p:cNvSpPr/>
          <p:nvPr/>
        </p:nvSpPr>
        <p:spPr>
          <a:xfrm>
            <a:off x="6825881" y="3580209"/>
            <a:ext cx="268678" cy="167977"/>
          </a:xfrm>
          <a:prstGeom prst="rect">
            <a:avLst/>
          </a:prstGeom>
          <a:noFill/>
          <a:ln/>
        </p:spPr>
        <p:txBody>
          <a:bodyPr wrap="none" lIns="0" tIns="0" rIns="0" bIns="0" rtlCol="0" anchor="ctr"/>
          <a:lstStyle/>
          <a:p>
            <a:pPr marL="0" indent="0" algn="l">
              <a:lnSpc>
                <a:spcPct val="100000"/>
              </a:lnSpc>
              <a:buNone/>
            </a:pPr>
            <a:r>
              <a:rPr lang="en-US" sz="1050" dirty="0">
                <a:solidFill>
                  <a:srgbClr val="DCD7E5"/>
                </a:solidFill>
                <a:latin typeface="Montserrat Light" pitchFamily="34" charset="0"/>
                <a:ea typeface="Montserrat Light" pitchFamily="34" charset="-122"/>
                <a:cs typeface="Montserrat Light" pitchFamily="34" charset="-120"/>
              </a:rPr>
              <a:t>03</a:t>
            </a:r>
            <a:endParaRPr lang="en-US" sz="1050" dirty="0"/>
          </a:p>
        </p:txBody>
      </p:sp>
      <p:sp>
        <p:nvSpPr>
          <p:cNvPr id="21" name="Shape 19"/>
          <p:cNvSpPr/>
          <p:nvPr/>
        </p:nvSpPr>
        <p:spPr>
          <a:xfrm>
            <a:off x="6825881" y="3762673"/>
            <a:ext cx="4710590" cy="19050"/>
          </a:xfrm>
          <a:prstGeom prst="rect">
            <a:avLst/>
          </a:prstGeom>
          <a:solidFill>
            <a:srgbClr val="581CA0"/>
          </a:solidFill>
          <a:ln/>
        </p:spPr>
        <p:txBody>
          <a:bodyPr/>
          <a:lstStyle/>
          <a:p>
            <a:endParaRPr lang="en-US"/>
          </a:p>
        </p:txBody>
      </p:sp>
      <p:sp>
        <p:nvSpPr>
          <p:cNvPr id="22" name="Text 20"/>
          <p:cNvSpPr/>
          <p:nvPr/>
        </p:nvSpPr>
        <p:spPr>
          <a:xfrm>
            <a:off x="6825881" y="3894733"/>
            <a:ext cx="4710590" cy="209947"/>
          </a:xfrm>
          <a:prstGeom prst="rect">
            <a:avLst/>
          </a:prstGeom>
          <a:noFill/>
          <a:ln/>
        </p:spPr>
        <p:txBody>
          <a:bodyPr wrap="none" lIns="0" tIns="0" rIns="0" bIns="0" rtlCol="0" anchor="t"/>
          <a:lstStyle/>
          <a:p>
            <a:pPr marL="0" indent="0" algn="l">
              <a:lnSpc>
                <a:spcPct val="104000"/>
              </a:lnSpc>
              <a:buNone/>
            </a:pPr>
            <a:r>
              <a:rPr lang="en-US" sz="1300" dirty="0">
                <a:solidFill>
                  <a:srgbClr val="DCD7E5"/>
                </a:solidFill>
                <a:latin typeface="Montserrat" pitchFamily="34" charset="0"/>
                <a:ea typeface="Montserrat" pitchFamily="34" charset="-122"/>
                <a:cs typeface="Montserrat" pitchFamily="34" charset="-120"/>
              </a:rPr>
              <a:t>Column, Row, Box</a:t>
            </a:r>
            <a:endParaRPr lang="en-US" sz="1300" dirty="0"/>
          </a:p>
        </p:txBody>
      </p:sp>
      <p:sp>
        <p:nvSpPr>
          <p:cNvPr id="23" name="Text 21"/>
          <p:cNvSpPr/>
          <p:nvPr/>
        </p:nvSpPr>
        <p:spPr>
          <a:xfrm>
            <a:off x="6825881" y="4213820"/>
            <a:ext cx="4710590" cy="194766"/>
          </a:xfrm>
          <a:prstGeom prst="rect">
            <a:avLst/>
          </a:prstGeom>
          <a:noFill/>
          <a:ln/>
        </p:spPr>
        <p:txBody>
          <a:bodyPr wrap="none" lIns="0" tIns="0" rIns="0" bIns="0" rtlCol="0" anchor="t"/>
          <a:lstStyle/>
          <a:p>
            <a:pPr marL="0" indent="0" algn="l">
              <a:lnSpc>
                <a:spcPct val="121000"/>
              </a:lnSpc>
              <a:buNone/>
            </a:pPr>
            <a:r>
              <a:rPr lang="en-US" sz="1050" dirty="0">
                <a:solidFill>
                  <a:srgbClr val="DCD7E5"/>
                </a:solidFill>
                <a:latin typeface="Heebo Light" pitchFamily="34" charset="0"/>
                <a:ea typeface="Heebo Light" pitchFamily="34" charset="-122"/>
                <a:cs typeface="Heebo Light" pitchFamily="34" charset="-120"/>
              </a:rPr>
              <a:t>Tiga pilar layout dasar</a:t>
            </a:r>
            <a:endParaRPr lang="en-US" sz="1050" dirty="0"/>
          </a:p>
        </p:txBody>
      </p:sp>
      <p:sp>
        <p:nvSpPr>
          <p:cNvPr id="24" name="Text 22"/>
          <p:cNvSpPr/>
          <p:nvPr/>
        </p:nvSpPr>
        <p:spPr>
          <a:xfrm>
            <a:off x="6825881" y="4618434"/>
            <a:ext cx="268678" cy="167977"/>
          </a:xfrm>
          <a:prstGeom prst="rect">
            <a:avLst/>
          </a:prstGeom>
          <a:noFill/>
          <a:ln/>
        </p:spPr>
        <p:txBody>
          <a:bodyPr wrap="none" lIns="0" tIns="0" rIns="0" bIns="0" rtlCol="0" anchor="ctr"/>
          <a:lstStyle/>
          <a:p>
            <a:pPr marL="0" indent="0" algn="l">
              <a:lnSpc>
                <a:spcPct val="100000"/>
              </a:lnSpc>
              <a:buNone/>
            </a:pPr>
            <a:r>
              <a:rPr lang="en-US" sz="1050" dirty="0">
                <a:solidFill>
                  <a:srgbClr val="DCD7E5"/>
                </a:solidFill>
                <a:latin typeface="Montserrat Light" pitchFamily="34" charset="0"/>
                <a:ea typeface="Montserrat Light" pitchFamily="34" charset="-122"/>
                <a:cs typeface="Montserrat Light" pitchFamily="34" charset="-120"/>
              </a:rPr>
              <a:t>04</a:t>
            </a:r>
            <a:endParaRPr lang="en-US" sz="1050" dirty="0"/>
          </a:p>
        </p:txBody>
      </p:sp>
      <p:sp>
        <p:nvSpPr>
          <p:cNvPr id="25" name="Shape 23"/>
          <p:cNvSpPr/>
          <p:nvPr/>
        </p:nvSpPr>
        <p:spPr>
          <a:xfrm>
            <a:off x="6825881" y="4787503"/>
            <a:ext cx="4710590" cy="19050"/>
          </a:xfrm>
          <a:prstGeom prst="rect">
            <a:avLst/>
          </a:prstGeom>
          <a:solidFill>
            <a:srgbClr val="581CA0"/>
          </a:solidFill>
          <a:ln/>
        </p:spPr>
        <p:txBody>
          <a:bodyPr/>
          <a:lstStyle/>
          <a:p>
            <a:endParaRPr lang="en-US"/>
          </a:p>
        </p:txBody>
      </p:sp>
      <p:sp>
        <p:nvSpPr>
          <p:cNvPr id="26" name="Text 24"/>
          <p:cNvSpPr/>
          <p:nvPr/>
        </p:nvSpPr>
        <p:spPr>
          <a:xfrm>
            <a:off x="6825881" y="4932958"/>
            <a:ext cx="4710590" cy="209947"/>
          </a:xfrm>
          <a:prstGeom prst="rect">
            <a:avLst/>
          </a:prstGeom>
          <a:noFill/>
          <a:ln/>
        </p:spPr>
        <p:txBody>
          <a:bodyPr wrap="none" lIns="0" tIns="0" rIns="0" bIns="0" rtlCol="0" anchor="t"/>
          <a:lstStyle/>
          <a:p>
            <a:pPr marL="0" indent="0" algn="l">
              <a:lnSpc>
                <a:spcPct val="104000"/>
              </a:lnSpc>
              <a:buNone/>
            </a:pPr>
            <a:r>
              <a:rPr lang="en-US" sz="1300" dirty="0">
                <a:solidFill>
                  <a:srgbClr val="DCD7E5"/>
                </a:solidFill>
                <a:latin typeface="Montserrat" pitchFamily="34" charset="0"/>
                <a:ea typeface="Montserrat" pitchFamily="34" charset="-122"/>
                <a:cs typeface="Montserrat" pitchFamily="34" charset="-120"/>
              </a:rPr>
              <a:t>Modifiers</a:t>
            </a:r>
            <a:endParaRPr lang="en-US" sz="1300" dirty="0"/>
          </a:p>
        </p:txBody>
      </p:sp>
      <p:sp>
        <p:nvSpPr>
          <p:cNvPr id="27" name="Text 25"/>
          <p:cNvSpPr/>
          <p:nvPr/>
        </p:nvSpPr>
        <p:spPr>
          <a:xfrm>
            <a:off x="6825881" y="5252045"/>
            <a:ext cx="4710590" cy="194766"/>
          </a:xfrm>
          <a:prstGeom prst="rect">
            <a:avLst/>
          </a:prstGeom>
          <a:noFill/>
          <a:ln/>
        </p:spPr>
        <p:txBody>
          <a:bodyPr wrap="none" lIns="0" tIns="0" rIns="0" bIns="0" rtlCol="0" anchor="t"/>
          <a:lstStyle/>
          <a:p>
            <a:pPr marL="0" indent="0" algn="l">
              <a:lnSpc>
                <a:spcPct val="121000"/>
              </a:lnSpc>
              <a:buNone/>
            </a:pPr>
            <a:r>
              <a:rPr lang="en-US" sz="1050" dirty="0">
                <a:solidFill>
                  <a:srgbClr val="DCD7E5"/>
                </a:solidFill>
                <a:latin typeface="Heebo Light" pitchFamily="34" charset="0"/>
                <a:ea typeface="Heebo Light" pitchFamily="34" charset="-122"/>
                <a:cs typeface="Heebo Light" pitchFamily="34" charset="-120"/>
              </a:rPr>
              <a:t>Urutan, scope, dan praktik terbaik</a:t>
            </a:r>
            <a:endParaRPr lang="en-US" sz="1050" dirty="0"/>
          </a:p>
        </p:txBody>
      </p:sp>
      <p:sp>
        <p:nvSpPr>
          <p:cNvPr id="28" name="Shape 26"/>
          <p:cNvSpPr/>
          <p:nvPr/>
        </p:nvSpPr>
        <p:spPr>
          <a:xfrm>
            <a:off x="6825881" y="5650309"/>
            <a:ext cx="4710590" cy="19050"/>
          </a:xfrm>
          <a:prstGeom prst="roundRect">
            <a:avLst>
              <a:gd name="adj" fmla="val 49999"/>
            </a:avLst>
          </a:prstGeom>
          <a:solidFill>
            <a:srgbClr val="DCD7E5">
              <a:alpha val="50000"/>
            </a:srgbClr>
          </a:solidFill>
          <a:ln/>
        </p:spPr>
        <p:txBody>
          <a:bodyPr/>
          <a:lstStyle/>
          <a:p>
            <a:endParaRPr lang="en-US"/>
          </a:p>
        </p:txBody>
      </p:sp>
      <p:sp>
        <p:nvSpPr>
          <p:cNvPr id="29" name="Text 27"/>
          <p:cNvSpPr/>
          <p:nvPr/>
        </p:nvSpPr>
        <p:spPr>
          <a:xfrm>
            <a:off x="6825881" y="5879306"/>
            <a:ext cx="4710590" cy="402233"/>
          </a:xfrm>
          <a:prstGeom prst="rect">
            <a:avLst/>
          </a:prstGeom>
          <a:noFill/>
          <a:ln/>
        </p:spPr>
        <p:txBody>
          <a:bodyPr wrap="square" lIns="0" tIns="0" rIns="0" bIns="0" rtlCol="0" anchor="t">
            <a:normAutofit/>
          </a:bodyPr>
          <a:lstStyle/>
          <a:p>
            <a:pPr marL="0" indent="0" algn="ctr">
              <a:lnSpc>
                <a:spcPct val="121000"/>
              </a:lnSpc>
              <a:buNone/>
            </a:pPr>
            <a:r>
              <a:rPr lang="en-US" sz="1050" b="1" dirty="0">
                <a:solidFill>
                  <a:srgbClr val="DCD7E5"/>
                </a:solidFill>
                <a:latin typeface="Heebo Bold" pitchFamily="34" charset="0"/>
                <a:ea typeface="Heebo Bold" pitchFamily="34" charset="-122"/>
                <a:cs typeface="Heebo Bold" pitchFamily="34" charset="-120"/>
              </a:rPr>
              <a:t>Pertemuan Berikutnya:</a:t>
            </a:r>
            <a:endParaRPr lang="en-US" sz="1050" dirty="0"/>
          </a:p>
          <a:p>
            <a:pPr marL="0" indent="0" algn="ctr">
              <a:lnSpc>
                <a:spcPct val="121000"/>
              </a:lnSpc>
              <a:buNone/>
            </a:pPr>
            <a:r>
              <a:rPr lang="en-US" sz="1050" dirty="0">
                <a:solidFill>
                  <a:srgbClr val="DCD7E5"/>
                </a:solidFill>
                <a:latin typeface="Heebo Light" pitchFamily="34" charset="0"/>
                <a:ea typeface="Heebo Light" pitchFamily="34" charset="-122"/>
                <a:cs typeface="Heebo Light" pitchFamily="34" charset="-120"/>
              </a:rPr>
              <a:t>State Management &amp; </a:t>
            </a:r>
            <a:r>
              <a:rPr lang="en-US" sz="1050" dirty="0">
                <a:solidFill>
                  <a:srgbClr val="DCD7E5"/>
                </a:solidFill>
                <a:highlight>
                  <a:srgbClr val="1A1739"/>
                </a:highlight>
                <a:latin typeface="Consolas" pitchFamily="34" charset="0"/>
                <a:ea typeface="Consolas" pitchFamily="34" charset="-122"/>
                <a:cs typeface="Consolas" pitchFamily="34" charset="-120"/>
              </a:rPr>
              <a:t>remember</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61475" y="1386880"/>
            <a:ext cx="6296860" cy="590649"/>
          </a:xfrm>
          <a:prstGeom prst="rect">
            <a:avLst/>
          </a:prstGeom>
          <a:noFill/>
          <a:ln/>
        </p:spPr>
        <p:txBody>
          <a:bodyPr wrap="none" lIns="0" tIns="0" rIns="0" bIns="0" rtlCol="0" anchor="t"/>
          <a:lstStyle/>
          <a:p>
            <a:pPr marL="0" indent="0" algn="l">
              <a:lnSpc>
                <a:spcPct val="104000"/>
              </a:lnSpc>
              <a:buNone/>
            </a:pPr>
            <a:r>
              <a:rPr lang="en-US" sz="3700" dirty="0">
                <a:solidFill>
                  <a:srgbClr val="F2F0F4"/>
                </a:solidFill>
                <a:latin typeface="Montserrat" pitchFamily="34" charset="0"/>
                <a:ea typeface="Montserrat" pitchFamily="34" charset="-122"/>
                <a:cs typeface="Montserrat" pitchFamily="34" charset="-120"/>
              </a:rPr>
              <a:t>Terima Kasih!</a:t>
            </a:r>
            <a:endParaRPr lang="en-US" sz="3700" dirty="0"/>
          </a:p>
        </p:txBody>
      </p:sp>
      <p:sp>
        <p:nvSpPr>
          <p:cNvPr id="5" name="Shape 2"/>
          <p:cNvSpPr/>
          <p:nvPr/>
        </p:nvSpPr>
        <p:spPr>
          <a:xfrm>
            <a:off x="661475" y="2776041"/>
            <a:ext cx="6296860" cy="1404243"/>
          </a:xfrm>
          <a:prstGeom prst="roundRect">
            <a:avLst>
              <a:gd name="adj" fmla="val 5653"/>
            </a:avLst>
          </a:prstGeom>
          <a:solidFill>
            <a:srgbClr val="31136C"/>
          </a:solidFill>
          <a:ln w="6350">
            <a:solidFill>
              <a:srgbClr val="4A2C85"/>
            </a:solidFill>
            <a:prstDash val="solid"/>
          </a:ln>
        </p:spPr>
        <p:txBody>
          <a:bodyPr/>
          <a:lstStyle/>
          <a:p>
            <a:endParaRPr lang="en-US"/>
          </a:p>
        </p:txBody>
      </p:sp>
      <p:sp>
        <p:nvSpPr>
          <p:cNvPr id="6" name="Text 3"/>
          <p:cNvSpPr/>
          <p:nvPr/>
        </p:nvSpPr>
        <p:spPr>
          <a:xfrm>
            <a:off x="856832" y="2971403"/>
            <a:ext cx="5906146" cy="295275"/>
          </a:xfrm>
          <a:prstGeom prst="rect">
            <a:avLst/>
          </a:prstGeom>
          <a:noFill/>
          <a:ln/>
        </p:spPr>
        <p:txBody>
          <a:bodyPr wrap="none" lIns="0" tIns="0" rIns="0" bIns="0" rtlCol="0" anchor="t"/>
          <a:lstStyle/>
          <a:p>
            <a:pPr marL="0" indent="0" algn="l">
              <a:lnSpc>
                <a:spcPct val="104000"/>
              </a:lnSpc>
              <a:buNone/>
            </a:pPr>
            <a:r>
              <a:rPr lang="en-US" sz="1850" dirty="0">
                <a:solidFill>
                  <a:srgbClr val="000000"/>
                </a:solidFill>
                <a:latin typeface="Montserrat" pitchFamily="34" charset="0"/>
                <a:ea typeface="Montserrat" pitchFamily="34" charset="-122"/>
                <a:cs typeface="Montserrat" pitchFamily="34" charset="-120"/>
              </a:rPr>
              <a:t>💬</a:t>
            </a:r>
            <a:r>
              <a:rPr lang="en-US" sz="1850" dirty="0">
                <a:solidFill>
                  <a:srgbClr val="DCD7E5"/>
                </a:solidFill>
                <a:latin typeface="Montserrat" pitchFamily="34" charset="0"/>
                <a:ea typeface="Montserrat" pitchFamily="34" charset="-122"/>
                <a:cs typeface="Montserrat" pitchFamily="34" charset="-120"/>
              </a:rPr>
              <a:t> Pertanyaan &amp; Diskusi</a:t>
            </a:r>
            <a:endParaRPr lang="en-US" sz="1850" dirty="0"/>
          </a:p>
        </p:txBody>
      </p:sp>
      <p:sp>
        <p:nvSpPr>
          <p:cNvPr id="7" name="Text 4"/>
          <p:cNvSpPr/>
          <p:nvPr/>
        </p:nvSpPr>
        <p:spPr>
          <a:xfrm>
            <a:off x="856832" y="3380085"/>
            <a:ext cx="5906146"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CD7E5"/>
                </a:solidFill>
                <a:latin typeface="Heebo Light" pitchFamily="34" charset="0"/>
                <a:ea typeface="Heebo Light" pitchFamily="34" charset="-122"/>
                <a:cs typeface="Heebo Light" pitchFamily="34" charset="-120"/>
              </a:rPr>
              <a:t>Sampaikan di forum diskusi atau langsung di kelas — tidak ada pertanyaan yang salah!</a:t>
            </a:r>
            <a:endParaRPr lang="en-US" sz="1450" dirty="0"/>
          </a:p>
        </p:txBody>
      </p:sp>
      <p:sp>
        <p:nvSpPr>
          <p:cNvPr id="8" name="Shape 5"/>
          <p:cNvSpPr/>
          <p:nvPr/>
        </p:nvSpPr>
        <p:spPr>
          <a:xfrm>
            <a:off x="661475" y="4369296"/>
            <a:ext cx="6296860" cy="1101824"/>
          </a:xfrm>
          <a:prstGeom prst="roundRect">
            <a:avLst>
              <a:gd name="adj" fmla="val 7205"/>
            </a:avLst>
          </a:prstGeom>
          <a:solidFill>
            <a:srgbClr val="31136C"/>
          </a:solidFill>
          <a:ln w="6350">
            <a:solidFill>
              <a:srgbClr val="4A2C85"/>
            </a:solidFill>
            <a:prstDash val="solid"/>
          </a:ln>
        </p:spPr>
        <p:txBody>
          <a:bodyPr/>
          <a:lstStyle/>
          <a:p>
            <a:endParaRPr lang="en-US"/>
          </a:p>
        </p:txBody>
      </p:sp>
      <p:sp>
        <p:nvSpPr>
          <p:cNvPr id="9" name="Text 6"/>
          <p:cNvSpPr/>
          <p:nvPr/>
        </p:nvSpPr>
        <p:spPr>
          <a:xfrm>
            <a:off x="856832" y="4564658"/>
            <a:ext cx="5906146" cy="295275"/>
          </a:xfrm>
          <a:prstGeom prst="rect">
            <a:avLst/>
          </a:prstGeom>
          <a:noFill/>
          <a:ln/>
        </p:spPr>
        <p:txBody>
          <a:bodyPr wrap="none" lIns="0" tIns="0" rIns="0" bIns="0" rtlCol="0" anchor="t"/>
          <a:lstStyle/>
          <a:p>
            <a:pPr marL="0" indent="0" algn="l">
              <a:lnSpc>
                <a:spcPct val="104000"/>
              </a:lnSpc>
              <a:buNone/>
            </a:pPr>
            <a:r>
              <a:rPr lang="en-US" sz="1850" dirty="0">
                <a:solidFill>
                  <a:srgbClr val="000000"/>
                </a:solidFill>
                <a:latin typeface="Montserrat" pitchFamily="34" charset="0"/>
                <a:ea typeface="Montserrat" pitchFamily="34" charset="-122"/>
                <a:cs typeface="Montserrat" pitchFamily="34" charset="-120"/>
              </a:rPr>
              <a:t>🚀</a:t>
            </a:r>
            <a:r>
              <a:rPr lang="en-US" sz="1850" dirty="0">
                <a:solidFill>
                  <a:srgbClr val="DCD7E5"/>
                </a:solidFill>
                <a:latin typeface="Montserrat" pitchFamily="34" charset="0"/>
                <a:ea typeface="Montserrat" pitchFamily="34" charset="-122"/>
                <a:cs typeface="Montserrat" pitchFamily="34" charset="-120"/>
              </a:rPr>
              <a:t> Pertemuan Berikutnya</a:t>
            </a:r>
            <a:endParaRPr lang="en-US" sz="1850" dirty="0"/>
          </a:p>
        </p:txBody>
      </p:sp>
      <p:sp>
        <p:nvSpPr>
          <p:cNvPr id="10" name="Text 7"/>
          <p:cNvSpPr/>
          <p:nvPr/>
        </p:nvSpPr>
        <p:spPr>
          <a:xfrm>
            <a:off x="856832" y="4973340"/>
            <a:ext cx="5906146" cy="302419"/>
          </a:xfrm>
          <a:prstGeom prst="rect">
            <a:avLst/>
          </a:prstGeom>
          <a:noFill/>
          <a:ln/>
        </p:spPr>
        <p:txBody>
          <a:bodyPr wrap="none" lIns="0" tIns="0" rIns="0" bIns="0" rtlCol="0" anchor="t"/>
          <a:lstStyle/>
          <a:p>
            <a:pPr marL="0" indent="0" algn="l">
              <a:lnSpc>
                <a:spcPct val="133000"/>
              </a:lnSpc>
              <a:buNone/>
            </a:pPr>
            <a:r>
              <a:rPr lang="en-US" sz="1450" b="1" dirty="0">
                <a:solidFill>
                  <a:srgbClr val="DCD7E5"/>
                </a:solidFill>
                <a:latin typeface="Heebo Bold" pitchFamily="34" charset="0"/>
                <a:ea typeface="Heebo Bold" pitchFamily="34" charset="-122"/>
                <a:cs typeface="Heebo Bold" pitchFamily="34" charset="-120"/>
              </a:rPr>
              <a:t>Jetpack Compose</a:t>
            </a:r>
            <a:r>
              <a:rPr lang="en-US" sz="1450" dirty="0">
                <a:solidFill>
                  <a:srgbClr val="DCD7E5"/>
                </a:solidFill>
                <a:latin typeface="Heebo Light" pitchFamily="34" charset="0"/>
                <a:ea typeface="Heebo Light" pitchFamily="34" charset="-122"/>
                <a:cs typeface="Heebo Light" pitchFamily="34" charset="-120"/>
              </a:rPr>
              <a:t> — Material Design 3</a:t>
            </a:r>
            <a:endParaRPr lang="en-US" sz="1450" dirty="0"/>
          </a:p>
        </p:txBody>
      </p:sp>
      <p:pic>
        <p:nvPicPr>
          <p:cNvPr id="11" name="Picture 10">
            <a:extLst>
              <a:ext uri="{FF2B5EF4-FFF2-40B4-BE49-F238E27FC236}">
                <a16:creationId xmlns:a16="http://schemas.microsoft.com/office/drawing/2014/main" id="{0273F9E9-DBF9-530E-04A6-80D73F57FED3}"/>
              </a:ext>
            </a:extLst>
          </p:cNvPr>
          <p:cNvPicPr>
            <a:picLocks noChangeAspect="1"/>
          </p:cNvPicPr>
          <p:nvPr/>
        </p:nvPicPr>
        <p:blipFill>
          <a:blip r:embed="rId3"/>
          <a:stretch>
            <a:fillRect/>
          </a:stretch>
        </p:blipFill>
        <p:spPr>
          <a:xfrm>
            <a:off x="8364279" y="0"/>
            <a:ext cx="3827721"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61475" y="458490"/>
            <a:ext cx="10868745" cy="484485"/>
          </a:xfrm>
          <a:prstGeom prst="rect">
            <a:avLst/>
          </a:prstGeom>
          <a:noFill/>
          <a:ln/>
        </p:spPr>
        <p:txBody>
          <a:bodyPr wrap="none" lIns="0" tIns="0" rIns="0" bIns="0" rtlCol="0" anchor="t"/>
          <a:lstStyle/>
          <a:p>
            <a:pPr marL="0" indent="0" algn="l">
              <a:lnSpc>
                <a:spcPct val="104000"/>
              </a:lnSpc>
              <a:buNone/>
            </a:pPr>
            <a:r>
              <a:rPr lang="en-US" sz="3050" dirty="0">
                <a:solidFill>
                  <a:srgbClr val="F2F0F4"/>
                </a:solidFill>
                <a:latin typeface="Montserrat" pitchFamily="34" charset="0"/>
                <a:ea typeface="Montserrat" pitchFamily="34" charset="-122"/>
                <a:cs typeface="Montserrat" pitchFamily="34" charset="-120"/>
              </a:rPr>
              <a:t>Referensi / Daftar Pustaka</a:t>
            </a:r>
            <a:endParaRPr lang="en-US" sz="3050" dirty="0"/>
          </a:p>
        </p:txBody>
      </p:sp>
      <p:sp>
        <p:nvSpPr>
          <p:cNvPr id="3" name="Text 1"/>
          <p:cNvSpPr/>
          <p:nvPr/>
        </p:nvSpPr>
        <p:spPr>
          <a:xfrm>
            <a:off x="661475" y="1233686"/>
            <a:ext cx="11478330" cy="240308"/>
          </a:xfrm>
          <a:prstGeom prst="rect">
            <a:avLst/>
          </a:prstGeom>
          <a:noFill/>
          <a:ln/>
        </p:spPr>
        <p:txBody>
          <a:bodyPr wrap="none" lIns="0" tIns="0" rIns="0" bIns="0" rtlCol="0" anchor="t"/>
          <a:lstStyle/>
          <a:p>
            <a:pPr marL="0" indent="0" algn="l">
              <a:lnSpc>
                <a:spcPct val="129000"/>
              </a:lnSpc>
              <a:buNone/>
            </a:pPr>
            <a:r>
              <a:rPr lang="en-US" sz="1200" dirty="0">
                <a:solidFill>
                  <a:srgbClr val="DCD7E5"/>
                </a:solidFill>
                <a:latin typeface="Heebo Light" pitchFamily="34" charset="0"/>
                <a:ea typeface="Heebo Light" pitchFamily="34" charset="-122"/>
                <a:cs typeface="Heebo Light" pitchFamily="34" charset="-120"/>
              </a:rPr>
              <a:t>Seluruh referensi disusun menggunakan format </a:t>
            </a:r>
            <a:r>
              <a:rPr lang="en-US" sz="1200" b="1" dirty="0">
                <a:solidFill>
                  <a:srgbClr val="DCD7E5"/>
                </a:solidFill>
                <a:latin typeface="Heebo Bold" pitchFamily="34" charset="0"/>
                <a:ea typeface="Heebo Bold" pitchFamily="34" charset="-122"/>
                <a:cs typeface="Heebo Bold" pitchFamily="34" charset="-120"/>
              </a:rPr>
              <a:t>APA 7th Edition</a:t>
            </a:r>
            <a:r>
              <a:rPr lang="en-US" sz="1200" dirty="0">
                <a:solidFill>
                  <a:srgbClr val="DCD7E5"/>
                </a:solidFill>
                <a:latin typeface="Heebo Light" pitchFamily="34" charset="0"/>
                <a:ea typeface="Heebo Light" pitchFamily="34" charset="-122"/>
                <a:cs typeface="Heebo Light" pitchFamily="34" charset="-120"/>
              </a:rPr>
              <a:t>.</a:t>
            </a:r>
            <a:endParaRPr lang="en-US" sz="12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637506"/>
            <a:ext cx="5361647" cy="3764359"/>
          </a:xfrm>
          <a:prstGeom prst="rect">
            <a:avLst/>
          </a:prstGeom>
        </p:spPr>
      </p:pic>
      <p:sp>
        <p:nvSpPr>
          <p:cNvPr id="5" name="Text 2"/>
          <p:cNvSpPr/>
          <p:nvPr/>
        </p:nvSpPr>
        <p:spPr>
          <a:xfrm>
            <a:off x="911698" y="1811536"/>
            <a:ext cx="4937398" cy="242193"/>
          </a:xfrm>
          <a:prstGeom prst="rect">
            <a:avLst/>
          </a:prstGeom>
          <a:noFill/>
          <a:ln/>
        </p:spPr>
        <p:txBody>
          <a:bodyPr wrap="none" lIns="0" tIns="0" rIns="0" bIns="0" rtlCol="0" anchor="t"/>
          <a:lstStyle/>
          <a:p>
            <a:pPr marL="0" indent="0" algn="l">
              <a:lnSpc>
                <a:spcPct val="104000"/>
              </a:lnSpc>
              <a:buNone/>
            </a:pPr>
            <a:r>
              <a:rPr lang="en-US" sz="1500" dirty="0">
                <a:solidFill>
                  <a:srgbClr val="DCD7E5"/>
                </a:solidFill>
                <a:latin typeface="Montserrat" pitchFamily="34" charset="0"/>
                <a:ea typeface="Montserrat" pitchFamily="34" charset="-122"/>
                <a:cs typeface="Montserrat" pitchFamily="34" charset="-120"/>
              </a:rPr>
              <a:t>Dokumentasi Resmi Android Developers</a:t>
            </a:r>
            <a:endParaRPr lang="en-US" sz="1500" dirty="0"/>
          </a:p>
        </p:txBody>
      </p:sp>
      <p:sp>
        <p:nvSpPr>
          <p:cNvPr id="6" name="Text 3"/>
          <p:cNvSpPr/>
          <p:nvPr/>
        </p:nvSpPr>
        <p:spPr>
          <a:xfrm>
            <a:off x="911698" y="2140942"/>
            <a:ext cx="4937398" cy="3086894"/>
          </a:xfrm>
          <a:prstGeom prst="rect">
            <a:avLst/>
          </a:prstGeom>
          <a:noFill/>
          <a:ln/>
        </p:spPr>
        <p:txBody>
          <a:bodyPr wrap="square" lIns="0" tIns="0" rIns="0" bIns="0" rtlCol="0" anchor="t">
            <a:normAutofit/>
          </a:bodyPr>
          <a:lstStyle/>
          <a:p>
            <a:pPr marL="243840" indent="-243840" algn="l">
              <a:lnSpc>
                <a:spcPct val="129000"/>
              </a:lnSpc>
              <a:buSzPct val="100000"/>
              <a:buFont typeface="+mj-lt"/>
              <a:buAutoNum type="arabicPeriod"/>
            </a:pPr>
            <a:r>
              <a:rPr lang="en-US" sz="1200" dirty="0">
                <a:solidFill>
                  <a:srgbClr val="DCD7E5"/>
                </a:solidFill>
                <a:latin typeface="Heebo Light" pitchFamily="34" charset="0"/>
                <a:ea typeface="Heebo Light" pitchFamily="34" charset="-122"/>
                <a:cs typeface="Heebo Light" pitchFamily="34" charset="-120"/>
              </a:rPr>
              <a:t>Android Developers. (2024). </a:t>
            </a:r>
            <a:r>
              <a:rPr lang="en-US" sz="1200" i="1" dirty="0">
                <a:solidFill>
                  <a:srgbClr val="DCD7E5"/>
                </a:solidFill>
                <a:latin typeface="Heebo Light" pitchFamily="34" charset="0"/>
                <a:ea typeface="Heebo Light" pitchFamily="34" charset="-122"/>
                <a:cs typeface="Heebo Light" pitchFamily="34" charset="-120"/>
              </a:rPr>
              <a:t>Jetpack Compose — Android's modern toolkit for building native UI</a:t>
            </a:r>
            <a:r>
              <a:rPr lang="en-US" sz="1200" dirty="0">
                <a:solidFill>
                  <a:srgbClr val="DCD7E5"/>
                </a:solidFill>
                <a:latin typeface="Heebo Light" pitchFamily="34" charset="0"/>
                <a:ea typeface="Heebo Light" pitchFamily="34" charset="-122"/>
                <a:cs typeface="Heebo Light" pitchFamily="34" charset="-120"/>
              </a:rPr>
              <a:t>. Google LLC. https://developer.android.com/jetpack/compose</a:t>
            </a:r>
            <a:endParaRPr lang="en-US" sz="1200" dirty="0"/>
          </a:p>
          <a:p>
            <a:pPr marL="243840" indent="-243840" algn="l">
              <a:lnSpc>
                <a:spcPct val="129000"/>
              </a:lnSpc>
              <a:buSzPct val="100000"/>
              <a:buFont typeface="+mj-lt"/>
              <a:buAutoNum type="arabicPeriod" startAt="2"/>
            </a:pPr>
            <a:r>
              <a:rPr lang="en-US" sz="1200" dirty="0">
                <a:solidFill>
                  <a:srgbClr val="DCD7E5"/>
                </a:solidFill>
                <a:latin typeface="Heebo Light" pitchFamily="34" charset="0"/>
                <a:ea typeface="Heebo Light" pitchFamily="34" charset="-122"/>
                <a:cs typeface="Heebo Light" pitchFamily="34" charset="-120"/>
              </a:rPr>
              <a:t>Android Developers. (2024). </a:t>
            </a:r>
            <a:r>
              <a:rPr lang="en-US" sz="1200" i="1" dirty="0">
                <a:solidFill>
                  <a:srgbClr val="DCD7E5"/>
                </a:solidFill>
                <a:latin typeface="Heebo Light" pitchFamily="34" charset="0"/>
                <a:ea typeface="Heebo Light" pitchFamily="34" charset="-122"/>
                <a:cs typeface="Heebo Light" pitchFamily="34" charset="-120"/>
              </a:rPr>
              <a:t>Thinking in Compose</a:t>
            </a:r>
            <a:r>
              <a:rPr lang="en-US" sz="1200" dirty="0">
                <a:solidFill>
                  <a:srgbClr val="DCD7E5"/>
                </a:solidFill>
                <a:latin typeface="Heebo Light" pitchFamily="34" charset="0"/>
                <a:ea typeface="Heebo Light" pitchFamily="34" charset="-122"/>
                <a:cs typeface="Heebo Light" pitchFamily="34" charset="-120"/>
              </a:rPr>
              <a:t>. Google LLC. https://developer.android.com/jetpack/compose/mental-model</a:t>
            </a:r>
            <a:endParaRPr lang="en-US" sz="1200" dirty="0"/>
          </a:p>
          <a:p>
            <a:pPr marL="243840" indent="-243840" algn="l">
              <a:lnSpc>
                <a:spcPct val="129000"/>
              </a:lnSpc>
              <a:buSzPct val="100000"/>
              <a:buFont typeface="+mj-lt"/>
              <a:buAutoNum type="arabicPeriod" startAt="3"/>
            </a:pPr>
            <a:r>
              <a:rPr lang="en-US" sz="1200" dirty="0">
                <a:solidFill>
                  <a:srgbClr val="DCD7E5"/>
                </a:solidFill>
                <a:latin typeface="Heebo Light" pitchFamily="34" charset="0"/>
                <a:ea typeface="Heebo Light" pitchFamily="34" charset="-122"/>
                <a:cs typeface="Heebo Light" pitchFamily="34" charset="-120"/>
              </a:rPr>
              <a:t>Android Developers. (2024). </a:t>
            </a:r>
            <a:r>
              <a:rPr lang="en-US" sz="1200" i="1" dirty="0">
                <a:solidFill>
                  <a:srgbClr val="DCD7E5"/>
                </a:solidFill>
                <a:latin typeface="Heebo Light" pitchFamily="34" charset="0"/>
                <a:ea typeface="Heebo Light" pitchFamily="34" charset="-122"/>
                <a:cs typeface="Heebo Light" pitchFamily="34" charset="-120"/>
              </a:rPr>
              <a:t>Layouts in Compose</a:t>
            </a:r>
            <a:r>
              <a:rPr lang="en-US" sz="1200" dirty="0">
                <a:solidFill>
                  <a:srgbClr val="DCD7E5"/>
                </a:solidFill>
                <a:latin typeface="Heebo Light" pitchFamily="34" charset="0"/>
                <a:ea typeface="Heebo Light" pitchFamily="34" charset="-122"/>
                <a:cs typeface="Heebo Light" pitchFamily="34" charset="-120"/>
              </a:rPr>
              <a:t>. Google LLC. https://developer.android.com/jetpack/compose/layouts/basics</a:t>
            </a:r>
            <a:endParaRPr lang="en-US" sz="1200" dirty="0"/>
          </a:p>
          <a:p>
            <a:pPr marL="243840" indent="-243840" algn="l">
              <a:lnSpc>
                <a:spcPct val="129000"/>
              </a:lnSpc>
              <a:buSzPct val="100000"/>
              <a:buFont typeface="+mj-lt"/>
              <a:buAutoNum type="arabicPeriod" startAt="4"/>
            </a:pPr>
            <a:r>
              <a:rPr lang="en-US" sz="1200" dirty="0">
                <a:solidFill>
                  <a:srgbClr val="DCD7E5"/>
                </a:solidFill>
                <a:latin typeface="Heebo Light" pitchFamily="34" charset="0"/>
                <a:ea typeface="Heebo Light" pitchFamily="34" charset="-122"/>
                <a:cs typeface="Heebo Light" pitchFamily="34" charset="-120"/>
              </a:rPr>
              <a:t>Android Developers. (2024). </a:t>
            </a:r>
            <a:r>
              <a:rPr lang="en-US" sz="1200" i="1" dirty="0">
                <a:solidFill>
                  <a:srgbClr val="DCD7E5"/>
                </a:solidFill>
                <a:latin typeface="Heebo Light" pitchFamily="34" charset="0"/>
                <a:ea typeface="Heebo Light" pitchFamily="34" charset="-122"/>
                <a:cs typeface="Heebo Light" pitchFamily="34" charset="-120"/>
              </a:rPr>
              <a:t>Modifiers in Compose</a:t>
            </a:r>
            <a:r>
              <a:rPr lang="en-US" sz="1200" dirty="0">
                <a:solidFill>
                  <a:srgbClr val="DCD7E5"/>
                </a:solidFill>
                <a:latin typeface="Heebo Light" pitchFamily="34" charset="0"/>
                <a:ea typeface="Heebo Light" pitchFamily="34" charset="-122"/>
                <a:cs typeface="Heebo Light" pitchFamily="34" charset="-120"/>
              </a:rPr>
              <a:t>. Google LLC. https://developer.android.com/jetpack/compose/modifiers</a:t>
            </a:r>
            <a:endParaRPr lang="en-US" sz="1200" dirty="0"/>
          </a:p>
          <a:p>
            <a:pPr marL="243840" indent="-243840" algn="l">
              <a:lnSpc>
                <a:spcPct val="129000"/>
              </a:lnSpc>
              <a:buSzPct val="100000"/>
              <a:buFont typeface="+mj-lt"/>
              <a:buAutoNum type="arabicPeriod" startAt="5"/>
            </a:pPr>
            <a:r>
              <a:rPr lang="en-US" sz="1200" dirty="0">
                <a:solidFill>
                  <a:srgbClr val="DCD7E5"/>
                </a:solidFill>
                <a:latin typeface="Heebo Light" pitchFamily="34" charset="0"/>
                <a:ea typeface="Heebo Light" pitchFamily="34" charset="-122"/>
                <a:cs typeface="Heebo Light" pitchFamily="34" charset="-120"/>
              </a:rPr>
              <a:t>Android Developers. (2024). </a:t>
            </a:r>
            <a:r>
              <a:rPr lang="en-US" sz="1200" i="1" dirty="0">
                <a:solidFill>
                  <a:srgbClr val="DCD7E5"/>
                </a:solidFill>
                <a:latin typeface="Heebo Light" pitchFamily="34" charset="0"/>
                <a:ea typeface="Heebo Light" pitchFamily="34" charset="-122"/>
                <a:cs typeface="Heebo Light" pitchFamily="34" charset="-120"/>
              </a:rPr>
              <a:t>Compose layout: Arrangement and Alignment</a:t>
            </a:r>
            <a:r>
              <a:rPr lang="en-US" sz="1200" dirty="0">
                <a:solidFill>
                  <a:srgbClr val="DCD7E5"/>
                </a:solidFill>
                <a:latin typeface="Heebo Light" pitchFamily="34" charset="0"/>
                <a:ea typeface="Heebo Light" pitchFamily="34" charset="-122"/>
                <a:cs typeface="Heebo Light" pitchFamily="34" charset="-120"/>
              </a:rPr>
              <a:t>. Google LLC. https://developer.android.com/jetpack/compose/layouts/alignment</a:t>
            </a:r>
            <a:endParaRPr lang="en-US" sz="12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68474" y="1637506"/>
            <a:ext cx="5361746" cy="3764359"/>
          </a:xfrm>
          <a:prstGeom prst="rect">
            <a:avLst/>
          </a:prstGeom>
        </p:spPr>
      </p:pic>
      <p:sp>
        <p:nvSpPr>
          <p:cNvPr id="8" name="Text 4"/>
          <p:cNvSpPr/>
          <p:nvPr/>
        </p:nvSpPr>
        <p:spPr>
          <a:xfrm>
            <a:off x="6418697" y="1811536"/>
            <a:ext cx="4937498" cy="242193"/>
          </a:xfrm>
          <a:prstGeom prst="rect">
            <a:avLst/>
          </a:prstGeom>
          <a:noFill/>
          <a:ln/>
        </p:spPr>
        <p:txBody>
          <a:bodyPr wrap="none" lIns="0" tIns="0" rIns="0" bIns="0" rtlCol="0" anchor="t"/>
          <a:lstStyle/>
          <a:p>
            <a:pPr marL="0" indent="0" algn="l">
              <a:lnSpc>
                <a:spcPct val="104000"/>
              </a:lnSpc>
              <a:buNone/>
            </a:pPr>
            <a:r>
              <a:rPr lang="en-US" sz="1500" dirty="0">
                <a:solidFill>
                  <a:srgbClr val="DCD7E5"/>
                </a:solidFill>
                <a:latin typeface="Montserrat" pitchFamily="34" charset="0"/>
                <a:ea typeface="Montserrat" pitchFamily="34" charset="-122"/>
                <a:cs typeface="Montserrat" pitchFamily="34" charset="-120"/>
              </a:rPr>
              <a:t>Buku Teks &amp; Referensi Lanjutan</a:t>
            </a:r>
            <a:endParaRPr lang="en-US" sz="1500" dirty="0"/>
          </a:p>
        </p:txBody>
      </p:sp>
      <p:sp>
        <p:nvSpPr>
          <p:cNvPr id="9" name="Text 5"/>
          <p:cNvSpPr/>
          <p:nvPr/>
        </p:nvSpPr>
        <p:spPr>
          <a:xfrm>
            <a:off x="6418697" y="2140942"/>
            <a:ext cx="4937498" cy="1543447"/>
          </a:xfrm>
          <a:prstGeom prst="rect">
            <a:avLst/>
          </a:prstGeom>
          <a:noFill/>
          <a:ln/>
        </p:spPr>
        <p:txBody>
          <a:bodyPr wrap="square" lIns="0" tIns="0" rIns="0" bIns="0" rtlCol="0" anchor="t">
            <a:normAutofit/>
          </a:bodyPr>
          <a:lstStyle/>
          <a:p>
            <a:pPr marL="243840" indent="-243840" algn="l">
              <a:lnSpc>
                <a:spcPct val="129000"/>
              </a:lnSpc>
              <a:buSzPct val="100000"/>
              <a:buFont typeface="+mj-lt"/>
              <a:buAutoNum type="arabicPeriod"/>
            </a:pPr>
            <a:r>
              <a:rPr lang="en-US" sz="1200" dirty="0">
                <a:solidFill>
                  <a:srgbClr val="DCD7E5"/>
                </a:solidFill>
                <a:latin typeface="Heebo Light" pitchFamily="34" charset="0"/>
                <a:ea typeface="Heebo Light" pitchFamily="34" charset="-122"/>
                <a:cs typeface="Heebo Light" pitchFamily="34" charset="-120"/>
              </a:rPr>
              <a:t>Filot, R., &amp; Bailey, A. (2023). </a:t>
            </a:r>
            <a:r>
              <a:rPr lang="en-US" sz="1200" i="1" dirty="0">
                <a:solidFill>
                  <a:srgbClr val="DCD7E5"/>
                </a:solidFill>
                <a:latin typeface="Heebo Light" pitchFamily="34" charset="0"/>
                <a:ea typeface="Heebo Light" pitchFamily="34" charset="-122"/>
                <a:cs typeface="Heebo Light" pitchFamily="34" charset="-120"/>
              </a:rPr>
              <a:t>Jetpack Compose by Tutorials</a:t>
            </a:r>
            <a:r>
              <a:rPr lang="en-US" sz="1200" dirty="0">
                <a:solidFill>
                  <a:srgbClr val="DCD7E5"/>
                </a:solidFill>
                <a:latin typeface="Heebo Light" pitchFamily="34" charset="0"/>
                <a:ea typeface="Heebo Light" pitchFamily="34" charset="-122"/>
                <a:cs typeface="Heebo Light" pitchFamily="34" charset="-120"/>
              </a:rPr>
              <a:t> (3rd ed.). Kodeco Inc.</a:t>
            </a:r>
            <a:endParaRPr lang="en-US" sz="1200" dirty="0"/>
          </a:p>
          <a:p>
            <a:pPr marL="243840" indent="-243840" algn="l">
              <a:lnSpc>
                <a:spcPct val="129000"/>
              </a:lnSpc>
              <a:buSzPct val="100000"/>
              <a:buFont typeface="+mj-lt"/>
              <a:buAutoNum type="arabicPeriod" startAt="2"/>
            </a:pPr>
            <a:r>
              <a:rPr lang="en-US" sz="1200" dirty="0">
                <a:solidFill>
                  <a:srgbClr val="DCD7E5"/>
                </a:solidFill>
                <a:latin typeface="Heebo Light" pitchFamily="34" charset="0"/>
                <a:ea typeface="Heebo Light" pitchFamily="34" charset="-122"/>
                <a:cs typeface="Heebo Light" pitchFamily="34" charset="-120"/>
              </a:rPr>
              <a:t>Jemerov, D., &amp; Isakova, S. (2017). </a:t>
            </a:r>
            <a:r>
              <a:rPr lang="en-US" sz="1200" i="1" dirty="0">
                <a:solidFill>
                  <a:srgbClr val="DCD7E5"/>
                </a:solidFill>
                <a:latin typeface="Heebo Light" pitchFamily="34" charset="0"/>
                <a:ea typeface="Heebo Light" pitchFamily="34" charset="-122"/>
                <a:cs typeface="Heebo Light" pitchFamily="34" charset="-120"/>
              </a:rPr>
              <a:t>Kotlin in Action</a:t>
            </a:r>
            <a:r>
              <a:rPr lang="en-US" sz="1200" dirty="0">
                <a:solidFill>
                  <a:srgbClr val="DCD7E5"/>
                </a:solidFill>
                <a:latin typeface="Heebo Light" pitchFamily="34" charset="0"/>
                <a:ea typeface="Heebo Light" pitchFamily="34" charset="-122"/>
                <a:cs typeface="Heebo Light" pitchFamily="34" charset="-120"/>
              </a:rPr>
              <a:t>. Manning Publications.</a:t>
            </a:r>
            <a:endParaRPr lang="en-US" sz="1200" dirty="0"/>
          </a:p>
          <a:p>
            <a:pPr marL="243840" indent="-243840" algn="l">
              <a:lnSpc>
                <a:spcPct val="129000"/>
              </a:lnSpc>
              <a:buSzPct val="100000"/>
              <a:buFont typeface="+mj-lt"/>
              <a:buAutoNum type="arabicPeriod" startAt="3"/>
            </a:pPr>
            <a:r>
              <a:rPr lang="en-US" sz="1200" dirty="0">
                <a:solidFill>
                  <a:srgbClr val="DCD7E5"/>
                </a:solidFill>
                <a:latin typeface="Heebo Light" pitchFamily="34" charset="0"/>
                <a:ea typeface="Heebo Light" pitchFamily="34" charset="-122"/>
                <a:cs typeface="Heebo Light" pitchFamily="34" charset="-120"/>
              </a:rPr>
              <a:t>Leiva, A. (2023). </a:t>
            </a:r>
            <a:r>
              <a:rPr lang="en-US" sz="1200" i="1" dirty="0">
                <a:solidFill>
                  <a:srgbClr val="DCD7E5"/>
                </a:solidFill>
                <a:latin typeface="Heebo Light" pitchFamily="34" charset="0"/>
                <a:ea typeface="Heebo Light" pitchFamily="34" charset="-122"/>
                <a:cs typeface="Heebo Light" pitchFamily="34" charset="-120"/>
              </a:rPr>
              <a:t>Jetpack Compose Internals</a:t>
            </a:r>
            <a:r>
              <a:rPr lang="en-US" sz="1200" dirty="0">
                <a:solidFill>
                  <a:srgbClr val="DCD7E5"/>
                </a:solidFill>
                <a:latin typeface="Heebo Light" pitchFamily="34" charset="0"/>
                <a:ea typeface="Heebo Light" pitchFamily="34" charset="-122"/>
                <a:cs typeface="Heebo Light" pitchFamily="34" charset="-120"/>
              </a:rPr>
              <a:t>. Leanpub. https://leanpub.com/composeinternals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56</TotalTime>
  <Words>3912</Words>
  <Application>Microsoft Macintosh PowerPoint</Application>
  <PresentationFormat>Widescreen</PresentationFormat>
  <Paragraphs>528</Paragraphs>
  <Slides>32</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Montserrat</vt:lpstr>
      <vt:lpstr>Calibri</vt:lpstr>
      <vt:lpstr>Consolas</vt:lpstr>
      <vt:lpstr>Heebo Bold</vt:lpstr>
      <vt:lpstr>Heebo Light</vt:lpstr>
      <vt:lpstr>Montserrat Light</vt:lpstr>
      <vt:lpstr>Arial</vt:lpstr>
      <vt:lpstr>Twemoji Mozilla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Azis Amirulbahar</cp:lastModifiedBy>
  <cp:revision>5</cp:revision>
  <dcterms:created xsi:type="dcterms:W3CDTF">2026-08-26T08:41:29Z</dcterms:created>
  <dcterms:modified xsi:type="dcterms:W3CDTF">2026-08-26T23:36:28Z</dcterms:modified>
</cp:coreProperties>
</file>